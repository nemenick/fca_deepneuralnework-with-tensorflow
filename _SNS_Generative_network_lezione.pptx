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1"/>
  </p:sldMasterIdLst>
  <p:notesMasterIdLst>
    <p:notesMasterId r:id="rId15"/>
  </p:notesMasterIdLst>
  <p:sldIdLst>
    <p:sldId id="269" r:id="rId2"/>
    <p:sldId id="293" r:id="rId3"/>
    <p:sldId id="294" r:id="rId4"/>
    <p:sldId id="276" r:id="rId5"/>
    <p:sldId id="295" r:id="rId6"/>
    <p:sldId id="277" r:id="rId7"/>
    <p:sldId id="283" r:id="rId8"/>
    <p:sldId id="284" r:id="rId9"/>
    <p:sldId id="290" r:id="rId10"/>
    <p:sldId id="289" r:id="rId11"/>
    <p:sldId id="291" r:id="rId12"/>
    <p:sldId id="288" r:id="rId13"/>
    <p:sldId id="282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P_400_G4" initials="H" lastIdx="36" clrIdx="0">
    <p:extLst>
      <p:ext uri="{19B8F6BF-5375-455C-9EA6-DF929625EA0E}">
        <p15:presenceInfo xmlns:p15="http://schemas.microsoft.com/office/powerpoint/2012/main" userId="HP_400_G4" providerId="None"/>
      </p:ext>
    </p:extLst>
  </p:cmAuthor>
  <p:cmAuthor id="2" name="Giovanni MESSUTI" initials="GM" lastIdx="11" clrIdx="1">
    <p:extLst>
      <p:ext uri="{19B8F6BF-5375-455C-9EA6-DF929625EA0E}">
        <p15:presenceInfo xmlns:p15="http://schemas.microsoft.com/office/powerpoint/2012/main" userId="S::gmessuti@unisa.it::9b3bf107-903e-417b-9c3b-0b17ad0e599f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44A9"/>
    <a:srgbClr val="FFFFFF"/>
    <a:srgbClr val="9CA383"/>
    <a:srgbClr val="A0988C"/>
    <a:srgbClr val="B3B3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924" autoAdjust="0"/>
    <p:restoredTop sz="96374" autoAdjust="0"/>
  </p:normalViewPr>
  <p:slideViewPr>
    <p:cSldViewPr snapToGrid="0">
      <p:cViewPr varScale="1">
        <p:scale>
          <a:sx n="99" d="100"/>
          <a:sy n="99" d="100"/>
        </p:scale>
        <p:origin x="9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C4FBC3-B100-4DF1-BDAA-987EAC2A8E6A}" type="datetimeFigureOut">
              <a:rPr lang="it-IT" smtClean="0"/>
              <a:t>06/05/2026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D241FB-16C7-4594-8FC9-656ED7196A3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895285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30C0A-5464-4FE4-84EB-FF9C94016DF4}" type="datetimeFigureOut">
              <a:rPr lang="en-US" dirty="0"/>
              <a:t>5/6/2026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5/6/2026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C6404-AD6E-4860-8E75-697CA40B95DA}" type="datetimeFigureOut">
              <a:rPr lang="en-US" dirty="0"/>
              <a:t>5/6/2026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5/6/2026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5/6/2026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5/6/2026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5/6/2026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dirty="0"/>
              <a:t>5/6/2026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8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dirty="0"/>
              <a:t>5/6/2026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5/6/2026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5/6/2026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chemeClr val="bg1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dirty="0"/>
              <a:t>5/6/2026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3.png"/><Relationship Id="rId5" Type="http://schemas.openxmlformats.org/officeDocument/2006/relationships/image" Target="../media/image40.png"/><Relationship Id="rId10" Type="http://schemas.openxmlformats.org/officeDocument/2006/relationships/image" Target="../media/image2.jpg"/><Relationship Id="rId4" Type="http://schemas.openxmlformats.org/officeDocument/2006/relationships/image" Target="../media/image30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0.png"/><Relationship Id="rId7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10" Type="http://schemas.openxmlformats.org/officeDocument/2006/relationships/image" Target="../media/image13.png"/><Relationship Id="rId4" Type="http://schemas.openxmlformats.org/officeDocument/2006/relationships/image" Target="../media/image1.PNG"/><Relationship Id="rId9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6.JPG"/><Relationship Id="rId3" Type="http://schemas.openxmlformats.org/officeDocument/2006/relationships/image" Target="../media/image17.png"/><Relationship Id="rId12" Type="http://schemas.openxmlformats.org/officeDocument/2006/relationships/image" Target="../media/image5.JP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11" Type="http://schemas.openxmlformats.org/officeDocument/2006/relationships/image" Target="../media/image23.png"/><Relationship Id="rId5" Type="http://schemas.openxmlformats.org/officeDocument/2006/relationships/image" Target="../media/image19.png"/><Relationship Id="rId10" Type="http://schemas.openxmlformats.org/officeDocument/2006/relationships/image" Target="../media/image11.png"/><Relationship Id="rId4" Type="http://schemas.openxmlformats.org/officeDocument/2006/relationships/image" Target="../media/image18.png"/><Relationship Id="rId9" Type="http://schemas.openxmlformats.org/officeDocument/2006/relationships/image" Target="../media/image1.PNG"/><Relationship Id="rId14" Type="http://schemas.openxmlformats.org/officeDocument/2006/relationships/hyperlink" Target="https://link.springer.com/chapter/10.1007/978-3-031-45468-4_10" TargetMode="Externa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hyperlink" Target="https://link.springer.com/chapter/10.1007/978-3-031-45468-4_10" TargetMode="External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12" Type="http://schemas.openxmlformats.org/officeDocument/2006/relationships/image" Target="../media/image250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JPG"/><Relationship Id="rId11" Type="http://schemas.openxmlformats.org/officeDocument/2006/relationships/image" Target="../media/image26.png"/><Relationship Id="rId5" Type="http://schemas.openxmlformats.org/officeDocument/2006/relationships/image" Target="../media/image5.JPG"/><Relationship Id="rId10" Type="http://schemas.openxmlformats.org/officeDocument/2006/relationships/image" Target="../media/image240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330.png"/><Relationship Id="rId18" Type="http://schemas.openxmlformats.org/officeDocument/2006/relationships/image" Target="../media/image21.png"/><Relationship Id="rId3" Type="http://schemas.openxmlformats.org/officeDocument/2006/relationships/image" Target="../media/image28.png"/><Relationship Id="rId7" Type="http://schemas.openxmlformats.org/officeDocument/2006/relationships/image" Target="../media/image27.JPG"/><Relationship Id="rId12" Type="http://schemas.openxmlformats.org/officeDocument/2006/relationships/image" Target="../media/image320.png"/><Relationship Id="rId17" Type="http://schemas.openxmlformats.org/officeDocument/2006/relationships/image" Target="../media/image37.png"/><Relationship Id="rId2" Type="http://schemas.openxmlformats.org/officeDocument/2006/relationships/image" Target="../media/image27.png"/><Relationship Id="rId16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0.png"/><Relationship Id="rId5" Type="http://schemas.openxmlformats.org/officeDocument/2006/relationships/image" Target="../media/image29.png"/><Relationship Id="rId15" Type="http://schemas.openxmlformats.org/officeDocument/2006/relationships/image" Target="../media/image35.png"/><Relationship Id="rId10" Type="http://schemas.openxmlformats.org/officeDocument/2006/relationships/image" Target="../media/image33.png"/><Relationship Id="rId4" Type="http://schemas.openxmlformats.org/officeDocument/2006/relationships/image" Target="../media/image5.JPG"/><Relationship Id="rId9" Type="http://schemas.openxmlformats.org/officeDocument/2006/relationships/image" Target="../media/image32.png"/><Relationship Id="rId14" Type="http://schemas.openxmlformats.org/officeDocument/2006/relationships/image" Target="../media/image3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46.png"/><Relationship Id="rId7" Type="http://schemas.openxmlformats.org/officeDocument/2006/relationships/image" Target="../media/image410.png"/><Relationship Id="rId12" Type="http://schemas.openxmlformats.org/officeDocument/2006/relationships/image" Target="../media/image45.png"/><Relationship Id="rId16" Type="http://schemas.openxmlformats.org/officeDocument/2006/relationships/hyperlink" Target="https://link.springer.com/chapter/10.1007/978-3-031-45468-4_10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11" Type="http://schemas.openxmlformats.org/officeDocument/2006/relationships/image" Target="../media/image44.png"/><Relationship Id="rId5" Type="http://schemas.openxmlformats.org/officeDocument/2006/relationships/image" Target="../media/image39.png"/><Relationship Id="rId15" Type="http://schemas.openxmlformats.org/officeDocument/2006/relationships/image" Target="../media/image47.PNG"/><Relationship Id="rId10" Type="http://schemas.openxmlformats.org/officeDocument/2006/relationships/image" Target="../media/image43.png"/><Relationship Id="rId4" Type="http://schemas.openxmlformats.org/officeDocument/2006/relationships/image" Target="../media/image38.png"/><Relationship Id="rId9" Type="http://schemas.openxmlformats.org/officeDocument/2006/relationships/image" Target="../media/image1.PNG"/><Relationship Id="rId14" Type="http://schemas.openxmlformats.org/officeDocument/2006/relationships/image" Target="../media/image28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1.png"/><Relationship Id="rId4" Type="http://schemas.openxmlformats.org/officeDocument/2006/relationships/image" Target="../media/image50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arxiv.org/pdf/1809.11096" TargetMode="Externa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hyperlink" Target="https://proceedings.mlr.press/v70/odena17a/odena17a.pdf" TargetMode="External"/><Relationship Id="rId3" Type="http://schemas.openxmlformats.org/officeDocument/2006/relationships/hyperlink" Target="https://arxiv.org/pdf/1904.08994" TargetMode="External"/><Relationship Id="rId7" Type="http://schemas.openxmlformats.org/officeDocument/2006/relationships/hyperlink" Target="https://arxiv.org/pdf/1809.11096" TargetMode="External"/><Relationship Id="rId2" Type="http://schemas.openxmlformats.org/officeDocument/2006/relationships/hyperlink" Target="https://proceedings.neurips.cc/paper_files/paper/2014/file/f033ed80deb0234979a61f95710dbe25-Paper.pdf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proceedings.mlr.press/v70/arjovsky17a/arjovsky17a.pdf" TargetMode="External"/><Relationship Id="rId5" Type="http://schemas.openxmlformats.org/officeDocument/2006/relationships/hyperlink" Target="https://arindam.cs.illinois.edu/courses/f21cs598/slides/gan31_598f21.pdf" TargetMode="External"/><Relationship Id="rId4" Type="http://schemas.openxmlformats.org/officeDocument/2006/relationships/hyperlink" Target="https://www.depthfirstlearning.com/2019/WassersteinGAN" TargetMode="External"/><Relationship Id="rId9" Type="http://schemas.openxmlformats.org/officeDocument/2006/relationships/hyperlink" Target="https://arxiv.org/pdf/1511.05644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sellaDiTesto 4">
            <a:extLst>
              <a:ext uri="{FF2B5EF4-FFF2-40B4-BE49-F238E27FC236}">
                <a16:creationId xmlns:a16="http://schemas.microsoft.com/office/drawing/2014/main" id="{0E78B52C-F216-8D2C-1FB2-C528D97321C8}"/>
              </a:ext>
            </a:extLst>
          </p:cNvPr>
          <p:cNvSpPr txBox="1"/>
          <p:nvPr/>
        </p:nvSpPr>
        <p:spPr>
          <a:xfrm>
            <a:off x="5052187" y="3681757"/>
            <a:ext cx="21547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latin typeface="Bookman Old Style" panose="02050604050505020204" pitchFamily="18" charset="0"/>
              </a:rPr>
              <a:t>Giovanni</a:t>
            </a:r>
            <a:r>
              <a:rPr lang="it-IT" dirty="0">
                <a:latin typeface="Open sans" panose="020B0606030504020204" pitchFamily="34" charset="0"/>
              </a:rPr>
              <a:t> </a:t>
            </a:r>
            <a:r>
              <a:rPr lang="it-IT" dirty="0" err="1">
                <a:latin typeface="Open sans" panose="020B0606030504020204" pitchFamily="34" charset="0"/>
              </a:rPr>
              <a:t>Messuti</a:t>
            </a:r>
            <a:r>
              <a:rPr lang="it-IT" dirty="0">
                <a:latin typeface="Open sans" panose="020B0606030504020204" pitchFamily="34" charset="0"/>
              </a:rPr>
              <a:t> 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1C400BF0-9B85-E756-5900-7CA34CEDA065}"/>
              </a:ext>
            </a:extLst>
          </p:cNvPr>
          <p:cNvSpPr txBox="1"/>
          <p:nvPr/>
        </p:nvSpPr>
        <p:spPr>
          <a:xfrm>
            <a:off x="3006054" y="749636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2000" b="1" dirty="0">
                <a:latin typeface="Bookman Old Style" panose="02050604050505020204" pitchFamily="18" charset="0"/>
              </a:rPr>
              <a:t>UNIVERSITÀ DEGLI STUDI DI SALERNO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09C3831B-BDC9-1092-583A-ACC1FDD250DB}"/>
              </a:ext>
            </a:extLst>
          </p:cNvPr>
          <p:cNvSpPr txBox="1"/>
          <p:nvPr/>
        </p:nvSpPr>
        <p:spPr>
          <a:xfrm>
            <a:off x="3006054" y="88135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dirty="0"/>
              <a:t>__________________________________________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49FD10DC-56C6-BE4F-01EC-3D5F41F5FA1F}"/>
              </a:ext>
            </a:extLst>
          </p:cNvPr>
          <p:cNvSpPr txBox="1"/>
          <p:nvPr/>
        </p:nvSpPr>
        <p:spPr>
          <a:xfrm>
            <a:off x="3047999" y="2745357"/>
            <a:ext cx="60960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2200" b="1" dirty="0">
                <a:latin typeface="Bookman Old Style" panose="02050604050505020204" pitchFamily="18" charset="0"/>
              </a:rPr>
              <a:t>Generative </a:t>
            </a:r>
            <a:r>
              <a:rPr lang="it-IT" sz="2200" b="1" dirty="0" err="1">
                <a:latin typeface="Bookman Old Style" panose="02050604050505020204" pitchFamily="18" charset="0"/>
              </a:rPr>
              <a:t>Adversarial</a:t>
            </a:r>
            <a:r>
              <a:rPr lang="it-IT" sz="2200" b="1" dirty="0">
                <a:latin typeface="Bookman Old Style" panose="02050604050505020204" pitchFamily="18" charset="0"/>
              </a:rPr>
              <a:t> Networks (GAN)</a:t>
            </a:r>
          </a:p>
          <a:p>
            <a:pPr algn="ctr"/>
            <a:r>
              <a:rPr lang="it-IT" sz="2000" dirty="0">
                <a:latin typeface="Bookman Old Style" panose="02050604050505020204" pitchFamily="18" charset="0"/>
              </a:rPr>
              <a:t>A </a:t>
            </a:r>
            <a:r>
              <a:rPr lang="it-IT" sz="2000" dirty="0" err="1">
                <a:latin typeface="Bookman Old Style" panose="02050604050505020204" pitchFamily="18" charset="0"/>
              </a:rPr>
              <a:t>powerful</a:t>
            </a:r>
            <a:r>
              <a:rPr lang="it-IT" sz="2000" dirty="0">
                <a:latin typeface="Bookman Old Style" panose="02050604050505020204" pitchFamily="18" charset="0"/>
              </a:rPr>
              <a:t> Generative AI</a:t>
            </a:r>
            <a:r>
              <a:rPr lang="it-IT" sz="2000" dirty="0">
                <a:latin typeface="Open sans" panose="020B0606030504020204" pitchFamily="34" charset="0"/>
              </a:rPr>
              <a:t> tool</a:t>
            </a:r>
          </a:p>
        </p:txBody>
      </p:sp>
    </p:spTree>
    <p:extLst>
      <p:ext uri="{BB962C8B-B14F-4D97-AF65-F5344CB8AC3E}">
        <p14:creationId xmlns:p14="http://schemas.microsoft.com/office/powerpoint/2010/main" val="39208938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B7F50D-FEEA-F54C-66E8-153ED8782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Immagine 40">
            <a:extLst>
              <a:ext uri="{FF2B5EF4-FFF2-40B4-BE49-F238E27FC236}">
                <a16:creationId xmlns:a16="http://schemas.microsoft.com/office/drawing/2014/main" id="{F5D96026-0B85-C06D-7FBC-26843DD0CE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395" y="624492"/>
            <a:ext cx="2572577" cy="970110"/>
          </a:xfrm>
          <a:prstGeom prst="rect">
            <a:avLst/>
          </a:prstGeom>
        </p:spPr>
      </p:pic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0D54E191-8D5C-A77C-C0B3-F21915BC9A59}"/>
              </a:ext>
            </a:extLst>
          </p:cNvPr>
          <p:cNvSpPr txBox="1"/>
          <p:nvPr/>
        </p:nvSpPr>
        <p:spPr>
          <a:xfrm>
            <a:off x="4179358" y="2153025"/>
            <a:ext cx="42100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b="1" dirty="0"/>
              <a:t>Loss </a:t>
            </a:r>
            <a:r>
              <a:rPr lang="it-IT" sz="2000" b="1" dirty="0" err="1"/>
              <a:t>Function</a:t>
            </a:r>
            <a:r>
              <a:rPr lang="it-IT" sz="2000" b="1" dirty="0"/>
              <a:t> computing</a:t>
            </a:r>
          </a:p>
          <a:p>
            <a:pPr algn="ctr"/>
            <a:r>
              <a:rPr lang="it-IT" sz="1600" dirty="0" err="1"/>
              <a:t>Measure</a:t>
            </a:r>
            <a:r>
              <a:rPr lang="it-IT" sz="1600" dirty="0"/>
              <a:t> of Error 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5F8DCE88-D324-5BA3-C618-23798926EDE5}"/>
              </a:ext>
            </a:extLst>
          </p:cNvPr>
          <p:cNvSpPr txBox="1"/>
          <p:nvPr/>
        </p:nvSpPr>
        <p:spPr>
          <a:xfrm>
            <a:off x="4237224" y="-10853"/>
            <a:ext cx="628243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2800" b="1" dirty="0" err="1">
                <a:latin typeface="Georgia" panose="02040502050405020303" pitchFamily="18" charset="0"/>
              </a:rPr>
              <a:t>Classification</a:t>
            </a:r>
            <a:r>
              <a:rPr lang="it-IT" sz="2800" b="1" dirty="0">
                <a:latin typeface="Georgia" panose="02040502050405020303" pitchFamily="18" charset="0"/>
              </a:rPr>
              <a:t> </a:t>
            </a:r>
            <a:r>
              <a:rPr lang="it-IT" sz="2800" b="1" dirty="0" err="1">
                <a:latin typeface="Georgia" panose="02040502050405020303" pitchFamily="18" charset="0"/>
              </a:rPr>
              <a:t>problem</a:t>
            </a:r>
            <a:endParaRPr lang="it-IT" sz="2800" b="1" dirty="0">
              <a:latin typeface="Georgia" panose="02040502050405020303" pitchFamily="18" charset="0"/>
            </a:endParaRPr>
          </a:p>
          <a:p>
            <a:pPr algn="ctr"/>
            <a:r>
              <a:rPr lang="it-IT" sz="2000" dirty="0"/>
              <a:t>(</a:t>
            </a:r>
            <a:r>
              <a:rPr lang="it-IT" sz="2000" dirty="0" err="1"/>
              <a:t>Binary</a:t>
            </a:r>
            <a:r>
              <a:rPr lang="it-IT" sz="2000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sellaDiTesto 2">
                <a:extLst>
                  <a:ext uri="{FF2B5EF4-FFF2-40B4-BE49-F238E27FC236}">
                    <a16:creationId xmlns:a16="http://schemas.microsoft.com/office/drawing/2014/main" id="{C8131C64-10EF-9BB9-63EA-A6222FF5C271}"/>
                  </a:ext>
                </a:extLst>
              </p:cNvPr>
              <p:cNvSpPr txBox="1"/>
              <p:nvPr/>
            </p:nvSpPr>
            <p:spPr>
              <a:xfrm>
                <a:off x="645894" y="2355486"/>
                <a:ext cx="166416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it-IT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it-IT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=(</m:t>
                      </m:r>
                      <m:sSub>
                        <m:sSubPr>
                          <m:ctrlPr>
                            <a:rPr lang="it-IT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it-IT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it-IT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it-IT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it-IT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it-IT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it-IT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asellaDiTesto 2">
                <a:extLst>
                  <a:ext uri="{FF2B5EF4-FFF2-40B4-BE49-F238E27FC236}">
                    <a16:creationId xmlns:a16="http://schemas.microsoft.com/office/drawing/2014/main" id="{C8131C64-10EF-9BB9-63EA-A6222FF5C2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894" y="2355486"/>
                <a:ext cx="1664162" cy="400110"/>
              </a:xfrm>
              <a:prstGeom prst="rect">
                <a:avLst/>
              </a:prstGeom>
              <a:blipFill>
                <a:blip r:embed="rId4"/>
                <a:stretch>
                  <a:fillRect b="-18182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sellaDiTesto 3">
                <a:extLst>
                  <a:ext uri="{FF2B5EF4-FFF2-40B4-BE49-F238E27FC236}">
                    <a16:creationId xmlns:a16="http://schemas.microsoft.com/office/drawing/2014/main" id="{73F73EF9-A362-3748-D1DC-73EC39BBB145}"/>
                  </a:ext>
                </a:extLst>
              </p:cNvPr>
              <p:cNvSpPr txBox="1"/>
              <p:nvPr/>
            </p:nvSpPr>
            <p:spPr>
              <a:xfrm>
                <a:off x="1938228" y="2825052"/>
                <a:ext cx="8744651" cy="16312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it-IT" sz="2000" b="1" dirty="0">
                    <a:solidFill>
                      <a:schemeClr val="tx1"/>
                    </a:solidFill>
                  </a:rPr>
                  <a:t>L</a:t>
                </a:r>
                <a:r>
                  <a:rPr lang="it-IT" sz="2000" b="0" dirty="0">
                    <a:solidFill>
                      <a:schemeClr val="tx1"/>
                    </a:solidFill>
                  </a:rPr>
                  <a:t> =</a:t>
                </a:r>
              </a:p>
              <a:p>
                <a:pPr algn="ctr"/>
                <a:endParaRPr lang="it-IT" sz="2000" b="0" dirty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it-IT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it-IT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𝑙𝑜𝑔</m:t>
                      </m:r>
                      <m:r>
                        <a:rPr lang="it-IT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it-IT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it-IT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e>
                          <m:r>
                            <a:rPr lang="it-IT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</m:d>
                      <m:r>
                        <a:rPr lang="it-IT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it-IT" sz="20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ctr"/>
                <a:endParaRPr lang="it-IT" sz="20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∑</m:t>
                          </m:r>
                        </m:e>
                        <m:sub>
                          <m:r>
                            <a:rPr lang="it-IT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it-IT" sz="2000" b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it-IT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it-IT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it-IT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𝑙𝑜𝑔</m:t>
                      </m:r>
                      <m:r>
                        <a:rPr lang="it-IT" sz="2000" b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sSub>
                        <m:sSubPr>
                          <m:ctrlPr>
                            <a:rPr lang="it-IT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it-IT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it-IT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it-IT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it-IT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it-IT" sz="2000" b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 − (</m:t>
                      </m:r>
                      <m:r>
                        <a:rPr lang="it-IT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it-IT" sz="2000" b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−</m:t>
                      </m:r>
                      <m:sSub>
                        <m:sSubPr>
                          <m:ctrlPr>
                            <a:rPr lang="it-IT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it-IT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it-IT" sz="2000" b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 </m:t>
                      </m:r>
                      <m:r>
                        <a:rPr lang="it-IT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𝑙𝑜𝑔</m:t>
                      </m:r>
                      <m:r>
                        <a:rPr lang="it-IT" sz="2000" b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it-IT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it-IT" sz="2000" b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−</m:t>
                      </m:r>
                      <m:sSub>
                        <m:sSubPr>
                          <m:ctrlPr>
                            <a:rPr lang="it-IT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it-IT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it-IT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it-IT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it-IT" sz="2000" b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it-IT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CasellaDiTesto 3">
                <a:extLst>
                  <a:ext uri="{FF2B5EF4-FFF2-40B4-BE49-F238E27FC236}">
                    <a16:creationId xmlns:a16="http://schemas.microsoft.com/office/drawing/2014/main" id="{73F73EF9-A362-3748-D1DC-73EC39BBB1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8228" y="2825052"/>
                <a:ext cx="8744651" cy="1631216"/>
              </a:xfrm>
              <a:prstGeom prst="rect">
                <a:avLst/>
              </a:prstGeom>
              <a:blipFill>
                <a:blip r:embed="rId5"/>
                <a:stretch>
                  <a:fillRect t="-1493" b="-373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1C385687-090F-6EC2-CE08-1E05EBD13E38}"/>
                  </a:ext>
                </a:extLst>
              </p:cNvPr>
              <p:cNvSpPr txBox="1"/>
              <p:nvPr/>
            </p:nvSpPr>
            <p:spPr>
              <a:xfrm>
                <a:off x="645894" y="4656323"/>
                <a:ext cx="166416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it-IT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it-IT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it-IT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·</m:t>
                      </m:r>
                      <m:r>
                        <a:rPr lang="it-IT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it-IT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𝒘</m:t>
                      </m:r>
                      <m:r>
                        <a:rPr lang="it-IT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it-IT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1C385687-090F-6EC2-CE08-1E05EBD13E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894" y="4656323"/>
                <a:ext cx="1664162" cy="400110"/>
              </a:xfrm>
              <a:prstGeom prst="rect">
                <a:avLst/>
              </a:prstGeom>
              <a:blipFill>
                <a:blip r:embed="rId6"/>
                <a:stretch>
                  <a:fillRect b="-18462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Connettore 2 10">
            <a:extLst>
              <a:ext uri="{FF2B5EF4-FFF2-40B4-BE49-F238E27FC236}">
                <a16:creationId xmlns:a16="http://schemas.microsoft.com/office/drawing/2014/main" id="{6BF1BF68-1EF7-E766-D5D8-B390341B1B6D}"/>
              </a:ext>
            </a:extLst>
          </p:cNvPr>
          <p:cNvCxnSpPr/>
          <p:nvPr/>
        </p:nvCxnSpPr>
        <p:spPr>
          <a:xfrm>
            <a:off x="2161465" y="2553320"/>
            <a:ext cx="1858586" cy="1241144"/>
          </a:xfrm>
          <a:prstGeom prst="bentConnector3">
            <a:avLst>
              <a:gd name="adj1" fmla="val 53929"/>
            </a:avLst>
          </a:prstGeom>
          <a:ln w="25400" cap="flat" cmpd="sng" algn="ctr">
            <a:solidFill>
              <a:srgbClr val="1F429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" name="Connettore 2 10">
            <a:extLst>
              <a:ext uri="{FF2B5EF4-FFF2-40B4-BE49-F238E27FC236}">
                <a16:creationId xmlns:a16="http://schemas.microsoft.com/office/drawing/2014/main" id="{C3EC72CF-BF95-7FD3-5A5F-BE9189F6032A}"/>
              </a:ext>
            </a:extLst>
          </p:cNvPr>
          <p:cNvCxnSpPr>
            <a:cxnSpLocks/>
            <a:stCxn id="5" idx="3"/>
          </p:cNvCxnSpPr>
          <p:nvPr/>
        </p:nvCxnSpPr>
        <p:spPr>
          <a:xfrm flipV="1">
            <a:off x="2310056" y="3794465"/>
            <a:ext cx="1709995" cy="1061913"/>
          </a:xfrm>
          <a:prstGeom prst="bentConnector3">
            <a:avLst>
              <a:gd name="adj1" fmla="val 50000"/>
            </a:avLst>
          </a:prstGeom>
          <a:ln w="25400" cap="flat" cmpd="sng" algn="ctr">
            <a:solidFill>
              <a:srgbClr val="1F429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" name="Connettore 2 7">
            <a:extLst>
              <a:ext uri="{FF2B5EF4-FFF2-40B4-BE49-F238E27FC236}">
                <a16:creationId xmlns:a16="http://schemas.microsoft.com/office/drawing/2014/main" id="{7F7A1D58-3DB1-FDD5-A811-548CEAB7AC7C}"/>
              </a:ext>
            </a:extLst>
          </p:cNvPr>
          <p:cNvCxnSpPr/>
          <p:nvPr/>
        </p:nvCxnSpPr>
        <p:spPr>
          <a:xfrm flipV="1">
            <a:off x="8664162" y="3798135"/>
            <a:ext cx="1432338" cy="5856"/>
          </a:xfrm>
          <a:prstGeom prst="straightConnector1">
            <a:avLst/>
          </a:prstGeom>
          <a:ln w="25400" cap="flat" cmpd="sng" algn="ctr">
            <a:solidFill>
              <a:srgbClr val="1F429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4CFDEF92-E4EE-3644-A079-01D09E48221D}"/>
                  </a:ext>
                </a:extLst>
              </p:cNvPr>
              <p:cNvSpPr txBox="1"/>
              <p:nvPr/>
            </p:nvSpPr>
            <p:spPr>
              <a:xfrm>
                <a:off x="7981950" y="4613375"/>
                <a:ext cx="421005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CA" sz="2000" dirty="0"/>
                  <a:t>Weights</a:t>
                </a:r>
                <a:r>
                  <a:rPr lang="it-IT" sz="2000" dirty="0"/>
                  <a:t> update </a:t>
                </a:r>
                <a14:m>
                  <m:oMath xmlns:m="http://schemas.openxmlformats.org/officeDocument/2006/math">
                    <m:r>
                      <a:rPr lang="it-IT" sz="2000" b="1" i="1">
                        <a:latin typeface="Cambria Math" panose="02040503050406030204" pitchFamily="18" charset="0"/>
                      </a:rPr>
                      <m:t>𝒘</m:t>
                    </m:r>
                  </m:oMath>
                </a14:m>
                <a:endParaRPr lang="it-IT" sz="2000" dirty="0"/>
              </a:p>
            </p:txBody>
          </p:sp>
        </mc:Choice>
        <mc:Fallback xmlns="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4CFDEF92-E4EE-3644-A079-01D09E4822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1950" y="4613375"/>
                <a:ext cx="4210050" cy="400110"/>
              </a:xfrm>
              <a:prstGeom prst="rect">
                <a:avLst/>
              </a:prstGeom>
              <a:blipFill>
                <a:blip r:embed="rId7"/>
                <a:stretch>
                  <a:fillRect t="-7692" b="-2923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Connettore 2 9">
            <a:extLst>
              <a:ext uri="{FF2B5EF4-FFF2-40B4-BE49-F238E27FC236}">
                <a16:creationId xmlns:a16="http://schemas.microsoft.com/office/drawing/2014/main" id="{AD788616-2188-82CC-B5FE-FA2F737C4448}"/>
              </a:ext>
            </a:extLst>
          </p:cNvPr>
          <p:cNvCxnSpPr/>
          <p:nvPr/>
        </p:nvCxnSpPr>
        <p:spPr>
          <a:xfrm>
            <a:off x="10086975" y="3803429"/>
            <a:ext cx="0" cy="774086"/>
          </a:xfrm>
          <a:prstGeom prst="straightConnector1">
            <a:avLst/>
          </a:prstGeom>
          <a:ln w="25400" cap="flat" cmpd="sng" algn="ctr">
            <a:solidFill>
              <a:srgbClr val="1F429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" name="Connettore 2 10">
            <a:extLst>
              <a:ext uri="{FF2B5EF4-FFF2-40B4-BE49-F238E27FC236}">
                <a16:creationId xmlns:a16="http://schemas.microsoft.com/office/drawing/2014/main" id="{3518E37E-ABFD-7177-0AD1-B40137CEB218}"/>
              </a:ext>
            </a:extLst>
          </p:cNvPr>
          <p:cNvCxnSpPr/>
          <p:nvPr/>
        </p:nvCxnSpPr>
        <p:spPr>
          <a:xfrm flipH="1">
            <a:off x="10103644" y="5335430"/>
            <a:ext cx="2381" cy="416841"/>
          </a:xfrm>
          <a:prstGeom prst="straightConnector1">
            <a:avLst/>
          </a:prstGeom>
          <a:ln w="25400" cap="flat" cmpd="sng" algn="ctr">
            <a:solidFill>
              <a:srgbClr val="1F429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BE688706-2075-3EC4-F59E-CAF2A8ACE49E}"/>
              </a:ext>
            </a:extLst>
          </p:cNvPr>
          <p:cNvCxnSpPr/>
          <p:nvPr/>
        </p:nvCxnSpPr>
        <p:spPr>
          <a:xfrm flipH="1" flipV="1">
            <a:off x="7869293" y="5753119"/>
            <a:ext cx="2244119" cy="1"/>
          </a:xfrm>
          <a:prstGeom prst="straightConnector1">
            <a:avLst/>
          </a:prstGeom>
          <a:ln w="25400" cap="flat" cmpd="sng" algn="ctr">
            <a:solidFill>
              <a:srgbClr val="1F429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2012EE24-BB29-C455-3EF3-189E5084F868}"/>
              </a:ext>
            </a:extLst>
          </p:cNvPr>
          <p:cNvSpPr txBox="1"/>
          <p:nvPr/>
        </p:nvSpPr>
        <p:spPr>
          <a:xfrm>
            <a:off x="4427968" y="5553064"/>
            <a:ext cx="33079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it-IT" sz="2000" dirty="0"/>
              <a:t>New </a:t>
            </a:r>
            <a:r>
              <a:rPr lang="it-IT" sz="2000" dirty="0" err="1"/>
              <a:t>predictions</a:t>
            </a:r>
            <a:r>
              <a:rPr lang="it-IT" sz="2000" dirty="0"/>
              <a:t> </a:t>
            </a:r>
            <a:r>
              <a:rPr lang="it-IT" sz="2000" dirty="0" err="1"/>
              <a:t>computed</a:t>
            </a:r>
            <a:endParaRPr lang="it-IT" sz="2000" dirty="0"/>
          </a:p>
        </p:txBody>
      </p:sp>
      <p:cxnSp>
        <p:nvCxnSpPr>
          <p:cNvPr id="15" name="Connettore 2 14">
            <a:extLst>
              <a:ext uri="{FF2B5EF4-FFF2-40B4-BE49-F238E27FC236}">
                <a16:creationId xmlns:a16="http://schemas.microsoft.com/office/drawing/2014/main" id="{842EC6FE-3D3D-D0F5-384A-DAC8E8FF468D}"/>
              </a:ext>
            </a:extLst>
          </p:cNvPr>
          <p:cNvCxnSpPr>
            <a:cxnSpLocks/>
          </p:cNvCxnSpPr>
          <p:nvPr/>
        </p:nvCxnSpPr>
        <p:spPr>
          <a:xfrm>
            <a:off x="412199" y="5789149"/>
            <a:ext cx="3889158" cy="0"/>
          </a:xfrm>
          <a:prstGeom prst="straightConnector1">
            <a:avLst/>
          </a:prstGeom>
          <a:ln w="25400" cap="flat" cmpd="sng" algn="ctr">
            <a:solidFill>
              <a:srgbClr val="1F429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Connettore 2 15">
            <a:extLst>
              <a:ext uri="{FF2B5EF4-FFF2-40B4-BE49-F238E27FC236}">
                <a16:creationId xmlns:a16="http://schemas.microsoft.com/office/drawing/2014/main" id="{EE4C0807-F6D3-7FF8-C48F-87E315299438}"/>
              </a:ext>
            </a:extLst>
          </p:cNvPr>
          <p:cNvCxnSpPr/>
          <p:nvPr/>
        </p:nvCxnSpPr>
        <p:spPr>
          <a:xfrm flipH="1" flipV="1">
            <a:off x="421725" y="4884980"/>
            <a:ext cx="4518" cy="896642"/>
          </a:xfrm>
          <a:prstGeom prst="straightConnector1">
            <a:avLst/>
          </a:prstGeom>
          <a:ln w="25400" cap="flat" cmpd="sng" algn="ctr">
            <a:solidFill>
              <a:srgbClr val="1F429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6BE32A2F-44AB-B02D-3F4C-BCAFDCADB553}"/>
              </a:ext>
            </a:extLst>
          </p:cNvPr>
          <p:cNvSpPr txBox="1"/>
          <p:nvPr/>
        </p:nvSpPr>
        <p:spPr>
          <a:xfrm>
            <a:off x="8162002" y="4874838"/>
            <a:ext cx="38499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dirty="0"/>
              <a:t>(Loss </a:t>
            </a:r>
            <a:r>
              <a:rPr lang="it-IT" sz="1600" dirty="0" err="1"/>
              <a:t>function</a:t>
            </a:r>
            <a:r>
              <a:rPr lang="it-IT" sz="1600" dirty="0"/>
              <a:t> </a:t>
            </a:r>
            <a:r>
              <a:rPr lang="it-IT" sz="1600" dirty="0" err="1"/>
              <a:t>minimized</a:t>
            </a:r>
            <a:r>
              <a:rPr lang="it-IT" sz="1600" dirty="0"/>
              <a:t>)</a:t>
            </a: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3309F898-4784-D7B4-4E9B-E70BE0076864}"/>
              </a:ext>
            </a:extLst>
          </p:cNvPr>
          <p:cNvSpPr txBox="1"/>
          <p:nvPr/>
        </p:nvSpPr>
        <p:spPr>
          <a:xfrm>
            <a:off x="426546" y="2725888"/>
            <a:ext cx="216880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x input</a:t>
            </a:r>
          </a:p>
          <a:p>
            <a:pPr algn="ctr"/>
            <a:r>
              <a:rPr lang="it-IT" dirty="0"/>
              <a:t>y label</a:t>
            </a:r>
          </a:p>
          <a:p>
            <a:pPr algn="ctr"/>
            <a:r>
              <a:rPr lang="it-IT" dirty="0" err="1"/>
              <a:t>Idetify</a:t>
            </a:r>
            <a:r>
              <a:rPr lang="it-IT" dirty="0"/>
              <a:t> the class</a:t>
            </a:r>
          </a:p>
          <a:p>
            <a:pPr algn="ctr"/>
            <a:r>
              <a:rPr lang="it-IT" sz="1600" dirty="0"/>
              <a:t>(</a:t>
            </a:r>
            <a:r>
              <a:rPr lang="it-IT" sz="1600" dirty="0" err="1"/>
              <a:t>Desired</a:t>
            </a:r>
            <a:r>
              <a:rPr lang="it-IT" sz="1600" dirty="0"/>
              <a:t> output)</a:t>
            </a: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464D513A-6D62-5B1A-DAF6-74E73DB1C3FA}"/>
              </a:ext>
            </a:extLst>
          </p:cNvPr>
          <p:cNvSpPr txBox="1"/>
          <p:nvPr/>
        </p:nvSpPr>
        <p:spPr>
          <a:xfrm>
            <a:off x="767304" y="5065588"/>
            <a:ext cx="1431589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Model</a:t>
            </a:r>
          </a:p>
          <a:p>
            <a:pPr algn="ctr"/>
            <a:r>
              <a:rPr lang="it-IT" sz="1600" b="1" dirty="0"/>
              <a:t>w</a:t>
            </a:r>
            <a:r>
              <a:rPr lang="it-IT" sz="1600" dirty="0"/>
              <a:t> </a:t>
            </a:r>
            <a:r>
              <a:rPr lang="it-IT" sz="1600" dirty="0" err="1"/>
              <a:t>parameters</a:t>
            </a:r>
            <a:endParaRPr lang="it-IT" sz="1600" dirty="0"/>
          </a:p>
        </p:txBody>
      </p:sp>
      <p:cxnSp>
        <p:nvCxnSpPr>
          <p:cNvPr id="21" name="Connettore 2 20">
            <a:extLst>
              <a:ext uri="{FF2B5EF4-FFF2-40B4-BE49-F238E27FC236}">
                <a16:creationId xmlns:a16="http://schemas.microsoft.com/office/drawing/2014/main" id="{AB96648B-4684-E3F1-8EF8-CFF04E178784}"/>
              </a:ext>
            </a:extLst>
          </p:cNvPr>
          <p:cNvCxnSpPr/>
          <p:nvPr/>
        </p:nvCxnSpPr>
        <p:spPr>
          <a:xfrm>
            <a:off x="412199" y="4897264"/>
            <a:ext cx="313160" cy="0"/>
          </a:xfrm>
          <a:prstGeom prst="straightConnector1">
            <a:avLst/>
          </a:prstGeom>
          <a:ln w="25400" cap="flat" cmpd="sng" algn="ctr">
            <a:solidFill>
              <a:srgbClr val="1F429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asellaDiTesto 22">
                <a:extLst>
                  <a:ext uri="{FF2B5EF4-FFF2-40B4-BE49-F238E27FC236}">
                    <a16:creationId xmlns:a16="http://schemas.microsoft.com/office/drawing/2014/main" id="{DD4B0780-039B-85D5-D072-A01B0A5F3808}"/>
                  </a:ext>
                </a:extLst>
              </p:cNvPr>
              <p:cNvSpPr txBox="1"/>
              <p:nvPr/>
            </p:nvSpPr>
            <p:spPr>
              <a:xfrm>
                <a:off x="5317028" y="6334165"/>
                <a:ext cx="1664162" cy="4101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it-IT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it-IT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(·,</m:t>
                      </m:r>
                      <m:sSup>
                        <m:sSupPr>
                          <m:ctrlPr>
                            <a:rPr lang="it-IT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p>
                          <m:r>
                            <a:rPr lang="it-IT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𝑓𝑖𝑛𝑎𝑙</m:t>
                          </m:r>
                        </m:sup>
                      </m:sSup>
                      <m:r>
                        <a:rPr lang="it-IT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it-IT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CasellaDiTesto 22">
                <a:extLst>
                  <a:ext uri="{FF2B5EF4-FFF2-40B4-BE49-F238E27FC236}">
                    <a16:creationId xmlns:a16="http://schemas.microsoft.com/office/drawing/2014/main" id="{DD4B0780-039B-85D5-D072-A01B0A5F38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7028" y="6334165"/>
                <a:ext cx="1664162" cy="410112"/>
              </a:xfrm>
              <a:prstGeom prst="rect">
                <a:avLst/>
              </a:prstGeom>
              <a:blipFill>
                <a:blip r:embed="rId8"/>
                <a:stretch>
                  <a:fillRect b="-1791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68ABCB28-D271-5889-DB75-22BCA3489F36}"/>
              </a:ext>
            </a:extLst>
          </p:cNvPr>
          <p:cNvSpPr txBox="1"/>
          <p:nvPr/>
        </p:nvSpPr>
        <p:spPr>
          <a:xfrm>
            <a:off x="4505076" y="6084905"/>
            <a:ext cx="32880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dirty="0" err="1"/>
              <a:t>Results</a:t>
            </a:r>
            <a:r>
              <a:rPr lang="it-IT" dirty="0"/>
              <a:t> of the training </a:t>
            </a:r>
            <a:r>
              <a:rPr lang="it-IT" dirty="0" err="1"/>
              <a:t>process</a:t>
            </a:r>
            <a:endParaRPr lang="it-IT" dirty="0"/>
          </a:p>
        </p:txBody>
      </p:sp>
      <p:grpSp>
        <p:nvGrpSpPr>
          <p:cNvPr id="46" name="Gruppo 45">
            <a:extLst>
              <a:ext uri="{FF2B5EF4-FFF2-40B4-BE49-F238E27FC236}">
                <a16:creationId xmlns:a16="http://schemas.microsoft.com/office/drawing/2014/main" id="{FFFA0953-65FB-FAF2-BB5B-572473425B09}"/>
              </a:ext>
            </a:extLst>
          </p:cNvPr>
          <p:cNvGrpSpPr/>
          <p:nvPr/>
        </p:nvGrpSpPr>
        <p:grpSpPr>
          <a:xfrm>
            <a:off x="7967489" y="1508521"/>
            <a:ext cx="4224109" cy="1001551"/>
            <a:chOff x="7634679" y="1303727"/>
            <a:chExt cx="4224109" cy="1001551"/>
          </a:xfrm>
        </p:grpSpPr>
        <p:sp>
          <p:nvSpPr>
            <p:cNvPr id="26" name="CasellaDiTesto 25">
              <a:extLst>
                <a:ext uri="{FF2B5EF4-FFF2-40B4-BE49-F238E27FC236}">
                  <a16:creationId xmlns:a16="http://schemas.microsoft.com/office/drawing/2014/main" id="{B6679FE0-8400-A0C1-02FD-DA54D8F48D86}"/>
                </a:ext>
              </a:extLst>
            </p:cNvPr>
            <p:cNvSpPr txBox="1"/>
            <p:nvPr/>
          </p:nvSpPr>
          <p:spPr>
            <a:xfrm>
              <a:off x="7634679" y="1307064"/>
              <a:ext cx="733425" cy="369332"/>
            </a:xfrm>
            <a:prstGeom prst="rect">
              <a:avLst/>
            </a:prstGeom>
            <a:noFill/>
            <a:ln w="28575">
              <a:solidFill>
                <a:srgbClr val="00B05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it-IT" dirty="0"/>
                <a:t>Data</a:t>
              </a:r>
            </a:p>
          </p:txBody>
        </p:sp>
        <p:sp>
          <p:nvSpPr>
            <p:cNvPr id="27" name="CasellaDiTesto 26">
              <a:extLst>
                <a:ext uri="{FF2B5EF4-FFF2-40B4-BE49-F238E27FC236}">
                  <a16:creationId xmlns:a16="http://schemas.microsoft.com/office/drawing/2014/main" id="{994A2121-9366-32EF-1EF3-B2F20F0829F3}"/>
                </a:ext>
              </a:extLst>
            </p:cNvPr>
            <p:cNvSpPr txBox="1"/>
            <p:nvPr/>
          </p:nvSpPr>
          <p:spPr>
            <a:xfrm>
              <a:off x="8334164" y="1935946"/>
              <a:ext cx="1110265" cy="369332"/>
            </a:xfrm>
            <a:prstGeom prst="rect">
              <a:avLst/>
            </a:prstGeom>
            <a:noFill/>
            <a:ln w="28575">
              <a:solidFill>
                <a:srgbClr val="00B05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anchor="ctr">
              <a:spAutoFit/>
            </a:bodyPr>
            <a:lstStyle/>
            <a:p>
              <a:pPr algn="ctr"/>
              <a:r>
                <a:rPr lang="it-IT" dirty="0"/>
                <a:t>Model</a:t>
              </a:r>
              <a:endParaRPr lang="it-IT" sz="300" dirty="0"/>
            </a:p>
          </p:txBody>
        </p:sp>
        <p:sp>
          <p:nvSpPr>
            <p:cNvPr id="28" name="CasellaDiTesto 27">
              <a:extLst>
                <a:ext uri="{FF2B5EF4-FFF2-40B4-BE49-F238E27FC236}">
                  <a16:creationId xmlns:a16="http://schemas.microsoft.com/office/drawing/2014/main" id="{EF9A545A-987F-645E-AE65-FC1692FF425F}"/>
                </a:ext>
              </a:extLst>
            </p:cNvPr>
            <p:cNvSpPr txBox="1"/>
            <p:nvPr/>
          </p:nvSpPr>
          <p:spPr>
            <a:xfrm>
              <a:off x="10422593" y="1307064"/>
              <a:ext cx="1110265" cy="369332"/>
            </a:xfrm>
            <a:prstGeom prst="rect">
              <a:avLst/>
            </a:prstGeom>
            <a:noFill/>
            <a:ln w="28575">
              <a:solidFill>
                <a:srgbClr val="00B05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anchor="ctr">
              <a:spAutoFit/>
            </a:bodyPr>
            <a:lstStyle/>
            <a:p>
              <a:pPr algn="ctr"/>
              <a:r>
                <a:rPr lang="it-IT" dirty="0"/>
                <a:t>Loss</a:t>
              </a:r>
              <a:endParaRPr lang="it-IT" sz="300" dirty="0"/>
            </a:p>
          </p:txBody>
        </p:sp>
        <p:sp>
          <p:nvSpPr>
            <p:cNvPr id="29" name="CasellaDiTesto 28">
              <a:extLst>
                <a:ext uri="{FF2B5EF4-FFF2-40B4-BE49-F238E27FC236}">
                  <a16:creationId xmlns:a16="http://schemas.microsoft.com/office/drawing/2014/main" id="{43CD6419-EAF7-0AB1-DFB0-0A533E2B6F93}"/>
                </a:ext>
              </a:extLst>
            </p:cNvPr>
            <p:cNvSpPr txBox="1"/>
            <p:nvPr/>
          </p:nvSpPr>
          <p:spPr>
            <a:xfrm>
              <a:off x="10096662" y="1935769"/>
              <a:ext cx="1762126" cy="369332"/>
            </a:xfrm>
            <a:prstGeom prst="rect">
              <a:avLst/>
            </a:prstGeom>
            <a:noFill/>
            <a:ln w="28575">
              <a:solidFill>
                <a:srgbClr val="00B05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anchor="ctr">
              <a:spAutoFit/>
            </a:bodyPr>
            <a:lstStyle/>
            <a:p>
              <a:pPr algn="ctr"/>
              <a:r>
                <a:rPr lang="en-CA" noProof="0" dirty="0"/>
                <a:t>Weight</a:t>
              </a:r>
              <a:r>
                <a:rPr lang="it-IT" dirty="0"/>
                <a:t> update</a:t>
              </a:r>
              <a:endParaRPr lang="it-IT" sz="300" dirty="0"/>
            </a:p>
          </p:txBody>
        </p:sp>
        <p:cxnSp>
          <p:nvCxnSpPr>
            <p:cNvPr id="30" name="Connettore 2 29">
              <a:extLst>
                <a:ext uri="{FF2B5EF4-FFF2-40B4-BE49-F238E27FC236}">
                  <a16:creationId xmlns:a16="http://schemas.microsoft.com/office/drawing/2014/main" id="{2A86D111-24C5-CE19-5201-9DDBA63CA229}"/>
                </a:ext>
              </a:extLst>
            </p:cNvPr>
            <p:cNvCxnSpPr>
              <a:cxnSpLocks/>
              <a:stCxn id="28" idx="2"/>
              <a:endCxn id="29" idx="0"/>
            </p:cNvCxnSpPr>
            <p:nvPr/>
          </p:nvCxnSpPr>
          <p:spPr>
            <a:xfrm flipH="1">
              <a:off x="10977725" y="1676396"/>
              <a:ext cx="1" cy="259373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Connettore 2 30">
              <a:extLst>
                <a:ext uri="{FF2B5EF4-FFF2-40B4-BE49-F238E27FC236}">
                  <a16:creationId xmlns:a16="http://schemas.microsoft.com/office/drawing/2014/main" id="{11EA17EB-0C27-D9B7-9DDC-57CF76AEA872}"/>
                </a:ext>
              </a:extLst>
            </p:cNvPr>
            <p:cNvCxnSpPr>
              <a:cxnSpLocks/>
              <a:stCxn id="29" idx="1"/>
              <a:endCxn id="27" idx="3"/>
            </p:cNvCxnSpPr>
            <p:nvPr/>
          </p:nvCxnSpPr>
          <p:spPr>
            <a:xfrm flipH="1">
              <a:off x="9444429" y="2120435"/>
              <a:ext cx="652233" cy="177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Connettore diritto 31">
              <a:extLst>
                <a:ext uri="{FF2B5EF4-FFF2-40B4-BE49-F238E27FC236}">
                  <a16:creationId xmlns:a16="http://schemas.microsoft.com/office/drawing/2014/main" id="{D5781E7B-C6E4-B108-4ECD-3B785C126F61}"/>
                </a:ext>
              </a:extLst>
            </p:cNvPr>
            <p:cNvCxnSpPr>
              <a:cxnSpLocks/>
              <a:stCxn id="26" idx="3"/>
              <a:endCxn id="34" idx="1"/>
            </p:cNvCxnSpPr>
            <p:nvPr/>
          </p:nvCxnSpPr>
          <p:spPr>
            <a:xfrm flipV="1">
              <a:off x="8368104" y="1488393"/>
              <a:ext cx="516832" cy="3337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Connettore a gomito 32">
              <a:extLst>
                <a:ext uri="{FF2B5EF4-FFF2-40B4-BE49-F238E27FC236}">
                  <a16:creationId xmlns:a16="http://schemas.microsoft.com/office/drawing/2014/main" id="{3AB70CE9-E6F9-0922-D938-862C8F80896D}"/>
                </a:ext>
              </a:extLst>
            </p:cNvPr>
            <p:cNvCxnSpPr>
              <a:cxnSpLocks/>
              <a:stCxn id="27" idx="0"/>
              <a:endCxn id="34" idx="1"/>
            </p:cNvCxnSpPr>
            <p:nvPr/>
          </p:nvCxnSpPr>
          <p:spPr>
            <a:xfrm rot="16200000" flipV="1">
              <a:off x="8663341" y="1709989"/>
              <a:ext cx="447553" cy="4361"/>
            </a:xfrm>
            <a:prstGeom prst="bentConnector4">
              <a:avLst>
                <a:gd name="adj1" fmla="val 29369"/>
                <a:gd name="adj2" fmla="val 8545563"/>
              </a:avLst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34" name="CasellaDiTesto 33">
              <a:extLst>
                <a:ext uri="{FF2B5EF4-FFF2-40B4-BE49-F238E27FC236}">
                  <a16:creationId xmlns:a16="http://schemas.microsoft.com/office/drawing/2014/main" id="{1262CA71-A10A-3EB2-2028-5DA7AA47DD3F}"/>
                </a:ext>
              </a:extLst>
            </p:cNvPr>
            <p:cNvSpPr txBox="1"/>
            <p:nvPr/>
          </p:nvSpPr>
          <p:spPr>
            <a:xfrm>
              <a:off x="8884936" y="1303727"/>
              <a:ext cx="1316208" cy="369332"/>
            </a:xfrm>
            <a:prstGeom prst="rect">
              <a:avLst/>
            </a:prstGeom>
            <a:noFill/>
            <a:ln w="28575">
              <a:solidFill>
                <a:srgbClr val="00B05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anchor="ctr">
              <a:spAutoFit/>
            </a:bodyPr>
            <a:lstStyle/>
            <a:p>
              <a:pPr algn="ctr"/>
              <a:r>
                <a:rPr lang="it-IT" dirty="0" err="1"/>
                <a:t>Predictions</a:t>
              </a:r>
              <a:endParaRPr lang="it-IT" sz="300" dirty="0"/>
            </a:p>
          </p:txBody>
        </p:sp>
        <p:cxnSp>
          <p:nvCxnSpPr>
            <p:cNvPr id="35" name="Connettore 2 34">
              <a:extLst>
                <a:ext uri="{FF2B5EF4-FFF2-40B4-BE49-F238E27FC236}">
                  <a16:creationId xmlns:a16="http://schemas.microsoft.com/office/drawing/2014/main" id="{4FF2B70D-8C46-152D-0B13-029973883993}"/>
                </a:ext>
              </a:extLst>
            </p:cNvPr>
            <p:cNvCxnSpPr>
              <a:cxnSpLocks/>
              <a:stCxn id="34" idx="3"/>
              <a:endCxn id="28" idx="1"/>
            </p:cNvCxnSpPr>
            <p:nvPr/>
          </p:nvCxnSpPr>
          <p:spPr>
            <a:xfrm>
              <a:off x="10201144" y="1488393"/>
              <a:ext cx="221449" cy="3337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CasellaDiTesto 47">
                <a:extLst>
                  <a:ext uri="{FF2B5EF4-FFF2-40B4-BE49-F238E27FC236}">
                    <a16:creationId xmlns:a16="http://schemas.microsoft.com/office/drawing/2014/main" id="{0C2C0795-1215-C7F1-C0F1-E4B64E108AF2}"/>
                  </a:ext>
                </a:extLst>
              </p:cNvPr>
              <p:cNvSpPr txBox="1"/>
              <p:nvPr/>
            </p:nvSpPr>
            <p:spPr>
              <a:xfrm>
                <a:off x="3136693" y="3061187"/>
                <a:ext cx="166141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it-IT" sz="1800" dirty="0" err="1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Predictions</a:t>
                </a:r>
                <a:endParaRPr lang="it-IT" sz="1800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it-IT" sz="18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it-IT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it-IT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it-IT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it-IT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it-IT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it-IT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it-IT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it-IT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it-IT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𝒘</m:t>
                      </m:r>
                      <m:r>
                        <a:rPr lang="it-IT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it-IT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8" name="CasellaDiTesto 47">
                <a:extLst>
                  <a:ext uri="{FF2B5EF4-FFF2-40B4-BE49-F238E27FC236}">
                    <a16:creationId xmlns:a16="http://schemas.microsoft.com/office/drawing/2014/main" id="{0C2C0795-1215-C7F1-C0F1-E4B64E108A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6693" y="3061187"/>
                <a:ext cx="1661410" cy="646331"/>
              </a:xfrm>
              <a:prstGeom prst="rect">
                <a:avLst/>
              </a:prstGeom>
              <a:blipFill>
                <a:blip r:embed="rId9"/>
                <a:stretch>
                  <a:fillRect t="-5660" b="-849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Rettangolo 41">
            <a:extLst>
              <a:ext uri="{FF2B5EF4-FFF2-40B4-BE49-F238E27FC236}">
                <a16:creationId xmlns:a16="http://schemas.microsoft.com/office/drawing/2014/main" id="{444F0270-366D-691C-D7B9-987520531D7F}"/>
              </a:ext>
            </a:extLst>
          </p:cNvPr>
          <p:cNvSpPr/>
          <p:nvPr/>
        </p:nvSpPr>
        <p:spPr>
          <a:xfrm>
            <a:off x="91010" y="349397"/>
            <a:ext cx="1514764" cy="15483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36" name="Immagine 35">
            <a:extLst>
              <a:ext uri="{FF2B5EF4-FFF2-40B4-BE49-F238E27FC236}">
                <a16:creationId xmlns:a16="http://schemas.microsoft.com/office/drawing/2014/main" id="{6FE84D75-3AEA-29A5-A1EE-40B4CB23C19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853"/>
            <a:ext cx="1033118" cy="1033118"/>
          </a:xfrm>
          <a:prstGeom prst="rect">
            <a:avLst/>
          </a:prstGeom>
        </p:spPr>
      </p:pic>
      <p:pic>
        <p:nvPicPr>
          <p:cNvPr id="40" name="Immagine 39">
            <a:extLst>
              <a:ext uri="{FF2B5EF4-FFF2-40B4-BE49-F238E27FC236}">
                <a16:creationId xmlns:a16="http://schemas.microsoft.com/office/drawing/2014/main" id="{6F418247-0417-BEC0-51E8-AD4BEA87820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650" y="1138454"/>
            <a:ext cx="1012854" cy="1054195"/>
          </a:xfrm>
          <a:prstGeom prst="rect">
            <a:avLst/>
          </a:prstGeom>
        </p:spPr>
      </p:pic>
      <p:cxnSp>
        <p:nvCxnSpPr>
          <p:cNvPr id="44" name="Connettore 2 43">
            <a:extLst>
              <a:ext uri="{FF2B5EF4-FFF2-40B4-BE49-F238E27FC236}">
                <a16:creationId xmlns:a16="http://schemas.microsoft.com/office/drawing/2014/main" id="{878B4E6F-F9E3-758D-3E05-0E1EFE57A645}"/>
              </a:ext>
            </a:extLst>
          </p:cNvPr>
          <p:cNvCxnSpPr>
            <a:cxnSpLocks/>
          </p:cNvCxnSpPr>
          <p:nvPr/>
        </p:nvCxnSpPr>
        <p:spPr>
          <a:xfrm>
            <a:off x="1139103" y="1065997"/>
            <a:ext cx="403814" cy="5706"/>
          </a:xfrm>
          <a:prstGeom prst="straightConnector1">
            <a:avLst/>
          </a:prstGeom>
          <a:ln w="28575">
            <a:solidFill>
              <a:srgbClr val="1F429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ttangolo 49">
            <a:extLst>
              <a:ext uri="{FF2B5EF4-FFF2-40B4-BE49-F238E27FC236}">
                <a16:creationId xmlns:a16="http://schemas.microsoft.com/office/drawing/2014/main" id="{E962996A-9FEC-6476-EB8E-F37CCB7A1BDC}"/>
              </a:ext>
            </a:extLst>
          </p:cNvPr>
          <p:cNvSpPr/>
          <p:nvPr/>
        </p:nvSpPr>
        <p:spPr>
          <a:xfrm>
            <a:off x="3052380" y="940382"/>
            <a:ext cx="240550" cy="3169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52" name="Connettore 2 51">
            <a:extLst>
              <a:ext uri="{FF2B5EF4-FFF2-40B4-BE49-F238E27FC236}">
                <a16:creationId xmlns:a16="http://schemas.microsoft.com/office/drawing/2014/main" id="{220FA8B7-6BA2-3616-FC20-F4E16F9C3BA6}"/>
              </a:ext>
            </a:extLst>
          </p:cNvPr>
          <p:cNvCxnSpPr>
            <a:cxnSpLocks/>
          </p:cNvCxnSpPr>
          <p:nvPr/>
        </p:nvCxnSpPr>
        <p:spPr>
          <a:xfrm>
            <a:off x="3119758" y="1170868"/>
            <a:ext cx="429319" cy="170442"/>
          </a:xfrm>
          <a:prstGeom prst="straightConnector1">
            <a:avLst/>
          </a:prstGeom>
          <a:ln w="28575">
            <a:solidFill>
              <a:srgbClr val="1F429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ttore 2 48">
            <a:extLst>
              <a:ext uri="{FF2B5EF4-FFF2-40B4-BE49-F238E27FC236}">
                <a16:creationId xmlns:a16="http://schemas.microsoft.com/office/drawing/2014/main" id="{097AD262-FCDD-101B-73A4-757D438F94E4}"/>
              </a:ext>
            </a:extLst>
          </p:cNvPr>
          <p:cNvCxnSpPr>
            <a:cxnSpLocks/>
          </p:cNvCxnSpPr>
          <p:nvPr/>
        </p:nvCxnSpPr>
        <p:spPr>
          <a:xfrm flipV="1">
            <a:off x="3118373" y="914102"/>
            <a:ext cx="411031" cy="103065"/>
          </a:xfrm>
          <a:prstGeom prst="straightConnector1">
            <a:avLst/>
          </a:prstGeom>
          <a:ln w="28575">
            <a:solidFill>
              <a:srgbClr val="1F429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CasellaDiTesto 53">
            <a:extLst>
              <a:ext uri="{FF2B5EF4-FFF2-40B4-BE49-F238E27FC236}">
                <a16:creationId xmlns:a16="http://schemas.microsoft.com/office/drawing/2014/main" id="{87295315-461C-AA9B-D94F-4A398204D382}"/>
              </a:ext>
            </a:extLst>
          </p:cNvPr>
          <p:cNvSpPr txBox="1"/>
          <p:nvPr/>
        </p:nvSpPr>
        <p:spPr>
          <a:xfrm>
            <a:off x="3704670" y="653675"/>
            <a:ext cx="629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CAT</a:t>
            </a:r>
          </a:p>
        </p:txBody>
      </p:sp>
      <p:sp>
        <p:nvSpPr>
          <p:cNvPr id="55" name="CasellaDiTesto 54">
            <a:extLst>
              <a:ext uri="{FF2B5EF4-FFF2-40B4-BE49-F238E27FC236}">
                <a16:creationId xmlns:a16="http://schemas.microsoft.com/office/drawing/2014/main" id="{A61E58F9-D9C8-CBD9-DCC1-0043A9A3C406}"/>
              </a:ext>
            </a:extLst>
          </p:cNvPr>
          <p:cNvSpPr txBox="1"/>
          <p:nvPr/>
        </p:nvSpPr>
        <p:spPr>
          <a:xfrm>
            <a:off x="3672409" y="1253709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DOG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4FF01050-B6CF-17D5-A8C8-6313FBC34E7E}"/>
              </a:ext>
            </a:extLst>
          </p:cNvPr>
          <p:cNvSpPr txBox="1"/>
          <p:nvPr/>
        </p:nvSpPr>
        <p:spPr>
          <a:xfrm>
            <a:off x="4333881" y="655817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[0]</a:t>
            </a:r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8DFCA97E-3FC4-C8F1-2E3C-B232A476F2CA}"/>
              </a:ext>
            </a:extLst>
          </p:cNvPr>
          <p:cNvSpPr txBox="1"/>
          <p:nvPr/>
        </p:nvSpPr>
        <p:spPr>
          <a:xfrm>
            <a:off x="4345485" y="1242003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[1]</a:t>
            </a:r>
          </a:p>
        </p:txBody>
      </p:sp>
      <p:sp>
        <p:nvSpPr>
          <p:cNvPr id="38" name="Ovale 37">
            <a:extLst>
              <a:ext uri="{FF2B5EF4-FFF2-40B4-BE49-F238E27FC236}">
                <a16:creationId xmlns:a16="http://schemas.microsoft.com/office/drawing/2014/main" id="{5252C2A7-6183-8465-81AB-EA5DFC34632A}"/>
              </a:ext>
            </a:extLst>
          </p:cNvPr>
          <p:cNvSpPr/>
          <p:nvPr/>
        </p:nvSpPr>
        <p:spPr>
          <a:xfrm>
            <a:off x="1623251" y="752325"/>
            <a:ext cx="180000" cy="1800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9" name="Ovale 38">
            <a:extLst>
              <a:ext uri="{FF2B5EF4-FFF2-40B4-BE49-F238E27FC236}">
                <a16:creationId xmlns:a16="http://schemas.microsoft.com/office/drawing/2014/main" id="{0FA57FC2-0BC5-F4E3-544B-834772085799}"/>
              </a:ext>
            </a:extLst>
          </p:cNvPr>
          <p:cNvSpPr/>
          <p:nvPr/>
        </p:nvSpPr>
        <p:spPr>
          <a:xfrm>
            <a:off x="1623251" y="1010732"/>
            <a:ext cx="180000" cy="1800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3" name="Ovale 42">
            <a:extLst>
              <a:ext uri="{FF2B5EF4-FFF2-40B4-BE49-F238E27FC236}">
                <a16:creationId xmlns:a16="http://schemas.microsoft.com/office/drawing/2014/main" id="{6EF5C3FD-2D6B-5B20-6BEF-519505AE00CA}"/>
              </a:ext>
            </a:extLst>
          </p:cNvPr>
          <p:cNvSpPr/>
          <p:nvPr/>
        </p:nvSpPr>
        <p:spPr>
          <a:xfrm>
            <a:off x="1623251" y="1241257"/>
            <a:ext cx="180000" cy="1800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8" name="Ovale 57">
            <a:extLst>
              <a:ext uri="{FF2B5EF4-FFF2-40B4-BE49-F238E27FC236}">
                <a16:creationId xmlns:a16="http://schemas.microsoft.com/office/drawing/2014/main" id="{2FF8E1AD-477B-B7DC-8D9A-7BE106039811}"/>
              </a:ext>
            </a:extLst>
          </p:cNvPr>
          <p:cNvSpPr/>
          <p:nvPr/>
        </p:nvSpPr>
        <p:spPr>
          <a:xfrm>
            <a:off x="2108893" y="885997"/>
            <a:ext cx="180000" cy="1800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9" name="Ovale 58">
            <a:extLst>
              <a:ext uri="{FF2B5EF4-FFF2-40B4-BE49-F238E27FC236}">
                <a16:creationId xmlns:a16="http://schemas.microsoft.com/office/drawing/2014/main" id="{B1237167-182A-C512-D239-CBB916C99650}"/>
              </a:ext>
            </a:extLst>
          </p:cNvPr>
          <p:cNvSpPr/>
          <p:nvPr/>
        </p:nvSpPr>
        <p:spPr>
          <a:xfrm>
            <a:off x="2102079" y="1126028"/>
            <a:ext cx="180000" cy="1800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0" name="Ovale 59">
            <a:extLst>
              <a:ext uri="{FF2B5EF4-FFF2-40B4-BE49-F238E27FC236}">
                <a16:creationId xmlns:a16="http://schemas.microsoft.com/office/drawing/2014/main" id="{6285E3A1-81E2-7395-C727-7908FF55DC73}"/>
              </a:ext>
            </a:extLst>
          </p:cNvPr>
          <p:cNvSpPr/>
          <p:nvPr/>
        </p:nvSpPr>
        <p:spPr>
          <a:xfrm>
            <a:off x="2101167" y="1360315"/>
            <a:ext cx="180000" cy="1800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1" name="Ovale 60">
            <a:extLst>
              <a:ext uri="{FF2B5EF4-FFF2-40B4-BE49-F238E27FC236}">
                <a16:creationId xmlns:a16="http://schemas.microsoft.com/office/drawing/2014/main" id="{B1E22940-0BC5-44DF-81E2-F142E4440CBF}"/>
              </a:ext>
            </a:extLst>
          </p:cNvPr>
          <p:cNvSpPr/>
          <p:nvPr/>
        </p:nvSpPr>
        <p:spPr>
          <a:xfrm>
            <a:off x="2108893" y="645846"/>
            <a:ext cx="180000" cy="1800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6" name="Ovale 65">
            <a:extLst>
              <a:ext uri="{FF2B5EF4-FFF2-40B4-BE49-F238E27FC236}">
                <a16:creationId xmlns:a16="http://schemas.microsoft.com/office/drawing/2014/main" id="{1F57BA00-62F4-193D-E73F-827C49852ABB}"/>
              </a:ext>
            </a:extLst>
          </p:cNvPr>
          <p:cNvSpPr/>
          <p:nvPr/>
        </p:nvSpPr>
        <p:spPr>
          <a:xfrm>
            <a:off x="2850740" y="999877"/>
            <a:ext cx="180000" cy="1800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7" name="Ovale 66">
            <a:extLst>
              <a:ext uri="{FF2B5EF4-FFF2-40B4-BE49-F238E27FC236}">
                <a16:creationId xmlns:a16="http://schemas.microsoft.com/office/drawing/2014/main" id="{B4242FB7-0293-E576-A214-4B82A9B0F11C}"/>
              </a:ext>
            </a:extLst>
          </p:cNvPr>
          <p:cNvSpPr/>
          <p:nvPr/>
        </p:nvSpPr>
        <p:spPr>
          <a:xfrm>
            <a:off x="2505279" y="754950"/>
            <a:ext cx="180000" cy="1800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8" name="Ovale 67">
            <a:extLst>
              <a:ext uri="{FF2B5EF4-FFF2-40B4-BE49-F238E27FC236}">
                <a16:creationId xmlns:a16="http://schemas.microsoft.com/office/drawing/2014/main" id="{144F964E-4EB2-B405-0133-AB77B7FA766A}"/>
              </a:ext>
            </a:extLst>
          </p:cNvPr>
          <p:cNvSpPr/>
          <p:nvPr/>
        </p:nvSpPr>
        <p:spPr>
          <a:xfrm>
            <a:off x="2501469" y="1017167"/>
            <a:ext cx="180000" cy="1800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9" name="Ovale 68">
            <a:extLst>
              <a:ext uri="{FF2B5EF4-FFF2-40B4-BE49-F238E27FC236}">
                <a16:creationId xmlns:a16="http://schemas.microsoft.com/office/drawing/2014/main" id="{25E35D3D-AE57-4B05-BABF-5332F26FD78C}"/>
              </a:ext>
            </a:extLst>
          </p:cNvPr>
          <p:cNvSpPr/>
          <p:nvPr/>
        </p:nvSpPr>
        <p:spPr>
          <a:xfrm>
            <a:off x="2504009" y="1240072"/>
            <a:ext cx="180000" cy="1800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27651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3" grpId="0"/>
      <p:bldP spid="4" grpId="0"/>
      <p:bldP spid="5" grpId="0"/>
      <p:bldP spid="9" grpId="0"/>
      <p:bldP spid="14" grpId="0"/>
      <p:bldP spid="18" grpId="0"/>
      <p:bldP spid="19" grpId="0"/>
      <p:bldP spid="20" grpId="0"/>
      <p:bldP spid="23" grpId="0"/>
      <p:bldP spid="24" grpId="0"/>
      <p:bldP spid="4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6B4EBB-1970-3F90-E3D4-E0886E314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uppo 6">
            <a:extLst>
              <a:ext uri="{FF2B5EF4-FFF2-40B4-BE49-F238E27FC236}">
                <a16:creationId xmlns:a16="http://schemas.microsoft.com/office/drawing/2014/main" id="{D536AC0D-D054-EA72-55AE-0F291F8EA631}"/>
              </a:ext>
            </a:extLst>
          </p:cNvPr>
          <p:cNvGrpSpPr/>
          <p:nvPr/>
        </p:nvGrpSpPr>
        <p:grpSpPr>
          <a:xfrm>
            <a:off x="-77328" y="259310"/>
            <a:ext cx="5608320" cy="6171342"/>
            <a:chOff x="-693873" y="-17895"/>
            <a:chExt cx="6096000" cy="6710631"/>
          </a:xfrm>
        </p:grpSpPr>
        <p:sp>
          <p:nvSpPr>
            <p:cNvPr id="47" name="CasellaDiTesto 46">
              <a:extLst>
                <a:ext uri="{FF2B5EF4-FFF2-40B4-BE49-F238E27FC236}">
                  <a16:creationId xmlns:a16="http://schemas.microsoft.com/office/drawing/2014/main" id="{5A7F4A92-7190-E011-4962-395C4244FA2D}"/>
                </a:ext>
              </a:extLst>
            </p:cNvPr>
            <p:cNvSpPr txBox="1"/>
            <p:nvPr/>
          </p:nvSpPr>
          <p:spPr>
            <a:xfrm>
              <a:off x="-693873" y="-17895"/>
              <a:ext cx="609600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it-IT" sz="2000" b="1" dirty="0" err="1">
                  <a:latin typeface="Georgia" panose="02040502050405020303" pitchFamily="18" charset="0"/>
                </a:rPr>
                <a:t>Classification</a:t>
              </a:r>
              <a:r>
                <a:rPr lang="it-IT" sz="2000" b="1" dirty="0">
                  <a:latin typeface="Georgia" panose="02040502050405020303" pitchFamily="18" charset="0"/>
                </a:rPr>
                <a:t> </a:t>
              </a:r>
              <a:r>
                <a:rPr lang="it-IT" sz="2000" b="1" dirty="0" err="1">
                  <a:latin typeface="Georgia" panose="02040502050405020303" pitchFamily="18" charset="0"/>
                </a:rPr>
                <a:t>problem</a:t>
              </a:r>
              <a:endParaRPr lang="it-IT" sz="2000" b="1" dirty="0">
                <a:latin typeface="Georgia" panose="02040502050405020303" pitchFamily="18" charset="0"/>
              </a:endParaRPr>
            </a:p>
          </p:txBody>
        </p:sp>
        <p:grpSp>
          <p:nvGrpSpPr>
            <p:cNvPr id="48" name="Gruppo 47">
              <a:extLst>
                <a:ext uri="{FF2B5EF4-FFF2-40B4-BE49-F238E27FC236}">
                  <a16:creationId xmlns:a16="http://schemas.microsoft.com/office/drawing/2014/main" id="{595EE218-BE47-CF2F-83B1-CFD885B4A482}"/>
                </a:ext>
              </a:extLst>
            </p:cNvPr>
            <p:cNvGrpSpPr/>
            <p:nvPr/>
          </p:nvGrpSpPr>
          <p:grpSpPr>
            <a:xfrm>
              <a:off x="265385" y="1310221"/>
              <a:ext cx="4499764" cy="1035066"/>
              <a:chOff x="7634679" y="1286349"/>
              <a:chExt cx="4499764" cy="1035066"/>
            </a:xfrm>
          </p:grpSpPr>
          <p:cxnSp>
            <p:nvCxnSpPr>
              <p:cNvPr id="63" name="Connettore diritto 62">
                <a:extLst>
                  <a:ext uri="{FF2B5EF4-FFF2-40B4-BE49-F238E27FC236}">
                    <a16:creationId xmlns:a16="http://schemas.microsoft.com/office/drawing/2014/main" id="{AA9EAFB7-0BBB-C9B6-85DA-42B9E3474EA9}"/>
                  </a:ext>
                </a:extLst>
              </p:cNvPr>
              <p:cNvCxnSpPr>
                <a:cxnSpLocks/>
                <a:stCxn id="57" idx="3"/>
              </p:cNvCxnSpPr>
              <p:nvPr/>
            </p:nvCxnSpPr>
            <p:spPr>
              <a:xfrm>
                <a:off x="8368104" y="1487153"/>
                <a:ext cx="470304" cy="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57" name="CasellaDiTesto 56">
                <a:extLst>
                  <a:ext uri="{FF2B5EF4-FFF2-40B4-BE49-F238E27FC236}">
                    <a16:creationId xmlns:a16="http://schemas.microsoft.com/office/drawing/2014/main" id="{F9AF884A-88F8-D689-0BD5-448D04650458}"/>
                  </a:ext>
                </a:extLst>
              </p:cNvPr>
              <p:cNvSpPr txBox="1"/>
              <p:nvPr/>
            </p:nvSpPr>
            <p:spPr>
              <a:xfrm>
                <a:off x="7634679" y="1286349"/>
                <a:ext cx="733425" cy="401607"/>
              </a:xfrm>
              <a:prstGeom prst="rect">
                <a:avLst/>
              </a:prstGeom>
              <a:noFill/>
              <a:ln w="28575">
                <a:solidFill>
                  <a:srgbClr val="00B05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/>
                <a:r>
                  <a:rPr lang="it-IT" dirty="0"/>
                  <a:t>Data</a:t>
                </a:r>
              </a:p>
            </p:txBody>
          </p:sp>
          <p:sp>
            <p:nvSpPr>
              <p:cNvPr id="65" name="CasellaDiTesto 64">
                <a:extLst>
                  <a:ext uri="{FF2B5EF4-FFF2-40B4-BE49-F238E27FC236}">
                    <a16:creationId xmlns:a16="http://schemas.microsoft.com/office/drawing/2014/main" id="{C8F6A963-CCA2-0DDA-F820-DFD2A30FA390}"/>
                  </a:ext>
                </a:extLst>
              </p:cNvPr>
              <p:cNvSpPr txBox="1"/>
              <p:nvPr/>
            </p:nvSpPr>
            <p:spPr>
              <a:xfrm>
                <a:off x="8884935" y="1287591"/>
                <a:ext cx="1386174" cy="401606"/>
              </a:xfrm>
              <a:prstGeom prst="rect">
                <a:avLst/>
              </a:prstGeom>
              <a:noFill/>
              <a:ln w="28575">
                <a:solidFill>
                  <a:srgbClr val="00B05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anchor="ctr">
                <a:spAutoFit/>
              </a:bodyPr>
              <a:lstStyle/>
              <a:p>
                <a:pPr algn="ctr"/>
                <a:r>
                  <a:rPr lang="it-IT" dirty="0" err="1"/>
                  <a:t>Predctions</a:t>
                </a:r>
                <a:endParaRPr lang="it-IT" sz="300" dirty="0"/>
              </a:p>
            </p:txBody>
          </p:sp>
          <p:cxnSp>
            <p:nvCxnSpPr>
              <p:cNvPr id="64" name="Connettore a gomito 63">
                <a:extLst>
                  <a:ext uri="{FF2B5EF4-FFF2-40B4-BE49-F238E27FC236}">
                    <a16:creationId xmlns:a16="http://schemas.microsoft.com/office/drawing/2014/main" id="{290A9F94-ECCA-860C-0A9C-CA94E5612A82}"/>
                  </a:ext>
                </a:extLst>
              </p:cNvPr>
              <p:cNvCxnSpPr>
                <a:cxnSpLocks/>
                <a:stCxn id="58" idx="0"/>
                <a:endCxn id="65" idx="1"/>
              </p:cNvCxnSpPr>
              <p:nvPr/>
            </p:nvCxnSpPr>
            <p:spPr>
              <a:xfrm rot="16200000" flipV="1">
                <a:off x="8671409" y="1701922"/>
                <a:ext cx="431415" cy="4361"/>
              </a:xfrm>
              <a:prstGeom prst="bentConnector4">
                <a:avLst>
                  <a:gd name="adj1" fmla="val 26727"/>
                  <a:gd name="adj2" fmla="val 7158574"/>
                </a:avLst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58" name="CasellaDiTesto 57">
                <a:extLst>
                  <a:ext uri="{FF2B5EF4-FFF2-40B4-BE49-F238E27FC236}">
                    <a16:creationId xmlns:a16="http://schemas.microsoft.com/office/drawing/2014/main" id="{2476D4A3-6F16-2F5A-50AE-C5F372975D21}"/>
                  </a:ext>
                </a:extLst>
              </p:cNvPr>
              <p:cNvSpPr txBox="1"/>
              <p:nvPr/>
            </p:nvSpPr>
            <p:spPr>
              <a:xfrm>
                <a:off x="8334164" y="1919809"/>
                <a:ext cx="1110265" cy="401606"/>
              </a:xfrm>
              <a:prstGeom prst="rect">
                <a:avLst/>
              </a:prstGeom>
              <a:noFill/>
              <a:ln w="28575">
                <a:solidFill>
                  <a:srgbClr val="00B05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anchor="ctr">
                <a:spAutoFit/>
              </a:bodyPr>
              <a:lstStyle/>
              <a:p>
                <a:pPr algn="ctr"/>
                <a:r>
                  <a:rPr lang="it-IT" dirty="0"/>
                  <a:t>Model</a:t>
                </a:r>
                <a:endParaRPr lang="it-IT" sz="300" dirty="0"/>
              </a:p>
            </p:txBody>
          </p:sp>
          <p:cxnSp>
            <p:nvCxnSpPr>
              <p:cNvPr id="62" name="Connettore 2 61">
                <a:extLst>
                  <a:ext uri="{FF2B5EF4-FFF2-40B4-BE49-F238E27FC236}">
                    <a16:creationId xmlns:a16="http://schemas.microsoft.com/office/drawing/2014/main" id="{E97C7130-3397-008C-41AA-C34D3410F773}"/>
                  </a:ext>
                </a:extLst>
              </p:cNvPr>
              <p:cNvCxnSpPr>
                <a:cxnSpLocks/>
                <a:stCxn id="60" idx="1"/>
                <a:endCxn id="58" idx="3"/>
              </p:cNvCxnSpPr>
              <p:nvPr/>
            </p:nvCxnSpPr>
            <p:spPr>
              <a:xfrm flipH="1">
                <a:off x="9444429" y="2120436"/>
                <a:ext cx="652233" cy="17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60" name="CasellaDiTesto 59">
                <a:extLst>
                  <a:ext uri="{FF2B5EF4-FFF2-40B4-BE49-F238E27FC236}">
                    <a16:creationId xmlns:a16="http://schemas.microsoft.com/office/drawing/2014/main" id="{500DA8AB-ACB6-B0FE-7EFB-70DAD0A94F70}"/>
                  </a:ext>
                </a:extLst>
              </p:cNvPr>
              <p:cNvSpPr txBox="1"/>
              <p:nvPr/>
            </p:nvSpPr>
            <p:spPr>
              <a:xfrm>
                <a:off x="10096662" y="1919632"/>
                <a:ext cx="2037781" cy="401606"/>
              </a:xfrm>
              <a:prstGeom prst="rect">
                <a:avLst/>
              </a:prstGeom>
              <a:noFill/>
              <a:ln w="28575">
                <a:solidFill>
                  <a:srgbClr val="00B05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anchor="ctr">
                <a:spAutoFit/>
              </a:bodyPr>
              <a:lstStyle/>
              <a:p>
                <a:pPr algn="ctr"/>
                <a:r>
                  <a:rPr lang="it-IT" dirty="0"/>
                  <a:t>Weight update</a:t>
                </a:r>
                <a:endParaRPr lang="it-IT" sz="300" dirty="0"/>
              </a:p>
            </p:txBody>
          </p:sp>
          <p:cxnSp>
            <p:nvCxnSpPr>
              <p:cNvPr id="61" name="Connettore 2 60">
                <a:extLst>
                  <a:ext uri="{FF2B5EF4-FFF2-40B4-BE49-F238E27FC236}">
                    <a16:creationId xmlns:a16="http://schemas.microsoft.com/office/drawing/2014/main" id="{383354E9-4F99-DB84-658D-F2F7C93F3D42}"/>
                  </a:ext>
                </a:extLst>
              </p:cNvPr>
              <p:cNvCxnSpPr>
                <a:cxnSpLocks/>
                <a:stCxn id="59" idx="2"/>
                <a:endCxn id="60" idx="0"/>
              </p:cNvCxnSpPr>
              <p:nvPr/>
            </p:nvCxnSpPr>
            <p:spPr>
              <a:xfrm>
                <a:off x="11110247" y="1676396"/>
                <a:ext cx="5305" cy="24323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59" name="CasellaDiTesto 58">
                <a:extLst>
                  <a:ext uri="{FF2B5EF4-FFF2-40B4-BE49-F238E27FC236}">
                    <a16:creationId xmlns:a16="http://schemas.microsoft.com/office/drawing/2014/main" id="{8BFCCE2B-4D0E-10BE-481F-2D76DAFC419D}"/>
                  </a:ext>
                </a:extLst>
              </p:cNvPr>
              <p:cNvSpPr txBox="1"/>
              <p:nvPr/>
            </p:nvSpPr>
            <p:spPr>
              <a:xfrm>
                <a:off x="10555115" y="1307064"/>
                <a:ext cx="1110265" cy="369332"/>
              </a:xfrm>
              <a:prstGeom prst="rect">
                <a:avLst/>
              </a:prstGeom>
              <a:noFill/>
              <a:ln w="28575">
                <a:solidFill>
                  <a:srgbClr val="00B05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anchor="ctr">
                <a:spAutoFit/>
              </a:bodyPr>
              <a:lstStyle/>
              <a:p>
                <a:pPr algn="ctr"/>
                <a:r>
                  <a:rPr lang="it-IT" dirty="0"/>
                  <a:t>Loss</a:t>
                </a:r>
                <a:endParaRPr lang="it-IT" sz="300" dirty="0"/>
              </a:p>
            </p:txBody>
          </p:sp>
          <p:cxnSp>
            <p:nvCxnSpPr>
              <p:cNvPr id="66" name="Connettore 2 65">
                <a:extLst>
                  <a:ext uri="{FF2B5EF4-FFF2-40B4-BE49-F238E27FC236}">
                    <a16:creationId xmlns:a16="http://schemas.microsoft.com/office/drawing/2014/main" id="{F5026356-495E-D3DC-E52A-80BFD929819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288953" y="1491730"/>
                <a:ext cx="251667" cy="192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49" name="Gruppo 48">
              <a:extLst>
                <a:ext uri="{FF2B5EF4-FFF2-40B4-BE49-F238E27FC236}">
                  <a16:creationId xmlns:a16="http://schemas.microsoft.com/office/drawing/2014/main" id="{6FA0CFBF-91EF-0254-9D0E-434224304009}"/>
                </a:ext>
              </a:extLst>
            </p:cNvPr>
            <p:cNvGrpSpPr/>
            <p:nvPr/>
          </p:nvGrpSpPr>
          <p:grpSpPr>
            <a:xfrm>
              <a:off x="998809" y="2743393"/>
              <a:ext cx="2910402" cy="1523494"/>
              <a:chOff x="7896635" y="2414817"/>
              <a:chExt cx="2910402" cy="1523494"/>
            </a:xfrm>
          </p:grpSpPr>
          <p:pic>
            <p:nvPicPr>
              <p:cNvPr id="55" name="Immagine 54">
                <a:extLst>
                  <a:ext uri="{FF2B5EF4-FFF2-40B4-BE49-F238E27FC236}">
                    <a16:creationId xmlns:a16="http://schemas.microsoft.com/office/drawing/2014/main" id="{1559AD73-F733-8B6D-A62D-0086750EEDA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010758" y="2768009"/>
                <a:ext cx="2796279" cy="1054884"/>
              </a:xfrm>
              <a:prstGeom prst="rect">
                <a:avLst/>
              </a:prstGeom>
            </p:spPr>
          </p:pic>
          <p:sp>
            <p:nvSpPr>
              <p:cNvPr id="56" name="CasellaDiTesto 55">
                <a:extLst>
                  <a:ext uri="{FF2B5EF4-FFF2-40B4-BE49-F238E27FC236}">
                    <a16:creationId xmlns:a16="http://schemas.microsoft.com/office/drawing/2014/main" id="{F5B11C6A-B51A-47C5-614F-C0331F22C091}"/>
                  </a:ext>
                </a:extLst>
              </p:cNvPr>
              <p:cNvSpPr txBox="1"/>
              <p:nvPr/>
            </p:nvSpPr>
            <p:spPr>
              <a:xfrm>
                <a:off x="7896635" y="2414817"/>
                <a:ext cx="2910401" cy="1523494"/>
              </a:xfrm>
              <a:prstGeom prst="rect">
                <a:avLst/>
              </a:prstGeom>
              <a:noFill/>
              <a:ln w="28575">
                <a:solidFill>
                  <a:srgbClr val="00B05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anchor="ctr">
                <a:spAutoFit/>
              </a:bodyPr>
              <a:lstStyle/>
              <a:p>
                <a:pPr algn="ctr"/>
                <a:r>
                  <a:rPr lang="it-IT" dirty="0"/>
                  <a:t>Model</a:t>
                </a:r>
              </a:p>
              <a:p>
                <a:pPr algn="ctr"/>
                <a:endParaRPr lang="it-IT" sz="300" dirty="0"/>
              </a:p>
              <a:p>
                <a:pPr algn="ctr"/>
                <a:endParaRPr lang="it-IT" sz="300" dirty="0"/>
              </a:p>
              <a:p>
                <a:pPr algn="ctr"/>
                <a:endParaRPr lang="it-IT" sz="300" dirty="0"/>
              </a:p>
              <a:p>
                <a:pPr algn="ctr"/>
                <a:endParaRPr lang="it-IT" sz="300" dirty="0"/>
              </a:p>
              <a:p>
                <a:pPr algn="ctr"/>
                <a:endParaRPr lang="it-IT" sz="300" dirty="0"/>
              </a:p>
              <a:p>
                <a:pPr algn="ctr"/>
                <a:endParaRPr lang="it-IT" sz="300" dirty="0"/>
              </a:p>
              <a:p>
                <a:pPr algn="ctr"/>
                <a:endParaRPr lang="it-IT" sz="300" dirty="0"/>
              </a:p>
              <a:p>
                <a:pPr algn="ctr"/>
                <a:endParaRPr lang="it-IT" sz="300" dirty="0"/>
              </a:p>
              <a:p>
                <a:pPr algn="ctr"/>
                <a:endParaRPr lang="it-IT" sz="300" dirty="0"/>
              </a:p>
              <a:p>
                <a:pPr algn="ctr"/>
                <a:endParaRPr lang="it-IT" sz="300" dirty="0"/>
              </a:p>
              <a:p>
                <a:pPr algn="ctr"/>
                <a:endParaRPr lang="it-IT" sz="300" dirty="0"/>
              </a:p>
              <a:p>
                <a:pPr algn="ctr"/>
                <a:endParaRPr lang="it-IT" sz="300" dirty="0"/>
              </a:p>
              <a:p>
                <a:pPr algn="ctr"/>
                <a:endParaRPr lang="it-IT" sz="300" dirty="0"/>
              </a:p>
              <a:p>
                <a:pPr algn="ctr"/>
                <a:endParaRPr lang="it-IT" sz="300" dirty="0"/>
              </a:p>
              <a:p>
                <a:pPr algn="ctr"/>
                <a:endParaRPr lang="it-IT" sz="300" dirty="0"/>
              </a:p>
              <a:p>
                <a:pPr algn="ctr"/>
                <a:endParaRPr lang="it-IT" sz="300" dirty="0"/>
              </a:p>
              <a:p>
                <a:pPr algn="ctr"/>
                <a:endParaRPr lang="it-IT" sz="300" dirty="0"/>
              </a:p>
              <a:p>
                <a:pPr algn="ctr"/>
                <a:endParaRPr lang="it-IT" sz="300" dirty="0"/>
              </a:p>
              <a:p>
                <a:pPr algn="ctr"/>
                <a:endParaRPr lang="it-IT" sz="300" dirty="0"/>
              </a:p>
              <a:p>
                <a:pPr algn="ctr"/>
                <a:endParaRPr lang="it-IT" sz="300" dirty="0"/>
              </a:p>
              <a:p>
                <a:pPr algn="ctr"/>
                <a:endParaRPr lang="it-IT" sz="300" dirty="0"/>
              </a:p>
              <a:p>
                <a:pPr algn="ctr"/>
                <a:endParaRPr lang="it-IT" sz="300" dirty="0"/>
              </a:p>
              <a:p>
                <a:pPr algn="ctr"/>
                <a:endParaRPr lang="it-IT" sz="300" dirty="0"/>
              </a:p>
              <a:p>
                <a:pPr algn="ctr"/>
                <a:endParaRPr lang="it-IT" sz="300" dirty="0"/>
              </a:p>
              <a:p>
                <a:pPr algn="ctr"/>
                <a:endParaRPr lang="it-IT" sz="300" dirty="0"/>
              </a:p>
            </p:txBody>
          </p:sp>
        </p:grpSp>
        <p:sp>
          <p:nvSpPr>
            <p:cNvPr id="50" name="CasellaDiTesto 49">
              <a:extLst>
                <a:ext uri="{FF2B5EF4-FFF2-40B4-BE49-F238E27FC236}">
                  <a16:creationId xmlns:a16="http://schemas.microsoft.com/office/drawing/2014/main" id="{F6EAA02B-8976-5F39-ADAE-9CD97B503B94}"/>
                </a:ext>
              </a:extLst>
            </p:cNvPr>
            <p:cNvSpPr txBox="1"/>
            <p:nvPr/>
          </p:nvSpPr>
          <p:spPr>
            <a:xfrm>
              <a:off x="998810" y="4585024"/>
              <a:ext cx="2910400" cy="903615"/>
            </a:xfrm>
            <a:prstGeom prst="rect">
              <a:avLst/>
            </a:prstGeom>
            <a:noFill/>
            <a:ln w="28575">
              <a:solidFill>
                <a:srgbClr val="00B05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anchor="ctr">
              <a:spAutoFit/>
            </a:bodyPr>
            <a:lstStyle/>
            <a:p>
              <a:pPr algn="ctr"/>
              <a:r>
                <a:rPr lang="it-IT" dirty="0">
                  <a:solidFill>
                    <a:schemeClr val="tx1"/>
                  </a:solidFill>
                </a:rPr>
                <a:t>Loss</a:t>
              </a:r>
              <a:endParaRPr lang="it-IT" sz="300" dirty="0">
                <a:solidFill>
                  <a:schemeClr val="tx1"/>
                </a:solidFill>
              </a:endParaRPr>
            </a:p>
            <a:p>
              <a:pPr algn="ctr"/>
              <a:r>
                <a:rPr lang="it-IT" dirty="0">
                  <a:solidFill>
                    <a:schemeClr val="tx1"/>
                  </a:solidFill>
                </a:rPr>
                <a:t>(</a:t>
              </a:r>
              <a:r>
                <a:rPr lang="it-IT" dirty="0" err="1">
                  <a:solidFill>
                    <a:schemeClr val="tx1"/>
                  </a:solidFill>
                </a:rPr>
                <a:t>Binary</a:t>
              </a:r>
              <a:r>
                <a:rPr lang="it-IT" dirty="0">
                  <a:solidFill>
                    <a:schemeClr val="tx1"/>
                  </a:solidFill>
                </a:rPr>
                <a:t>) </a:t>
              </a:r>
              <a:r>
                <a:rPr lang="it-IT" b="1" dirty="0">
                  <a:solidFill>
                    <a:schemeClr val="tx1"/>
                  </a:solidFill>
                </a:rPr>
                <a:t>Cross </a:t>
              </a:r>
              <a:r>
                <a:rPr lang="it-IT" b="1" dirty="0" err="1">
                  <a:solidFill>
                    <a:schemeClr val="tx1"/>
                  </a:solidFill>
                </a:rPr>
                <a:t>Entropy</a:t>
              </a:r>
              <a:endParaRPr lang="it-IT" sz="300" dirty="0">
                <a:solidFill>
                  <a:schemeClr val="tx1"/>
                </a:solidFill>
              </a:endParaRPr>
            </a:p>
            <a:p>
              <a:pPr algn="ctr"/>
              <a:endParaRPr lang="it-IT" sz="300" dirty="0">
                <a:solidFill>
                  <a:schemeClr val="tx1"/>
                </a:solidFill>
              </a:endParaRPr>
            </a:p>
            <a:p>
              <a:pPr algn="ctr"/>
              <a:endParaRPr lang="it-IT" sz="300" dirty="0">
                <a:solidFill>
                  <a:schemeClr val="tx1"/>
                </a:solidFill>
              </a:endParaRPr>
            </a:p>
            <a:p>
              <a:pPr algn="ctr"/>
              <a:endParaRPr lang="it-IT" sz="300" dirty="0">
                <a:solidFill>
                  <a:schemeClr val="tx1"/>
                </a:solidFill>
              </a:endParaRPr>
            </a:p>
            <a:p>
              <a:pPr algn="ctr"/>
              <a:endParaRPr lang="it-IT" sz="300" dirty="0">
                <a:solidFill>
                  <a:schemeClr val="tx1"/>
                </a:solidFill>
              </a:endParaRPr>
            </a:p>
          </p:txBody>
        </p:sp>
        <p:sp>
          <p:nvSpPr>
            <p:cNvPr id="51" name="CasellaDiTesto 50">
              <a:extLst>
                <a:ext uri="{FF2B5EF4-FFF2-40B4-BE49-F238E27FC236}">
                  <a16:creationId xmlns:a16="http://schemas.microsoft.com/office/drawing/2014/main" id="{0C135384-0327-4CB6-D286-695F1D4C9529}"/>
                </a:ext>
              </a:extLst>
            </p:cNvPr>
            <p:cNvSpPr txBox="1"/>
            <p:nvPr/>
          </p:nvSpPr>
          <p:spPr>
            <a:xfrm>
              <a:off x="1020254" y="5889523"/>
              <a:ext cx="2910399" cy="803213"/>
            </a:xfrm>
            <a:prstGeom prst="rect">
              <a:avLst/>
            </a:prstGeom>
            <a:noFill/>
            <a:ln w="28575">
              <a:solidFill>
                <a:srgbClr val="00B05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anchor="ctr">
              <a:spAutoFit/>
            </a:bodyPr>
            <a:lstStyle/>
            <a:p>
              <a:pPr algn="ctr"/>
              <a:r>
                <a:rPr lang="it-IT" dirty="0"/>
                <a:t>Weights update</a:t>
              </a:r>
              <a:endParaRPr lang="it-IT" sz="800" dirty="0">
                <a:solidFill>
                  <a:schemeClr val="tx1"/>
                </a:solidFill>
              </a:endParaRPr>
            </a:p>
            <a:p>
              <a:pPr algn="ctr"/>
              <a:r>
                <a:rPr lang="it-IT" b="1" dirty="0" err="1"/>
                <a:t>Gradient</a:t>
              </a:r>
              <a:r>
                <a:rPr lang="it-IT" b="1" dirty="0"/>
                <a:t> </a:t>
              </a:r>
              <a:r>
                <a:rPr lang="it-IT" b="1" dirty="0" err="1"/>
                <a:t>descent</a:t>
              </a:r>
              <a:endParaRPr lang="it-IT" sz="300" dirty="0"/>
            </a:p>
            <a:p>
              <a:pPr algn="ctr"/>
              <a:endParaRPr lang="it-IT" sz="300" dirty="0"/>
            </a:p>
            <a:p>
              <a:pPr algn="ctr"/>
              <a:endParaRPr lang="it-IT" sz="300" dirty="0"/>
            </a:p>
          </p:txBody>
        </p:sp>
        <p:sp>
          <p:nvSpPr>
            <p:cNvPr id="52" name="Connettore 51">
              <a:extLst>
                <a:ext uri="{FF2B5EF4-FFF2-40B4-BE49-F238E27FC236}">
                  <a16:creationId xmlns:a16="http://schemas.microsoft.com/office/drawing/2014/main" id="{F62C3643-7E5A-BA30-45D3-4C3CD8B3B971}"/>
                </a:ext>
              </a:extLst>
            </p:cNvPr>
            <p:cNvSpPr/>
            <p:nvPr/>
          </p:nvSpPr>
          <p:spPr>
            <a:xfrm>
              <a:off x="308097" y="3415139"/>
              <a:ext cx="180000" cy="180000"/>
            </a:xfrm>
            <a:prstGeom prst="flowChartConnector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53" name="Connettore 52">
              <a:extLst>
                <a:ext uri="{FF2B5EF4-FFF2-40B4-BE49-F238E27FC236}">
                  <a16:creationId xmlns:a16="http://schemas.microsoft.com/office/drawing/2014/main" id="{2943C7D2-FDA6-664A-E365-0F0149D16B11}"/>
                </a:ext>
              </a:extLst>
            </p:cNvPr>
            <p:cNvSpPr/>
            <p:nvPr/>
          </p:nvSpPr>
          <p:spPr>
            <a:xfrm>
              <a:off x="308097" y="4946832"/>
              <a:ext cx="180000" cy="180000"/>
            </a:xfrm>
            <a:prstGeom prst="flowChartConnector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54" name="Connettore 53">
              <a:extLst>
                <a:ext uri="{FF2B5EF4-FFF2-40B4-BE49-F238E27FC236}">
                  <a16:creationId xmlns:a16="http://schemas.microsoft.com/office/drawing/2014/main" id="{C4F76603-0B3B-081F-BD5C-C317C2AF0C28}"/>
                </a:ext>
              </a:extLst>
            </p:cNvPr>
            <p:cNvSpPr/>
            <p:nvPr/>
          </p:nvSpPr>
          <p:spPr>
            <a:xfrm>
              <a:off x="308097" y="6135217"/>
              <a:ext cx="180000" cy="180000"/>
            </a:xfrm>
            <a:prstGeom prst="flowChartConnector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cxnSp>
        <p:nvCxnSpPr>
          <p:cNvPr id="21" name="Connettore 2 20">
            <a:extLst>
              <a:ext uri="{FF2B5EF4-FFF2-40B4-BE49-F238E27FC236}">
                <a16:creationId xmlns:a16="http://schemas.microsoft.com/office/drawing/2014/main" id="{62DED563-755D-B8B6-8845-2D5DA47BE189}"/>
              </a:ext>
            </a:extLst>
          </p:cNvPr>
          <p:cNvCxnSpPr>
            <a:cxnSpLocks/>
          </p:cNvCxnSpPr>
          <p:nvPr/>
        </p:nvCxnSpPr>
        <p:spPr>
          <a:xfrm flipH="1">
            <a:off x="4453276" y="3400184"/>
            <a:ext cx="1642724" cy="0"/>
          </a:xfrm>
          <a:prstGeom prst="straightConnector1">
            <a:avLst/>
          </a:prstGeom>
          <a:ln w="28575">
            <a:solidFill>
              <a:srgbClr val="9933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Parentesi quadra aperta 26">
            <a:extLst>
              <a:ext uri="{FF2B5EF4-FFF2-40B4-BE49-F238E27FC236}">
                <a16:creationId xmlns:a16="http://schemas.microsoft.com/office/drawing/2014/main" id="{1692D5B8-4480-AE6F-2F07-07A1E7CE4355}"/>
              </a:ext>
            </a:extLst>
          </p:cNvPr>
          <p:cNvSpPr/>
          <p:nvPr/>
        </p:nvSpPr>
        <p:spPr>
          <a:xfrm>
            <a:off x="6117012" y="227157"/>
            <a:ext cx="712246" cy="6403688"/>
          </a:xfrm>
          <a:prstGeom prst="leftBracket">
            <a:avLst>
              <a:gd name="adj" fmla="val 75766"/>
            </a:avLst>
          </a:prstGeom>
          <a:ln w="28575">
            <a:solidFill>
              <a:srgbClr val="9933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9DAFEADF-2841-D414-279C-1E60F2A55F3C}"/>
              </a:ext>
            </a:extLst>
          </p:cNvPr>
          <p:cNvSpPr txBox="1"/>
          <p:nvPr/>
        </p:nvSpPr>
        <p:spPr>
          <a:xfrm>
            <a:off x="6698861" y="227156"/>
            <a:ext cx="57182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2000" b="1" dirty="0" err="1">
                <a:latin typeface="Georgia" panose="02040502050405020303" pitchFamily="18" charset="0"/>
              </a:rPr>
              <a:t>Neural</a:t>
            </a:r>
            <a:r>
              <a:rPr lang="it-IT" sz="2000" b="1" dirty="0">
                <a:latin typeface="Georgia" panose="02040502050405020303" pitchFamily="18" charset="0"/>
              </a:rPr>
              <a:t> Network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7C09C8DD-9414-1EB2-2A10-C6F657DA7A47}"/>
              </a:ext>
            </a:extLst>
          </p:cNvPr>
          <p:cNvSpPr txBox="1"/>
          <p:nvPr/>
        </p:nvSpPr>
        <p:spPr>
          <a:xfrm>
            <a:off x="6904918" y="757987"/>
            <a:ext cx="513978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dirty="0"/>
              <a:t>Building Block: </a:t>
            </a:r>
            <a:r>
              <a:rPr lang="it-IT" sz="2000" dirty="0" err="1"/>
              <a:t>Artificial</a:t>
            </a:r>
            <a:r>
              <a:rPr lang="it-IT" sz="2000" dirty="0"/>
              <a:t> </a:t>
            </a:r>
            <a:r>
              <a:rPr lang="it-IT" sz="2000" dirty="0" err="1"/>
              <a:t>neuron</a:t>
            </a:r>
            <a:endParaRPr lang="it-IT" sz="2000" dirty="0"/>
          </a:p>
          <a:p>
            <a:r>
              <a:rPr lang="it-IT" sz="2000" dirty="0"/>
              <a:t> </a:t>
            </a:r>
            <a:endParaRPr lang="it-IT" dirty="0"/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2CAADD41-94DB-6677-2E4A-8C70B0923E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0743" y="4656912"/>
            <a:ext cx="4063992" cy="1533123"/>
          </a:xfrm>
          <a:prstGeom prst="rect">
            <a:avLst/>
          </a:prstGeom>
        </p:spPr>
      </p:pic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E9E2F80E-0605-DCF5-A387-F5E99624501B}"/>
              </a:ext>
            </a:extLst>
          </p:cNvPr>
          <p:cNvSpPr txBox="1"/>
          <p:nvPr/>
        </p:nvSpPr>
        <p:spPr>
          <a:xfrm>
            <a:off x="7206933" y="3959162"/>
            <a:ext cx="42471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b="1" dirty="0"/>
              <a:t> Deep Network</a:t>
            </a:r>
            <a:endParaRPr lang="it-IT" b="1" dirty="0"/>
          </a:p>
        </p:txBody>
      </p:sp>
      <p:cxnSp>
        <p:nvCxnSpPr>
          <p:cNvPr id="15" name="Connettore 2 14">
            <a:extLst>
              <a:ext uri="{FF2B5EF4-FFF2-40B4-BE49-F238E27FC236}">
                <a16:creationId xmlns:a16="http://schemas.microsoft.com/office/drawing/2014/main" id="{AC0DB807-3F28-6CEB-621D-EEAF9F81D38F}"/>
              </a:ext>
            </a:extLst>
          </p:cNvPr>
          <p:cNvCxnSpPr>
            <a:cxnSpLocks/>
          </p:cNvCxnSpPr>
          <p:nvPr/>
        </p:nvCxnSpPr>
        <p:spPr>
          <a:xfrm>
            <a:off x="6821792" y="6270529"/>
            <a:ext cx="4560455" cy="0"/>
          </a:xfrm>
          <a:prstGeom prst="straightConnector1">
            <a:avLst/>
          </a:prstGeom>
          <a:ln w="57150">
            <a:solidFill>
              <a:srgbClr val="1F429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9AA56A43-EE66-2A17-7459-05D7C9CC24FE}"/>
              </a:ext>
            </a:extLst>
          </p:cNvPr>
          <p:cNvSpPr txBox="1"/>
          <p:nvPr/>
        </p:nvSpPr>
        <p:spPr>
          <a:xfrm>
            <a:off x="6795149" y="4383273"/>
            <a:ext cx="922729" cy="369332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it-IT" b="1" dirty="0">
                <a:latin typeface="Georgia" panose="02040502050405020303" pitchFamily="18" charset="0"/>
              </a:rPr>
              <a:t>Input</a:t>
            </a: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62B8B0E6-7692-2C98-2223-DB7461F795FE}"/>
              </a:ext>
            </a:extLst>
          </p:cNvPr>
          <p:cNvSpPr txBox="1"/>
          <p:nvPr/>
        </p:nvSpPr>
        <p:spPr>
          <a:xfrm>
            <a:off x="10685080" y="4576418"/>
            <a:ext cx="1070026" cy="369332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it-IT" b="1" dirty="0">
                <a:latin typeface="Georgia" panose="02040502050405020303" pitchFamily="18" charset="0"/>
              </a:rPr>
              <a:t>Output</a:t>
            </a:r>
          </a:p>
        </p:txBody>
      </p: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6DD65807-371F-F10F-0014-6FD0CB178532}"/>
              </a:ext>
            </a:extLst>
          </p:cNvPr>
          <p:cNvSpPr txBox="1"/>
          <p:nvPr/>
        </p:nvSpPr>
        <p:spPr>
          <a:xfrm>
            <a:off x="8065385" y="6378404"/>
            <a:ext cx="2061779" cy="369332"/>
          </a:xfrm>
          <a:prstGeom prst="rect">
            <a:avLst/>
          </a:prstGeom>
          <a:noFill/>
          <a:ln w="38100">
            <a:solidFill>
              <a:srgbClr val="9933F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it-IT" b="1" dirty="0">
                <a:latin typeface="Georgia" panose="02040502050405020303" pitchFamily="18" charset="0"/>
              </a:rPr>
              <a:t>Feed Forward</a:t>
            </a:r>
          </a:p>
        </p:txBody>
      </p:sp>
      <p:sp>
        <p:nvSpPr>
          <p:cNvPr id="69" name="Ovale 68">
            <a:extLst>
              <a:ext uri="{FF2B5EF4-FFF2-40B4-BE49-F238E27FC236}">
                <a16:creationId xmlns:a16="http://schemas.microsoft.com/office/drawing/2014/main" id="{50AF59E0-248E-F51D-9C8D-BA0C78664E7E}"/>
              </a:ext>
            </a:extLst>
          </p:cNvPr>
          <p:cNvSpPr/>
          <p:nvPr/>
        </p:nvSpPr>
        <p:spPr>
          <a:xfrm>
            <a:off x="7354168" y="4867275"/>
            <a:ext cx="281072" cy="29111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1" name="Ovale 80">
            <a:extLst>
              <a:ext uri="{FF2B5EF4-FFF2-40B4-BE49-F238E27FC236}">
                <a16:creationId xmlns:a16="http://schemas.microsoft.com/office/drawing/2014/main" id="{9EADBF65-C66E-3A1B-E5A8-D65AF6E10797}"/>
              </a:ext>
            </a:extLst>
          </p:cNvPr>
          <p:cNvSpPr/>
          <p:nvPr/>
        </p:nvSpPr>
        <p:spPr>
          <a:xfrm>
            <a:off x="7352263" y="5262451"/>
            <a:ext cx="281072" cy="29111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3" name="Ovale 82">
            <a:extLst>
              <a:ext uri="{FF2B5EF4-FFF2-40B4-BE49-F238E27FC236}">
                <a16:creationId xmlns:a16="http://schemas.microsoft.com/office/drawing/2014/main" id="{26DC46F5-362F-DA91-917C-74268DE4848D}"/>
              </a:ext>
            </a:extLst>
          </p:cNvPr>
          <p:cNvSpPr/>
          <p:nvPr/>
        </p:nvSpPr>
        <p:spPr>
          <a:xfrm>
            <a:off x="7350358" y="5629701"/>
            <a:ext cx="281072" cy="29111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4" name="Ovale 83">
            <a:extLst>
              <a:ext uri="{FF2B5EF4-FFF2-40B4-BE49-F238E27FC236}">
                <a16:creationId xmlns:a16="http://schemas.microsoft.com/office/drawing/2014/main" id="{A7A35DC6-528F-90DE-802D-B3D1E6891E41}"/>
              </a:ext>
            </a:extLst>
          </p:cNvPr>
          <p:cNvSpPr/>
          <p:nvPr/>
        </p:nvSpPr>
        <p:spPr>
          <a:xfrm>
            <a:off x="8754469" y="4865371"/>
            <a:ext cx="281072" cy="29111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5" name="Ovale 84">
            <a:extLst>
              <a:ext uri="{FF2B5EF4-FFF2-40B4-BE49-F238E27FC236}">
                <a16:creationId xmlns:a16="http://schemas.microsoft.com/office/drawing/2014/main" id="{33E2BFF8-C23A-307A-7C5C-65E95C48E98D}"/>
              </a:ext>
            </a:extLst>
          </p:cNvPr>
          <p:cNvSpPr/>
          <p:nvPr/>
        </p:nvSpPr>
        <p:spPr>
          <a:xfrm>
            <a:off x="8750659" y="5264357"/>
            <a:ext cx="281072" cy="29111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6" name="Ovale 85">
            <a:extLst>
              <a:ext uri="{FF2B5EF4-FFF2-40B4-BE49-F238E27FC236}">
                <a16:creationId xmlns:a16="http://schemas.microsoft.com/office/drawing/2014/main" id="{C0B20DC2-B66C-C296-D4CB-69E1EA4CD5F7}"/>
              </a:ext>
            </a:extLst>
          </p:cNvPr>
          <p:cNvSpPr/>
          <p:nvPr/>
        </p:nvSpPr>
        <p:spPr>
          <a:xfrm>
            <a:off x="8750659" y="5622082"/>
            <a:ext cx="281072" cy="29111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7" name="Ovale 86">
            <a:extLst>
              <a:ext uri="{FF2B5EF4-FFF2-40B4-BE49-F238E27FC236}">
                <a16:creationId xmlns:a16="http://schemas.microsoft.com/office/drawing/2014/main" id="{5C66982F-27AA-62AA-9D72-2D7D39CFA8BC}"/>
              </a:ext>
            </a:extLst>
          </p:cNvPr>
          <p:cNvSpPr/>
          <p:nvPr/>
        </p:nvSpPr>
        <p:spPr>
          <a:xfrm>
            <a:off x="10155155" y="4864297"/>
            <a:ext cx="281072" cy="29111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8" name="Ovale 87">
            <a:extLst>
              <a:ext uri="{FF2B5EF4-FFF2-40B4-BE49-F238E27FC236}">
                <a16:creationId xmlns:a16="http://schemas.microsoft.com/office/drawing/2014/main" id="{9E4BAB74-716D-1B60-58BE-F4ABEF2AD94C}"/>
              </a:ext>
            </a:extLst>
          </p:cNvPr>
          <p:cNvSpPr/>
          <p:nvPr/>
        </p:nvSpPr>
        <p:spPr>
          <a:xfrm>
            <a:off x="10151345" y="5272808"/>
            <a:ext cx="281072" cy="29111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9" name="Ovale 88">
            <a:extLst>
              <a:ext uri="{FF2B5EF4-FFF2-40B4-BE49-F238E27FC236}">
                <a16:creationId xmlns:a16="http://schemas.microsoft.com/office/drawing/2014/main" id="{69342CF6-E276-AA5B-1F5D-C683AE59A23A}"/>
              </a:ext>
            </a:extLst>
          </p:cNvPr>
          <p:cNvSpPr/>
          <p:nvPr/>
        </p:nvSpPr>
        <p:spPr>
          <a:xfrm>
            <a:off x="10153250" y="5622913"/>
            <a:ext cx="281072" cy="29111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0" name="Ovale 89">
            <a:extLst>
              <a:ext uri="{FF2B5EF4-FFF2-40B4-BE49-F238E27FC236}">
                <a16:creationId xmlns:a16="http://schemas.microsoft.com/office/drawing/2014/main" id="{1C8CE22D-3E12-4FF2-94FD-B01FB3F96C00}"/>
              </a:ext>
            </a:extLst>
          </p:cNvPr>
          <p:cNvSpPr/>
          <p:nvPr/>
        </p:nvSpPr>
        <p:spPr>
          <a:xfrm>
            <a:off x="8123026" y="5074900"/>
            <a:ext cx="281072" cy="29111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1" name="Ovale 90">
            <a:extLst>
              <a:ext uri="{FF2B5EF4-FFF2-40B4-BE49-F238E27FC236}">
                <a16:creationId xmlns:a16="http://schemas.microsoft.com/office/drawing/2014/main" id="{90D27317-712F-C837-D8E0-9DA29D10C3E0}"/>
              </a:ext>
            </a:extLst>
          </p:cNvPr>
          <p:cNvSpPr/>
          <p:nvPr/>
        </p:nvSpPr>
        <p:spPr>
          <a:xfrm>
            <a:off x="8128741" y="5451026"/>
            <a:ext cx="281072" cy="29111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2" name="Ovale 91">
            <a:extLst>
              <a:ext uri="{FF2B5EF4-FFF2-40B4-BE49-F238E27FC236}">
                <a16:creationId xmlns:a16="http://schemas.microsoft.com/office/drawing/2014/main" id="{BD6E1FAD-CFF0-E906-F9AC-85EFD476BF38}"/>
              </a:ext>
            </a:extLst>
          </p:cNvPr>
          <p:cNvSpPr/>
          <p:nvPr/>
        </p:nvSpPr>
        <p:spPr>
          <a:xfrm>
            <a:off x="8124931" y="5812561"/>
            <a:ext cx="281072" cy="29111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3" name="Ovale 92">
            <a:extLst>
              <a:ext uri="{FF2B5EF4-FFF2-40B4-BE49-F238E27FC236}">
                <a16:creationId xmlns:a16="http://schemas.microsoft.com/office/drawing/2014/main" id="{815DD9E2-690B-102D-A3CF-2934E854E45F}"/>
              </a:ext>
            </a:extLst>
          </p:cNvPr>
          <p:cNvSpPr/>
          <p:nvPr/>
        </p:nvSpPr>
        <p:spPr>
          <a:xfrm>
            <a:off x="8123026" y="4695301"/>
            <a:ext cx="281072" cy="29111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4" name="Ovale 93">
            <a:extLst>
              <a:ext uri="{FF2B5EF4-FFF2-40B4-BE49-F238E27FC236}">
                <a16:creationId xmlns:a16="http://schemas.microsoft.com/office/drawing/2014/main" id="{6D012A34-2935-6B21-24C6-5502529777AD}"/>
              </a:ext>
            </a:extLst>
          </p:cNvPr>
          <p:cNvSpPr/>
          <p:nvPr/>
        </p:nvSpPr>
        <p:spPr>
          <a:xfrm>
            <a:off x="9519517" y="5073891"/>
            <a:ext cx="281072" cy="29111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5" name="Ovale 94">
            <a:extLst>
              <a:ext uri="{FF2B5EF4-FFF2-40B4-BE49-F238E27FC236}">
                <a16:creationId xmlns:a16="http://schemas.microsoft.com/office/drawing/2014/main" id="{DDCADFED-30CA-A9CF-26E9-B85C91B49B6B}"/>
              </a:ext>
            </a:extLst>
          </p:cNvPr>
          <p:cNvSpPr/>
          <p:nvPr/>
        </p:nvSpPr>
        <p:spPr>
          <a:xfrm>
            <a:off x="9525232" y="5446207"/>
            <a:ext cx="281072" cy="29111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6" name="Ovale 95">
            <a:extLst>
              <a:ext uri="{FF2B5EF4-FFF2-40B4-BE49-F238E27FC236}">
                <a16:creationId xmlns:a16="http://schemas.microsoft.com/office/drawing/2014/main" id="{6BA0BE2B-6C78-1798-E6F7-32FD17E98463}"/>
              </a:ext>
            </a:extLst>
          </p:cNvPr>
          <p:cNvSpPr/>
          <p:nvPr/>
        </p:nvSpPr>
        <p:spPr>
          <a:xfrm>
            <a:off x="9525232" y="5819172"/>
            <a:ext cx="281072" cy="29111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7" name="Ovale 96">
            <a:extLst>
              <a:ext uri="{FF2B5EF4-FFF2-40B4-BE49-F238E27FC236}">
                <a16:creationId xmlns:a16="http://schemas.microsoft.com/office/drawing/2014/main" id="{48A1445F-9C4A-439D-B5FB-E8CD580AA802}"/>
              </a:ext>
            </a:extLst>
          </p:cNvPr>
          <p:cNvSpPr/>
          <p:nvPr/>
        </p:nvSpPr>
        <p:spPr>
          <a:xfrm>
            <a:off x="9523327" y="4686672"/>
            <a:ext cx="281072" cy="29111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8" name="Ovale 97">
            <a:extLst>
              <a:ext uri="{FF2B5EF4-FFF2-40B4-BE49-F238E27FC236}">
                <a16:creationId xmlns:a16="http://schemas.microsoft.com/office/drawing/2014/main" id="{47D3B913-1D43-E171-A02E-A11EBE838D30}"/>
              </a:ext>
            </a:extLst>
          </p:cNvPr>
          <p:cNvSpPr/>
          <p:nvPr/>
        </p:nvSpPr>
        <p:spPr>
          <a:xfrm>
            <a:off x="10706248" y="5244326"/>
            <a:ext cx="281072" cy="29111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99" name="Immagine 98">
            <a:extLst>
              <a:ext uri="{FF2B5EF4-FFF2-40B4-BE49-F238E27FC236}">
                <a16:creationId xmlns:a16="http://schemas.microsoft.com/office/drawing/2014/main" id="{751E3879-BE98-9E2B-1E35-D162C7C85C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0743" y="1461238"/>
            <a:ext cx="3747367" cy="2013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3078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B0C4BC-609D-6D7C-4C73-5EF49F8D6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sellaDiTesto 7">
            <a:extLst>
              <a:ext uri="{FF2B5EF4-FFF2-40B4-BE49-F238E27FC236}">
                <a16:creationId xmlns:a16="http://schemas.microsoft.com/office/drawing/2014/main" id="{0FAE67DB-B016-8498-7E8D-68A0F1602806}"/>
              </a:ext>
            </a:extLst>
          </p:cNvPr>
          <p:cNvSpPr txBox="1"/>
          <p:nvPr/>
        </p:nvSpPr>
        <p:spPr>
          <a:xfrm rot="5400000">
            <a:off x="2980769" y="3241303"/>
            <a:ext cx="68640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dirty="0"/>
              <a:t>_______________________________________________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482E87B2-33D6-2F91-D1D3-ABC89D0405A4}"/>
              </a:ext>
            </a:extLst>
          </p:cNvPr>
          <p:cNvSpPr txBox="1"/>
          <p:nvPr/>
        </p:nvSpPr>
        <p:spPr>
          <a:xfrm>
            <a:off x="115441" y="-6065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2000" b="1" dirty="0">
                <a:latin typeface="Georgia" panose="02040502050405020303" pitchFamily="18" charset="0"/>
              </a:rPr>
              <a:t>Generative </a:t>
            </a:r>
            <a:r>
              <a:rPr lang="it-IT" sz="2000" b="1" dirty="0" err="1">
                <a:latin typeface="Georgia" panose="02040502050405020303" pitchFamily="18" charset="0"/>
              </a:rPr>
              <a:t>Problem</a:t>
            </a:r>
            <a:endParaRPr lang="it-IT" sz="2000" b="1" dirty="0">
              <a:latin typeface="Georgia" panose="02040502050405020303" pitchFamily="18" charset="0"/>
            </a:endParaRP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FC56264A-052D-3872-4BC7-78CA68F87885}"/>
              </a:ext>
            </a:extLst>
          </p:cNvPr>
          <p:cNvSpPr txBox="1"/>
          <p:nvPr/>
        </p:nvSpPr>
        <p:spPr>
          <a:xfrm>
            <a:off x="1159937" y="704889"/>
            <a:ext cx="400700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noProof="0" dirty="0"/>
              <a:t>‘</a:t>
            </a:r>
            <a:r>
              <a:rPr lang="it-IT" sz="2000" dirty="0"/>
              <a:t>Learning</a:t>
            </a:r>
            <a:r>
              <a:rPr lang="it-IT" sz="2000" noProof="0" dirty="0"/>
              <a:t>’ a </a:t>
            </a:r>
            <a:r>
              <a:rPr lang="it-IT" sz="2000" noProof="0" dirty="0" err="1"/>
              <a:t>distribution</a:t>
            </a:r>
            <a:r>
              <a:rPr lang="it-IT" sz="2000" noProof="0" dirty="0"/>
              <a:t> P(X)</a:t>
            </a:r>
          </a:p>
          <a:p>
            <a:pPr algn="ctr"/>
            <a:r>
              <a:rPr lang="it-IT" sz="2000" dirty="0"/>
              <a:t>To be </a:t>
            </a:r>
            <a:r>
              <a:rPr lang="it-IT" sz="2000" dirty="0" err="1"/>
              <a:t>able</a:t>
            </a:r>
            <a:r>
              <a:rPr lang="it-IT" sz="2000" dirty="0"/>
              <a:t> to sample (take </a:t>
            </a:r>
            <a:r>
              <a:rPr lang="it-IT" sz="2000" dirty="0" err="1"/>
              <a:t>examples</a:t>
            </a:r>
            <a:r>
              <a:rPr lang="it-IT" sz="2000" dirty="0"/>
              <a:t>) from the image </a:t>
            </a:r>
            <a:r>
              <a:rPr lang="it-IT" sz="2000" dirty="0" err="1"/>
              <a:t>space</a:t>
            </a:r>
            <a:r>
              <a:rPr lang="it-IT" sz="2000" dirty="0"/>
              <a:t> (</a:t>
            </a:r>
            <a:r>
              <a:rPr lang="it-IT" sz="2000" dirty="0" err="1"/>
              <a:t>multidimensional</a:t>
            </a:r>
            <a:r>
              <a:rPr lang="it-IT" sz="2000" dirty="0"/>
              <a:t>)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A917F76F-B25F-A72F-6A88-E91F06A3B755}"/>
              </a:ext>
            </a:extLst>
          </p:cNvPr>
          <p:cNvSpPr txBox="1"/>
          <p:nvPr/>
        </p:nvSpPr>
        <p:spPr>
          <a:xfrm>
            <a:off x="603289" y="2060513"/>
            <a:ext cx="5120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1800" dirty="0"/>
              <a:t>P(X) = ‘</a:t>
            </a:r>
            <a:r>
              <a:rPr lang="en-US" dirty="0"/>
              <a:t>probability that a 'random' image chosen is x</a:t>
            </a:r>
            <a:r>
              <a:rPr lang="it-IT" sz="1800" dirty="0"/>
              <a:t>’</a:t>
            </a:r>
            <a:endParaRPr lang="it-I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asellaDiTesto 11">
                <a:extLst>
                  <a:ext uri="{FF2B5EF4-FFF2-40B4-BE49-F238E27FC236}">
                    <a16:creationId xmlns:a16="http://schemas.microsoft.com/office/drawing/2014/main" id="{74901DEE-9B09-FEA4-D5D8-4878D587AC5D}"/>
                  </a:ext>
                </a:extLst>
              </p:cNvPr>
              <p:cNvSpPr txBox="1"/>
              <p:nvPr/>
            </p:nvSpPr>
            <p:spPr>
              <a:xfrm>
                <a:off x="1761808" y="2774571"/>
                <a:ext cx="2803267" cy="10954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it-IT" dirty="0"/>
                  <a:t>What </a:t>
                </a:r>
                <a:r>
                  <a:rPr lang="it-IT" dirty="0" err="1"/>
                  <a:t>does</a:t>
                </a:r>
                <a:r>
                  <a:rPr lang="it-IT" dirty="0"/>
                  <a:t> random </a:t>
                </a:r>
                <a:r>
                  <a:rPr lang="it-IT" dirty="0" err="1"/>
                  <a:t>mean</a:t>
                </a:r>
                <a:r>
                  <a:rPr lang="it-IT" dirty="0"/>
                  <a:t>?</a:t>
                </a:r>
              </a:p>
              <a:p>
                <a:pPr algn="ctr"/>
                <a:r>
                  <a:rPr lang="it-IT" b="1" i="1" dirty="0"/>
                  <a:t>z</a:t>
                </a:r>
                <a:r>
                  <a:rPr lang="it-IT" dirty="0"/>
                  <a:t> set of random </a:t>
                </a:r>
                <a:r>
                  <a:rPr lang="it-IT" dirty="0" err="1"/>
                  <a:t>variables</a:t>
                </a:r>
                <a:endParaRPr lang="it-IT" dirty="0"/>
              </a:p>
              <a:p>
                <a:pPr algn="ctr"/>
                <a:endParaRPr lang="it-IT" sz="105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i="1" dirty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it-IT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i="1" dirty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it-IT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it-IT" i="1" dirty="0" smtClean="0">
                          <a:latin typeface="Cambria Math" panose="02040503050406030204" pitchFamily="18" charset="0"/>
                        </a:rPr>
                        <m:t>∫</m:t>
                      </m:r>
                      <m:r>
                        <a:rPr lang="it-IT" i="1" dirty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it-IT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i="1" dirty="0" err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e>
                          <m:r>
                            <a:rPr lang="it-IT" i="1" dirty="0" err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it-IT" b="0" i="1" dirty="0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it-IT" i="1" dirty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it-IT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i="1" dirty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it-IT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it-IT" i="1" dirty="0">
                          <a:latin typeface="Cambria Math" panose="02040503050406030204" pitchFamily="18" charset="0"/>
                        </a:rPr>
                        <m:t>𝑑𝑧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12" name="CasellaDiTesto 11">
                <a:extLst>
                  <a:ext uri="{FF2B5EF4-FFF2-40B4-BE49-F238E27FC236}">
                    <a16:creationId xmlns:a16="http://schemas.microsoft.com/office/drawing/2014/main" id="{74901DEE-9B09-FEA4-D5D8-4878D587AC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1808" y="2774571"/>
                <a:ext cx="2803267" cy="1095428"/>
              </a:xfrm>
              <a:prstGeom prst="rect">
                <a:avLst/>
              </a:prstGeom>
              <a:blipFill>
                <a:blip r:embed="rId2"/>
                <a:stretch>
                  <a:fillRect t="-2778" b="-611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asellaDiTesto 12">
                <a:extLst>
                  <a:ext uri="{FF2B5EF4-FFF2-40B4-BE49-F238E27FC236}">
                    <a16:creationId xmlns:a16="http://schemas.microsoft.com/office/drawing/2014/main" id="{62CFC93F-71B8-C57B-1030-3B43BBF03E59}"/>
                  </a:ext>
                </a:extLst>
              </p:cNvPr>
              <p:cNvSpPr txBox="1"/>
              <p:nvPr/>
            </p:nvSpPr>
            <p:spPr>
              <a:xfrm>
                <a:off x="108602" y="4715377"/>
                <a:ext cx="6042232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it-IT" sz="1800" dirty="0"/>
                  <a:t>In a GAN P(</a:t>
                </a:r>
                <a:r>
                  <a:rPr lang="it-IT" sz="1800" dirty="0" err="1"/>
                  <a:t>X|z</a:t>
                </a:r>
                <a:r>
                  <a:rPr lang="it-IT" sz="1800" dirty="0"/>
                  <a:t>) </a:t>
                </a:r>
                <a:r>
                  <a:rPr lang="en-US" dirty="0"/>
                  <a:t>it is the output of our network to be trained</a:t>
                </a:r>
                <a:r>
                  <a:rPr lang="it-IT" sz="1800" dirty="0"/>
                  <a:t>!</a:t>
                </a:r>
              </a:p>
              <a:p>
                <a:pPr algn="ctr"/>
                <a:r>
                  <a:rPr lang="it-IT" dirty="0" err="1"/>
                  <a:t>It</a:t>
                </a:r>
                <a:r>
                  <a:rPr lang="it-IT" dirty="0"/>
                  <a:t> </a:t>
                </a:r>
                <a:r>
                  <a:rPr lang="it-IT" dirty="0" err="1"/>
                  <a:t>will</a:t>
                </a:r>
                <a:r>
                  <a:rPr lang="it-IT" dirty="0"/>
                  <a:t> be </a:t>
                </a:r>
                <a:r>
                  <a:rPr lang="it-IT" dirty="0" err="1"/>
                  <a:t>deterministic</a:t>
                </a:r>
                <a:r>
                  <a:rPr lang="it-IT" dirty="0"/>
                  <a:t>. </a:t>
                </a:r>
                <a14:m>
                  <m:oMath xmlns:m="http://schemas.openxmlformats.org/officeDocument/2006/math">
                    <m:r>
                      <a:rPr lang="it-IT" b="1" i="0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𝐏</m:t>
                    </m:r>
                    <m:r>
                      <a:rPr lang="it-IT" b="1" i="0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it-IT" b="1" i="0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𝐗</m:t>
                    </m:r>
                    <m:r>
                      <a:rPr lang="it-IT" b="1" i="0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it-IT" b="1" i="0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𝐳</m:t>
                    </m:r>
                    <m:r>
                      <a:rPr lang="it-IT" b="1" i="0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)=</m:t>
                    </m:r>
                    <m:sSub>
                      <m:sSubPr>
                        <m:ctrlPr>
                          <a:rPr lang="it-IT" b="1" i="1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1" i="1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it-IT" b="1" i="1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</m:sub>
                    </m:sSub>
                    <m:d>
                      <m:dPr>
                        <m:ctrlPr>
                          <a:rPr lang="it-IT" b="1" i="1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b="1" i="1" dirty="0" err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e>
                        <m:r>
                          <a:rPr lang="it-IT" b="1" i="1" dirty="0" err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𝒛</m:t>
                        </m:r>
                      </m:e>
                    </m:d>
                    <m:r>
                      <a:rPr lang="it-IT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it-IT" b="0" i="1" dirty="0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it-IT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it-IT" b="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it-IT" b="0" i="1" dirty="0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it-IT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dirty="0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it-IT" b="0" i="1" dirty="0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it-IT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it-IT" b="0" i="1" dirty="0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it-IT" b="0" i="1" dirty="0" smtClean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endParaRPr lang="it-IT" dirty="0"/>
              </a:p>
            </p:txBody>
          </p:sp>
        </mc:Choice>
        <mc:Fallback xmlns="">
          <p:sp>
            <p:nvSpPr>
              <p:cNvPr id="13" name="CasellaDiTesto 12">
                <a:extLst>
                  <a:ext uri="{FF2B5EF4-FFF2-40B4-BE49-F238E27FC236}">
                    <a16:creationId xmlns:a16="http://schemas.microsoft.com/office/drawing/2014/main" id="{62CFC93F-71B8-C57B-1030-3B43BBF03E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602" y="4715377"/>
                <a:ext cx="6042232" cy="646331"/>
              </a:xfrm>
              <a:prstGeom prst="rect">
                <a:avLst/>
              </a:prstGeom>
              <a:blipFill>
                <a:blip r:embed="rId3"/>
                <a:stretch>
                  <a:fillRect l="-505" t="-5660" r="-303" b="-1415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ttangolo 15">
            <a:extLst>
              <a:ext uri="{FF2B5EF4-FFF2-40B4-BE49-F238E27FC236}">
                <a16:creationId xmlns:a16="http://schemas.microsoft.com/office/drawing/2014/main" id="{233F46D5-5F2B-D84A-928A-62EDA03C8304}"/>
              </a:ext>
            </a:extLst>
          </p:cNvPr>
          <p:cNvSpPr/>
          <p:nvPr/>
        </p:nvSpPr>
        <p:spPr>
          <a:xfrm>
            <a:off x="175766" y="6061075"/>
            <a:ext cx="494203" cy="5461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pSp>
        <p:nvGrpSpPr>
          <p:cNvPr id="30" name="Gruppo 29">
            <a:extLst>
              <a:ext uri="{FF2B5EF4-FFF2-40B4-BE49-F238E27FC236}">
                <a16:creationId xmlns:a16="http://schemas.microsoft.com/office/drawing/2014/main" id="{BA22C370-9D3D-56D4-3DAD-0BEA9AB3AF41}"/>
              </a:ext>
            </a:extLst>
          </p:cNvPr>
          <p:cNvGrpSpPr/>
          <p:nvPr/>
        </p:nvGrpSpPr>
        <p:grpSpPr>
          <a:xfrm>
            <a:off x="138937" y="5819172"/>
            <a:ext cx="3186437" cy="1026960"/>
            <a:chOff x="6119496" y="5832672"/>
            <a:chExt cx="2823021" cy="914400"/>
          </a:xfrm>
        </p:grpSpPr>
        <p:pic>
          <p:nvPicPr>
            <p:cNvPr id="19" name="Immagine 18">
              <a:extLst>
                <a:ext uri="{FF2B5EF4-FFF2-40B4-BE49-F238E27FC236}">
                  <a16:creationId xmlns:a16="http://schemas.microsoft.com/office/drawing/2014/main" id="{7BA9733D-8B3F-A074-F424-64F71A530C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79397" y="5832672"/>
              <a:ext cx="2151565" cy="811668"/>
            </a:xfrm>
            <a:prstGeom prst="rect">
              <a:avLst/>
            </a:prstGeom>
          </p:spPr>
        </p:pic>
        <p:sp>
          <p:nvSpPr>
            <p:cNvPr id="20" name="Rettangolo 19">
              <a:extLst>
                <a:ext uri="{FF2B5EF4-FFF2-40B4-BE49-F238E27FC236}">
                  <a16:creationId xmlns:a16="http://schemas.microsoft.com/office/drawing/2014/main" id="{DD9A3D0C-E84C-DE00-0ACB-356C8C160352}"/>
                </a:ext>
              </a:extLst>
            </p:cNvPr>
            <p:cNvSpPr/>
            <p:nvPr/>
          </p:nvSpPr>
          <p:spPr>
            <a:xfrm>
              <a:off x="8028117" y="5832672"/>
              <a:ext cx="914400" cy="914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>
                <a:solidFill>
                  <a:schemeClr val="tx1"/>
                </a:solidFill>
              </a:endParaRPr>
            </a:p>
          </p:txBody>
        </p:sp>
        <p:cxnSp>
          <p:nvCxnSpPr>
            <p:cNvPr id="22" name="Connettore 2 21">
              <a:extLst>
                <a:ext uri="{FF2B5EF4-FFF2-40B4-BE49-F238E27FC236}">
                  <a16:creationId xmlns:a16="http://schemas.microsoft.com/office/drawing/2014/main" id="{CD7203BB-6613-C273-8EC0-87E330034AC0}"/>
                </a:ext>
              </a:extLst>
            </p:cNvPr>
            <p:cNvCxnSpPr/>
            <p:nvPr/>
          </p:nvCxnSpPr>
          <p:spPr>
            <a:xfrm>
              <a:off x="8028117" y="6011223"/>
              <a:ext cx="22767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Connettore 2 22">
              <a:extLst>
                <a:ext uri="{FF2B5EF4-FFF2-40B4-BE49-F238E27FC236}">
                  <a16:creationId xmlns:a16="http://schemas.microsoft.com/office/drawing/2014/main" id="{675D95ED-0820-DF44-EFE4-4D7B44F53FBA}"/>
                </a:ext>
              </a:extLst>
            </p:cNvPr>
            <p:cNvCxnSpPr/>
            <p:nvPr/>
          </p:nvCxnSpPr>
          <p:spPr>
            <a:xfrm>
              <a:off x="8023355" y="6236124"/>
              <a:ext cx="22767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Connettore 2 23">
              <a:extLst>
                <a:ext uri="{FF2B5EF4-FFF2-40B4-BE49-F238E27FC236}">
                  <a16:creationId xmlns:a16="http://schemas.microsoft.com/office/drawing/2014/main" id="{D5B1A95E-84F0-A787-A116-A75952D5D3E9}"/>
                </a:ext>
              </a:extLst>
            </p:cNvPr>
            <p:cNvCxnSpPr/>
            <p:nvPr/>
          </p:nvCxnSpPr>
          <p:spPr>
            <a:xfrm>
              <a:off x="8018898" y="6418490"/>
              <a:ext cx="22767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5" name="CasellaDiTesto 24">
              <a:extLst>
                <a:ext uri="{FF2B5EF4-FFF2-40B4-BE49-F238E27FC236}">
                  <a16:creationId xmlns:a16="http://schemas.microsoft.com/office/drawing/2014/main" id="{212BAB20-48FD-8209-E21A-B23081E3C8DF}"/>
                </a:ext>
              </a:extLst>
            </p:cNvPr>
            <p:cNvSpPr txBox="1"/>
            <p:nvPr/>
          </p:nvSpPr>
          <p:spPr>
            <a:xfrm>
              <a:off x="6119496" y="6023910"/>
              <a:ext cx="2808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dirty="0"/>
                <a:t>z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CasellaDiTesto 28">
                  <a:extLst>
                    <a:ext uri="{FF2B5EF4-FFF2-40B4-BE49-F238E27FC236}">
                      <a16:creationId xmlns:a16="http://schemas.microsoft.com/office/drawing/2014/main" id="{2A74F1AF-824D-00CD-44CB-90C6ABFDD10E}"/>
                    </a:ext>
                  </a:extLst>
                </p:cNvPr>
                <p:cNvSpPr txBox="1"/>
                <p:nvPr/>
              </p:nvSpPr>
              <p:spPr>
                <a:xfrm>
                  <a:off x="8236589" y="6032727"/>
                  <a:ext cx="40350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it-IT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oMath>
                    </m:oMathPara>
                  </a14:m>
                  <a:endParaRPr lang="it-IT" dirty="0"/>
                </a:p>
              </p:txBody>
            </p:sp>
          </mc:Choice>
          <mc:Fallback xmlns="">
            <p:sp>
              <p:nvSpPr>
                <p:cNvPr id="29" name="CasellaDiTesto 28">
                  <a:extLst>
                    <a:ext uri="{FF2B5EF4-FFF2-40B4-BE49-F238E27FC236}">
                      <a16:creationId xmlns:a16="http://schemas.microsoft.com/office/drawing/2014/main" id="{2A74F1AF-824D-00CD-44CB-90C6ABFDD1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36589" y="6032727"/>
                  <a:ext cx="403507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asellaDiTesto 13">
                <a:extLst>
                  <a:ext uri="{FF2B5EF4-FFF2-40B4-BE49-F238E27FC236}">
                    <a16:creationId xmlns:a16="http://schemas.microsoft.com/office/drawing/2014/main" id="{0D56E316-4EAA-2E81-E5AA-D4642DE4EC74}"/>
                  </a:ext>
                </a:extLst>
              </p:cNvPr>
              <p:cNvSpPr txBox="1"/>
              <p:nvPr/>
            </p:nvSpPr>
            <p:spPr>
              <a:xfrm>
                <a:off x="3095997" y="5767637"/>
                <a:ext cx="3066544" cy="6617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0" i="1" dirty="0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it-IT" b="0" i="1" dirty="0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d>
                        <m:dPr>
                          <m:ctrlPr>
                            <a:rPr lang="it-IT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b="0" i="1" dirty="0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it-IT" b="0" i="1" dirty="0" smtClean="0">
                          <a:latin typeface="Cambria Math" panose="02040503050406030204" pitchFamily="18" charset="0"/>
                        </a:rPr>
                        <m:t>:  </m:t>
                      </m:r>
                      <m:r>
                        <a:rPr lang="it-IT" b="0" i="1" dirty="0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it-IT" b="0" i="1" dirty="0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it-IT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b="0" i="1" dirty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sSub>
                            <m:sSubPr>
                              <m:ctrlPr>
                                <a:rPr lang="it-IT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b="0" i="1" dirty="0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it-IT" b="0" i="1" dirty="0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sup>
                      </m:sSup>
                      <m:r>
                        <a:rPr lang="it-IT" b="0" i="1" dirty="0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it-IT" b="0" i="1" dirty="0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it-IT" b="0" i="1" dirty="0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it-IT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b="0" i="1" dirty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it-IT" b="0" i="1" dirty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</m:sSup>
                    </m:oMath>
                  </m:oMathPara>
                </a14:m>
                <a:endParaRPr lang="it-IT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it-IT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it-IT" i="1" dirty="0">
                              <a:latin typeface="Cambria Math" panose="02040503050406030204" pitchFamily="18" charset="0"/>
                            </a:rPr>
                            <m:t>𝐺</m:t>
                          </m:r>
                        </m:sup>
                      </m:sSup>
                      <m:d>
                        <m:dPr>
                          <m:ctrlPr>
                            <a:rPr lang="it-IT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i="1" dirty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it-IT" i="1" dirty="0">
                          <a:latin typeface="Cambria Math" panose="02040503050406030204" pitchFamily="18" charset="0"/>
                        </a:rPr>
                        <m:t>=∫</m:t>
                      </m:r>
                      <m:sSub>
                        <m:sSubPr>
                          <m:ctrlPr>
                            <a:rPr lang="it-IT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 dirty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it-IT" i="1" dirty="0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d>
                        <m:dPr>
                          <m:ctrlPr>
                            <a:rPr lang="it-IT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i="1" dirty="0" err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e>
                          <m:r>
                            <a:rPr lang="it-IT" i="1" dirty="0" err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it-IT" i="1" dirty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it-IT" i="1" dirty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it-IT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i="1" dirty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it-IT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it-IT" i="1" dirty="0">
                          <a:latin typeface="Cambria Math" panose="02040503050406030204" pitchFamily="18" charset="0"/>
                        </a:rPr>
                        <m:t>𝑑𝑧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14" name="CasellaDiTesto 13">
                <a:extLst>
                  <a:ext uri="{FF2B5EF4-FFF2-40B4-BE49-F238E27FC236}">
                    <a16:creationId xmlns:a16="http://schemas.microsoft.com/office/drawing/2014/main" id="{0D56E316-4EAA-2E81-E5AA-D4642DE4EC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5997" y="5767637"/>
                <a:ext cx="3066544" cy="661784"/>
              </a:xfrm>
              <a:prstGeom prst="rect">
                <a:avLst/>
              </a:prstGeom>
              <a:blipFill>
                <a:blip r:embed="rId8"/>
                <a:stretch>
                  <a:fillRect b="-1100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8" name="Gruppo 47">
            <a:extLst>
              <a:ext uri="{FF2B5EF4-FFF2-40B4-BE49-F238E27FC236}">
                <a16:creationId xmlns:a16="http://schemas.microsoft.com/office/drawing/2014/main" id="{8587FD6D-688B-C050-5689-684A2255F81B}"/>
              </a:ext>
            </a:extLst>
          </p:cNvPr>
          <p:cNvGrpSpPr/>
          <p:nvPr/>
        </p:nvGrpSpPr>
        <p:grpSpPr>
          <a:xfrm>
            <a:off x="1889266" y="3820028"/>
            <a:ext cx="3285464" cy="599708"/>
            <a:chOff x="7869825" y="3652248"/>
            <a:chExt cx="3285464" cy="599708"/>
          </a:xfrm>
        </p:grpSpPr>
        <p:cxnSp>
          <p:nvCxnSpPr>
            <p:cNvPr id="31" name="Connettore a gomito 30">
              <a:extLst>
                <a:ext uri="{FF2B5EF4-FFF2-40B4-BE49-F238E27FC236}">
                  <a16:creationId xmlns:a16="http://schemas.microsoft.com/office/drawing/2014/main" id="{E48553EF-514A-BF38-7CD6-46DD057AB8AC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9807795" y="3693306"/>
              <a:ext cx="444063" cy="361947"/>
            </a:xfrm>
            <a:prstGeom prst="bentConnector3">
              <a:avLst>
                <a:gd name="adj1" fmla="val 101479"/>
              </a:avLst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CasellaDiTesto 38">
              <a:extLst>
                <a:ext uri="{FF2B5EF4-FFF2-40B4-BE49-F238E27FC236}">
                  <a16:creationId xmlns:a16="http://schemas.microsoft.com/office/drawing/2014/main" id="{CF33A105-0E0F-A258-758F-483FFBA27649}"/>
                </a:ext>
              </a:extLst>
            </p:cNvPr>
            <p:cNvSpPr txBox="1"/>
            <p:nvPr/>
          </p:nvSpPr>
          <p:spPr>
            <a:xfrm>
              <a:off x="10210800" y="3911645"/>
              <a:ext cx="944489" cy="307777"/>
            </a:xfrm>
            <a:prstGeom prst="rect">
              <a:avLst/>
            </a:prstGeom>
            <a:noFill/>
            <a:ln w="12700">
              <a:solidFill>
                <a:srgbClr val="FF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it-IT" sz="1400" dirty="0">
                  <a:latin typeface="Book Antiqua" panose="02040602050305030304" pitchFamily="18" charset="0"/>
                  <a:cs typeface="Times New Roman" panose="02020603050405020304" pitchFamily="18" charset="0"/>
                </a:rPr>
                <a:t>Sampling</a:t>
              </a:r>
              <a:endParaRPr lang="it-IT" dirty="0">
                <a:latin typeface="Book Antiqua" panose="0204060205030503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0" name="Connettore a gomito 39">
              <a:extLst>
                <a:ext uri="{FF2B5EF4-FFF2-40B4-BE49-F238E27FC236}">
                  <a16:creationId xmlns:a16="http://schemas.microsoft.com/office/drawing/2014/main" id="{65A499BC-8332-8444-D10E-C404BF48D6B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8912446" y="3702827"/>
              <a:ext cx="444066" cy="342907"/>
            </a:xfrm>
            <a:prstGeom prst="bentConnector3">
              <a:avLst>
                <a:gd name="adj1" fmla="val 100406"/>
              </a:avLst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CasellaDiTesto 46">
              <a:extLst>
                <a:ext uri="{FF2B5EF4-FFF2-40B4-BE49-F238E27FC236}">
                  <a16:creationId xmlns:a16="http://schemas.microsoft.com/office/drawing/2014/main" id="{C2636D29-798E-F5E6-16CB-A8A4F4C670ED}"/>
                </a:ext>
              </a:extLst>
            </p:cNvPr>
            <p:cNvSpPr txBox="1"/>
            <p:nvPr/>
          </p:nvSpPr>
          <p:spPr>
            <a:xfrm>
              <a:off x="7869825" y="3944179"/>
              <a:ext cx="1072730" cy="307777"/>
            </a:xfrm>
            <a:prstGeom prst="rect">
              <a:avLst/>
            </a:prstGeom>
            <a:noFill/>
            <a:ln w="12700">
              <a:solidFill>
                <a:srgbClr val="FF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it-IT" sz="1400" dirty="0">
                  <a:latin typeface="Book Antiqua" panose="02040602050305030304" pitchFamily="18" charset="0"/>
                  <a:cs typeface="Times New Roman" panose="02020603050405020304" pitchFamily="18" charset="0"/>
                </a:rPr>
                <a:t>Generation</a:t>
              </a:r>
              <a:endParaRPr lang="it-IT" dirty="0">
                <a:latin typeface="Book Antiqua" panose="0204060205030503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DACF90BA-3373-1A9A-F165-7ADDF38B25D1}"/>
              </a:ext>
            </a:extLst>
          </p:cNvPr>
          <p:cNvSpPr txBox="1"/>
          <p:nvPr/>
        </p:nvSpPr>
        <p:spPr>
          <a:xfrm>
            <a:off x="6698861" y="227156"/>
            <a:ext cx="57182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2000" b="1" dirty="0" err="1">
                <a:latin typeface="Georgia" panose="02040502050405020303" pitchFamily="18" charset="0"/>
              </a:rPr>
              <a:t>Neural</a:t>
            </a:r>
            <a:r>
              <a:rPr lang="it-IT" sz="2000" b="1" dirty="0">
                <a:latin typeface="Georgia" panose="02040502050405020303" pitchFamily="18" charset="0"/>
              </a:rPr>
              <a:t> Network</a:t>
            </a:r>
          </a:p>
        </p:txBody>
      </p:sp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DB4573AB-EC98-77B1-2177-A97ABF746434}"/>
              </a:ext>
            </a:extLst>
          </p:cNvPr>
          <p:cNvSpPr txBox="1"/>
          <p:nvPr/>
        </p:nvSpPr>
        <p:spPr>
          <a:xfrm>
            <a:off x="6904918" y="757987"/>
            <a:ext cx="513978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dirty="0"/>
              <a:t>Building Block: </a:t>
            </a:r>
            <a:r>
              <a:rPr lang="it-IT" sz="2000" dirty="0" err="1"/>
              <a:t>Artificial</a:t>
            </a:r>
            <a:r>
              <a:rPr lang="it-IT" sz="2000" dirty="0"/>
              <a:t> </a:t>
            </a:r>
            <a:r>
              <a:rPr lang="it-IT" sz="2000" dirty="0" err="1"/>
              <a:t>neuron</a:t>
            </a:r>
            <a:endParaRPr lang="it-IT" sz="2000" dirty="0"/>
          </a:p>
          <a:p>
            <a:r>
              <a:rPr lang="it-IT" sz="2000" dirty="0"/>
              <a:t> </a:t>
            </a:r>
            <a:endParaRPr lang="it-IT" dirty="0"/>
          </a:p>
        </p:txBody>
      </p:sp>
      <p:pic>
        <p:nvPicPr>
          <p:cNvPr id="28" name="Immagine 27">
            <a:extLst>
              <a:ext uri="{FF2B5EF4-FFF2-40B4-BE49-F238E27FC236}">
                <a16:creationId xmlns:a16="http://schemas.microsoft.com/office/drawing/2014/main" id="{CEF81C65-1511-FA7D-1ADB-26FB279A5F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0743" y="4656912"/>
            <a:ext cx="4063992" cy="1533123"/>
          </a:xfrm>
          <a:prstGeom prst="rect">
            <a:avLst/>
          </a:prstGeom>
        </p:spPr>
      </p:pic>
      <p:sp>
        <p:nvSpPr>
          <p:cNvPr id="32" name="CasellaDiTesto 31">
            <a:extLst>
              <a:ext uri="{FF2B5EF4-FFF2-40B4-BE49-F238E27FC236}">
                <a16:creationId xmlns:a16="http://schemas.microsoft.com/office/drawing/2014/main" id="{48A1E23C-1D4D-8F94-3E9C-A96E631C4DF7}"/>
              </a:ext>
            </a:extLst>
          </p:cNvPr>
          <p:cNvSpPr txBox="1"/>
          <p:nvPr/>
        </p:nvSpPr>
        <p:spPr>
          <a:xfrm>
            <a:off x="7206933" y="3959162"/>
            <a:ext cx="42471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b="1" dirty="0"/>
              <a:t> Deep Network</a:t>
            </a:r>
            <a:endParaRPr lang="it-IT" b="1" dirty="0"/>
          </a:p>
        </p:txBody>
      </p:sp>
      <p:cxnSp>
        <p:nvCxnSpPr>
          <p:cNvPr id="33" name="Connettore 2 32">
            <a:extLst>
              <a:ext uri="{FF2B5EF4-FFF2-40B4-BE49-F238E27FC236}">
                <a16:creationId xmlns:a16="http://schemas.microsoft.com/office/drawing/2014/main" id="{033B32F3-90F0-B5F0-3C5C-19735BC79633}"/>
              </a:ext>
            </a:extLst>
          </p:cNvPr>
          <p:cNvCxnSpPr>
            <a:cxnSpLocks/>
          </p:cNvCxnSpPr>
          <p:nvPr/>
        </p:nvCxnSpPr>
        <p:spPr>
          <a:xfrm>
            <a:off x="6821792" y="6270529"/>
            <a:ext cx="4560455" cy="0"/>
          </a:xfrm>
          <a:prstGeom prst="straightConnector1">
            <a:avLst/>
          </a:prstGeom>
          <a:ln w="57150">
            <a:solidFill>
              <a:srgbClr val="1F429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CasellaDiTesto 33">
            <a:extLst>
              <a:ext uri="{FF2B5EF4-FFF2-40B4-BE49-F238E27FC236}">
                <a16:creationId xmlns:a16="http://schemas.microsoft.com/office/drawing/2014/main" id="{EF2A5E8A-4FAF-6AB3-01AE-EADF89D6A33F}"/>
              </a:ext>
            </a:extLst>
          </p:cNvPr>
          <p:cNvSpPr txBox="1"/>
          <p:nvPr/>
        </p:nvSpPr>
        <p:spPr>
          <a:xfrm>
            <a:off x="6795149" y="4383273"/>
            <a:ext cx="922729" cy="369332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it-IT" b="1" dirty="0">
                <a:latin typeface="Georgia" panose="02040502050405020303" pitchFamily="18" charset="0"/>
              </a:rPr>
              <a:t>Input</a:t>
            </a:r>
          </a:p>
        </p:txBody>
      </p:sp>
      <p:sp>
        <p:nvSpPr>
          <p:cNvPr id="35" name="CasellaDiTesto 34">
            <a:extLst>
              <a:ext uri="{FF2B5EF4-FFF2-40B4-BE49-F238E27FC236}">
                <a16:creationId xmlns:a16="http://schemas.microsoft.com/office/drawing/2014/main" id="{934EBD8C-D58C-DDA7-7AEA-24BF819596CA}"/>
              </a:ext>
            </a:extLst>
          </p:cNvPr>
          <p:cNvSpPr txBox="1"/>
          <p:nvPr/>
        </p:nvSpPr>
        <p:spPr>
          <a:xfrm>
            <a:off x="10685080" y="4576418"/>
            <a:ext cx="1070026" cy="369332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it-IT" b="1" dirty="0">
                <a:latin typeface="Georgia" panose="02040502050405020303" pitchFamily="18" charset="0"/>
              </a:rPr>
              <a:t>Output</a:t>
            </a:r>
          </a:p>
        </p:txBody>
      </p:sp>
      <p:sp>
        <p:nvSpPr>
          <p:cNvPr id="36" name="CasellaDiTesto 35">
            <a:extLst>
              <a:ext uri="{FF2B5EF4-FFF2-40B4-BE49-F238E27FC236}">
                <a16:creationId xmlns:a16="http://schemas.microsoft.com/office/drawing/2014/main" id="{1BA0139A-E8AA-E138-C9E4-83D31F9E2D18}"/>
              </a:ext>
            </a:extLst>
          </p:cNvPr>
          <p:cNvSpPr txBox="1"/>
          <p:nvPr/>
        </p:nvSpPr>
        <p:spPr>
          <a:xfrm>
            <a:off x="8065385" y="6378404"/>
            <a:ext cx="2061779" cy="369332"/>
          </a:xfrm>
          <a:prstGeom prst="rect">
            <a:avLst/>
          </a:prstGeom>
          <a:noFill/>
          <a:ln w="38100">
            <a:solidFill>
              <a:srgbClr val="9933F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it-IT" b="1" dirty="0">
                <a:latin typeface="Georgia" panose="02040502050405020303" pitchFamily="18" charset="0"/>
              </a:rPr>
              <a:t>Feed Forward</a:t>
            </a:r>
          </a:p>
        </p:txBody>
      </p:sp>
      <p:sp>
        <p:nvSpPr>
          <p:cNvPr id="37" name="Ovale 36">
            <a:extLst>
              <a:ext uri="{FF2B5EF4-FFF2-40B4-BE49-F238E27FC236}">
                <a16:creationId xmlns:a16="http://schemas.microsoft.com/office/drawing/2014/main" id="{0FCE718E-62A3-E109-9D73-AB279B19FEF9}"/>
              </a:ext>
            </a:extLst>
          </p:cNvPr>
          <p:cNvSpPr/>
          <p:nvPr/>
        </p:nvSpPr>
        <p:spPr>
          <a:xfrm>
            <a:off x="7354168" y="4867275"/>
            <a:ext cx="281072" cy="29111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8" name="Ovale 37">
            <a:extLst>
              <a:ext uri="{FF2B5EF4-FFF2-40B4-BE49-F238E27FC236}">
                <a16:creationId xmlns:a16="http://schemas.microsoft.com/office/drawing/2014/main" id="{0A94DA2D-E855-B273-338B-F8F6E7D6524A}"/>
              </a:ext>
            </a:extLst>
          </p:cNvPr>
          <p:cNvSpPr/>
          <p:nvPr/>
        </p:nvSpPr>
        <p:spPr>
          <a:xfrm>
            <a:off x="7352263" y="5262451"/>
            <a:ext cx="281072" cy="29111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1" name="Ovale 40">
            <a:extLst>
              <a:ext uri="{FF2B5EF4-FFF2-40B4-BE49-F238E27FC236}">
                <a16:creationId xmlns:a16="http://schemas.microsoft.com/office/drawing/2014/main" id="{DA4FACB1-A77B-D832-F747-2D1D8A6E461A}"/>
              </a:ext>
            </a:extLst>
          </p:cNvPr>
          <p:cNvSpPr/>
          <p:nvPr/>
        </p:nvSpPr>
        <p:spPr>
          <a:xfrm>
            <a:off x="7350358" y="5629701"/>
            <a:ext cx="281072" cy="29111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2" name="Ovale 41">
            <a:extLst>
              <a:ext uri="{FF2B5EF4-FFF2-40B4-BE49-F238E27FC236}">
                <a16:creationId xmlns:a16="http://schemas.microsoft.com/office/drawing/2014/main" id="{11A5FEEB-0E82-B548-4E8A-F7BC136D697F}"/>
              </a:ext>
            </a:extLst>
          </p:cNvPr>
          <p:cNvSpPr/>
          <p:nvPr/>
        </p:nvSpPr>
        <p:spPr>
          <a:xfrm>
            <a:off x="8754469" y="4865371"/>
            <a:ext cx="281072" cy="29111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3" name="Ovale 42">
            <a:extLst>
              <a:ext uri="{FF2B5EF4-FFF2-40B4-BE49-F238E27FC236}">
                <a16:creationId xmlns:a16="http://schemas.microsoft.com/office/drawing/2014/main" id="{7AB1C736-DFD8-FB3A-8FAE-2BBD29F0DFB0}"/>
              </a:ext>
            </a:extLst>
          </p:cNvPr>
          <p:cNvSpPr/>
          <p:nvPr/>
        </p:nvSpPr>
        <p:spPr>
          <a:xfrm>
            <a:off x="8750659" y="5264357"/>
            <a:ext cx="281072" cy="29111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4" name="Ovale 43">
            <a:extLst>
              <a:ext uri="{FF2B5EF4-FFF2-40B4-BE49-F238E27FC236}">
                <a16:creationId xmlns:a16="http://schemas.microsoft.com/office/drawing/2014/main" id="{E121085F-5001-53A4-AFAC-442ED9A87315}"/>
              </a:ext>
            </a:extLst>
          </p:cNvPr>
          <p:cNvSpPr/>
          <p:nvPr/>
        </p:nvSpPr>
        <p:spPr>
          <a:xfrm>
            <a:off x="8750659" y="5622082"/>
            <a:ext cx="281072" cy="29111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5" name="Ovale 44">
            <a:extLst>
              <a:ext uri="{FF2B5EF4-FFF2-40B4-BE49-F238E27FC236}">
                <a16:creationId xmlns:a16="http://schemas.microsoft.com/office/drawing/2014/main" id="{B650DCC1-A54A-8245-97DA-4BE943905FEC}"/>
              </a:ext>
            </a:extLst>
          </p:cNvPr>
          <p:cNvSpPr/>
          <p:nvPr/>
        </p:nvSpPr>
        <p:spPr>
          <a:xfrm>
            <a:off x="10155155" y="4864297"/>
            <a:ext cx="281072" cy="29111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6" name="Ovale 45">
            <a:extLst>
              <a:ext uri="{FF2B5EF4-FFF2-40B4-BE49-F238E27FC236}">
                <a16:creationId xmlns:a16="http://schemas.microsoft.com/office/drawing/2014/main" id="{68D9D2D9-6AE6-26ED-F6BE-AF8299634E4A}"/>
              </a:ext>
            </a:extLst>
          </p:cNvPr>
          <p:cNvSpPr/>
          <p:nvPr/>
        </p:nvSpPr>
        <p:spPr>
          <a:xfrm>
            <a:off x="10151345" y="5272808"/>
            <a:ext cx="281072" cy="29111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9" name="Ovale 48">
            <a:extLst>
              <a:ext uri="{FF2B5EF4-FFF2-40B4-BE49-F238E27FC236}">
                <a16:creationId xmlns:a16="http://schemas.microsoft.com/office/drawing/2014/main" id="{0AFA8F69-9FE4-8A72-D860-3D921CA4DDF7}"/>
              </a:ext>
            </a:extLst>
          </p:cNvPr>
          <p:cNvSpPr/>
          <p:nvPr/>
        </p:nvSpPr>
        <p:spPr>
          <a:xfrm>
            <a:off x="10153250" y="5622913"/>
            <a:ext cx="281072" cy="29111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0" name="Ovale 49">
            <a:extLst>
              <a:ext uri="{FF2B5EF4-FFF2-40B4-BE49-F238E27FC236}">
                <a16:creationId xmlns:a16="http://schemas.microsoft.com/office/drawing/2014/main" id="{178530FA-50FF-0D95-2412-F52E1314D429}"/>
              </a:ext>
            </a:extLst>
          </p:cNvPr>
          <p:cNvSpPr/>
          <p:nvPr/>
        </p:nvSpPr>
        <p:spPr>
          <a:xfrm>
            <a:off x="8123026" y="5074900"/>
            <a:ext cx="281072" cy="29111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1" name="Ovale 50">
            <a:extLst>
              <a:ext uri="{FF2B5EF4-FFF2-40B4-BE49-F238E27FC236}">
                <a16:creationId xmlns:a16="http://schemas.microsoft.com/office/drawing/2014/main" id="{ADCE644C-D59A-FED0-882D-1DE9471B45DD}"/>
              </a:ext>
            </a:extLst>
          </p:cNvPr>
          <p:cNvSpPr/>
          <p:nvPr/>
        </p:nvSpPr>
        <p:spPr>
          <a:xfrm>
            <a:off x="8128741" y="5451026"/>
            <a:ext cx="281072" cy="29111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2" name="Ovale 51">
            <a:extLst>
              <a:ext uri="{FF2B5EF4-FFF2-40B4-BE49-F238E27FC236}">
                <a16:creationId xmlns:a16="http://schemas.microsoft.com/office/drawing/2014/main" id="{975FEB05-6CC4-543F-31C4-256568429055}"/>
              </a:ext>
            </a:extLst>
          </p:cNvPr>
          <p:cNvSpPr/>
          <p:nvPr/>
        </p:nvSpPr>
        <p:spPr>
          <a:xfrm>
            <a:off x="8124931" y="5812561"/>
            <a:ext cx="281072" cy="29111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3" name="Ovale 52">
            <a:extLst>
              <a:ext uri="{FF2B5EF4-FFF2-40B4-BE49-F238E27FC236}">
                <a16:creationId xmlns:a16="http://schemas.microsoft.com/office/drawing/2014/main" id="{7E620B46-BB9F-F222-4CEA-B206CF27192F}"/>
              </a:ext>
            </a:extLst>
          </p:cNvPr>
          <p:cNvSpPr/>
          <p:nvPr/>
        </p:nvSpPr>
        <p:spPr>
          <a:xfrm>
            <a:off x="8123026" y="4695301"/>
            <a:ext cx="281072" cy="29111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4" name="Ovale 53">
            <a:extLst>
              <a:ext uri="{FF2B5EF4-FFF2-40B4-BE49-F238E27FC236}">
                <a16:creationId xmlns:a16="http://schemas.microsoft.com/office/drawing/2014/main" id="{116E0179-2AFB-33DE-307E-D20C51682C4B}"/>
              </a:ext>
            </a:extLst>
          </p:cNvPr>
          <p:cNvSpPr/>
          <p:nvPr/>
        </p:nvSpPr>
        <p:spPr>
          <a:xfrm>
            <a:off x="9519517" y="5073891"/>
            <a:ext cx="281072" cy="29111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5" name="Ovale 54">
            <a:extLst>
              <a:ext uri="{FF2B5EF4-FFF2-40B4-BE49-F238E27FC236}">
                <a16:creationId xmlns:a16="http://schemas.microsoft.com/office/drawing/2014/main" id="{4593DDA3-33C1-8C2E-53F7-8DDEF30D40FC}"/>
              </a:ext>
            </a:extLst>
          </p:cNvPr>
          <p:cNvSpPr/>
          <p:nvPr/>
        </p:nvSpPr>
        <p:spPr>
          <a:xfrm>
            <a:off x="9525232" y="5446207"/>
            <a:ext cx="281072" cy="29111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6" name="Ovale 55">
            <a:extLst>
              <a:ext uri="{FF2B5EF4-FFF2-40B4-BE49-F238E27FC236}">
                <a16:creationId xmlns:a16="http://schemas.microsoft.com/office/drawing/2014/main" id="{1340E4CC-8D4A-5B33-821F-5C3461B20B0B}"/>
              </a:ext>
            </a:extLst>
          </p:cNvPr>
          <p:cNvSpPr/>
          <p:nvPr/>
        </p:nvSpPr>
        <p:spPr>
          <a:xfrm>
            <a:off x="9525232" y="5819172"/>
            <a:ext cx="281072" cy="29111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7" name="Ovale 56">
            <a:extLst>
              <a:ext uri="{FF2B5EF4-FFF2-40B4-BE49-F238E27FC236}">
                <a16:creationId xmlns:a16="http://schemas.microsoft.com/office/drawing/2014/main" id="{3C830DE3-F72D-2694-9F87-07FEF4025F3B}"/>
              </a:ext>
            </a:extLst>
          </p:cNvPr>
          <p:cNvSpPr/>
          <p:nvPr/>
        </p:nvSpPr>
        <p:spPr>
          <a:xfrm>
            <a:off x="9523327" y="4686672"/>
            <a:ext cx="281072" cy="29111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8" name="Ovale 57">
            <a:extLst>
              <a:ext uri="{FF2B5EF4-FFF2-40B4-BE49-F238E27FC236}">
                <a16:creationId xmlns:a16="http://schemas.microsoft.com/office/drawing/2014/main" id="{C4BC9F50-3C55-36ED-8988-208D54406753}"/>
              </a:ext>
            </a:extLst>
          </p:cNvPr>
          <p:cNvSpPr/>
          <p:nvPr/>
        </p:nvSpPr>
        <p:spPr>
          <a:xfrm>
            <a:off x="10706248" y="5244326"/>
            <a:ext cx="281072" cy="29111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59" name="Immagine 58">
            <a:extLst>
              <a:ext uri="{FF2B5EF4-FFF2-40B4-BE49-F238E27FC236}">
                <a16:creationId xmlns:a16="http://schemas.microsoft.com/office/drawing/2014/main" id="{2E2476ED-12D8-8ED4-3011-41C68193D6E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0743" y="1461238"/>
            <a:ext cx="3747367" cy="201389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0" name="CasellaDiTesto 59">
                <a:extLst>
                  <a:ext uri="{FF2B5EF4-FFF2-40B4-BE49-F238E27FC236}">
                    <a16:creationId xmlns:a16="http://schemas.microsoft.com/office/drawing/2014/main" id="{42812E56-5575-9F25-D8EC-09FB7BB19AC0}"/>
                  </a:ext>
                </a:extLst>
              </p:cNvPr>
              <p:cNvSpPr txBox="1"/>
              <p:nvPr/>
            </p:nvSpPr>
            <p:spPr>
              <a:xfrm>
                <a:off x="567124" y="5445035"/>
                <a:ext cx="226241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it-IT" b="1" i="1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1" i="1" dirty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it-IT" b="1" i="1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</m:sub>
                    </m:sSub>
                    <m:r>
                      <a:rPr lang="it-IT" b="1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it-IT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it-IT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a:rPr lang="it-IT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it-IT" dirty="0"/>
                  <a:t>parameters</a:t>
                </a:r>
                <a14:m>
                  <m:oMath xmlns:m="http://schemas.openxmlformats.org/officeDocument/2006/math">
                    <m:r>
                      <a:rPr lang="it-IT" b="1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it-IT" dirty="0"/>
              </a:p>
            </p:txBody>
          </p:sp>
        </mc:Choice>
        <mc:Fallback xmlns="">
          <p:sp>
            <p:nvSpPr>
              <p:cNvPr id="60" name="CasellaDiTesto 59">
                <a:extLst>
                  <a:ext uri="{FF2B5EF4-FFF2-40B4-BE49-F238E27FC236}">
                    <a16:creationId xmlns:a16="http://schemas.microsoft.com/office/drawing/2014/main" id="{42812E56-5575-9F25-D8EC-09FB7BB19A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124" y="5445035"/>
                <a:ext cx="2262414" cy="369332"/>
              </a:xfrm>
              <a:prstGeom prst="rect">
                <a:avLst/>
              </a:prstGeom>
              <a:blipFill>
                <a:blip r:embed="rId10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6599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6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uppo 23">
            <a:extLst>
              <a:ext uri="{FF2B5EF4-FFF2-40B4-BE49-F238E27FC236}">
                <a16:creationId xmlns:a16="http://schemas.microsoft.com/office/drawing/2014/main" id="{70892754-7FB1-F122-E8DA-EED8E65823F8}"/>
              </a:ext>
            </a:extLst>
          </p:cNvPr>
          <p:cNvGrpSpPr/>
          <p:nvPr/>
        </p:nvGrpSpPr>
        <p:grpSpPr>
          <a:xfrm>
            <a:off x="7505952" y="1454799"/>
            <a:ext cx="4421193" cy="1508231"/>
            <a:chOff x="6119496" y="5832672"/>
            <a:chExt cx="2823021" cy="914400"/>
          </a:xfrm>
        </p:grpSpPr>
        <p:pic>
          <p:nvPicPr>
            <p:cNvPr id="25" name="Immagine 24">
              <a:extLst>
                <a:ext uri="{FF2B5EF4-FFF2-40B4-BE49-F238E27FC236}">
                  <a16:creationId xmlns:a16="http://schemas.microsoft.com/office/drawing/2014/main" id="{71DB4F09-DD4C-2281-F184-EAD386AB635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79397" y="5832672"/>
              <a:ext cx="2151565" cy="811668"/>
            </a:xfrm>
            <a:prstGeom prst="rect">
              <a:avLst/>
            </a:prstGeom>
          </p:spPr>
        </p:pic>
        <p:sp>
          <p:nvSpPr>
            <p:cNvPr id="26" name="Rettangolo 25">
              <a:extLst>
                <a:ext uri="{FF2B5EF4-FFF2-40B4-BE49-F238E27FC236}">
                  <a16:creationId xmlns:a16="http://schemas.microsoft.com/office/drawing/2014/main" id="{8E175525-B336-6FD2-FFAB-5417809E7079}"/>
                </a:ext>
              </a:extLst>
            </p:cNvPr>
            <p:cNvSpPr/>
            <p:nvPr/>
          </p:nvSpPr>
          <p:spPr>
            <a:xfrm>
              <a:off x="8028117" y="5832672"/>
              <a:ext cx="914400" cy="914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>
                <a:solidFill>
                  <a:schemeClr val="tx1"/>
                </a:solidFill>
              </a:endParaRPr>
            </a:p>
          </p:txBody>
        </p:sp>
        <p:cxnSp>
          <p:nvCxnSpPr>
            <p:cNvPr id="27" name="Connettore 2 26">
              <a:extLst>
                <a:ext uri="{FF2B5EF4-FFF2-40B4-BE49-F238E27FC236}">
                  <a16:creationId xmlns:a16="http://schemas.microsoft.com/office/drawing/2014/main" id="{E3EBC0C7-02AB-36F7-19D3-D4CAA87AA424}"/>
                </a:ext>
              </a:extLst>
            </p:cNvPr>
            <p:cNvCxnSpPr/>
            <p:nvPr/>
          </p:nvCxnSpPr>
          <p:spPr>
            <a:xfrm>
              <a:off x="8028117" y="6011223"/>
              <a:ext cx="22767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Connettore 2 27">
              <a:extLst>
                <a:ext uri="{FF2B5EF4-FFF2-40B4-BE49-F238E27FC236}">
                  <a16:creationId xmlns:a16="http://schemas.microsoft.com/office/drawing/2014/main" id="{ECE78136-D8DF-5FA1-C427-CAB3B452AEC8}"/>
                </a:ext>
              </a:extLst>
            </p:cNvPr>
            <p:cNvCxnSpPr/>
            <p:nvPr/>
          </p:nvCxnSpPr>
          <p:spPr>
            <a:xfrm>
              <a:off x="8023355" y="6236124"/>
              <a:ext cx="22767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Connettore 2 28">
              <a:extLst>
                <a:ext uri="{FF2B5EF4-FFF2-40B4-BE49-F238E27FC236}">
                  <a16:creationId xmlns:a16="http://schemas.microsoft.com/office/drawing/2014/main" id="{6352984F-AAFF-5EDD-CCD9-CA95BC454401}"/>
                </a:ext>
              </a:extLst>
            </p:cNvPr>
            <p:cNvCxnSpPr/>
            <p:nvPr/>
          </p:nvCxnSpPr>
          <p:spPr>
            <a:xfrm>
              <a:off x="8018898" y="6418490"/>
              <a:ext cx="22767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0" name="CasellaDiTesto 29">
              <a:extLst>
                <a:ext uri="{FF2B5EF4-FFF2-40B4-BE49-F238E27FC236}">
                  <a16:creationId xmlns:a16="http://schemas.microsoft.com/office/drawing/2014/main" id="{2A23D8FD-53DD-B7D8-DA95-66953BB76997}"/>
                </a:ext>
              </a:extLst>
            </p:cNvPr>
            <p:cNvSpPr txBox="1"/>
            <p:nvPr/>
          </p:nvSpPr>
          <p:spPr>
            <a:xfrm>
              <a:off x="6119496" y="6023910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it-IT" dirty="0"/>
            </a:p>
          </p:txBody>
        </p:sp>
        <p:sp>
          <p:nvSpPr>
            <p:cNvPr id="31" name="CasellaDiTesto 30">
              <a:extLst>
                <a:ext uri="{FF2B5EF4-FFF2-40B4-BE49-F238E27FC236}">
                  <a16:creationId xmlns:a16="http://schemas.microsoft.com/office/drawing/2014/main" id="{96B4127D-739C-46CA-5EFA-7F5EBE079BF5}"/>
                </a:ext>
              </a:extLst>
            </p:cNvPr>
            <p:cNvSpPr txBox="1"/>
            <p:nvPr/>
          </p:nvSpPr>
          <p:spPr>
            <a:xfrm>
              <a:off x="8236589" y="6032727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it-IT" dirty="0"/>
            </a:p>
          </p:txBody>
        </p:sp>
      </p:grpSp>
      <p:grpSp>
        <p:nvGrpSpPr>
          <p:cNvPr id="18" name="Gruppo 17">
            <a:extLst>
              <a:ext uri="{FF2B5EF4-FFF2-40B4-BE49-F238E27FC236}">
                <a16:creationId xmlns:a16="http://schemas.microsoft.com/office/drawing/2014/main" id="{D5C1F5AD-3249-9EA8-D259-DAA3283CC536}"/>
              </a:ext>
            </a:extLst>
          </p:cNvPr>
          <p:cNvGrpSpPr/>
          <p:nvPr/>
        </p:nvGrpSpPr>
        <p:grpSpPr>
          <a:xfrm>
            <a:off x="6861407" y="1039706"/>
            <a:ext cx="5183869" cy="1415170"/>
            <a:chOff x="218179" y="1294186"/>
            <a:chExt cx="5605024" cy="1564575"/>
          </a:xfrm>
        </p:grpSpPr>
        <p:sp>
          <p:nvSpPr>
            <p:cNvPr id="8" name="CasellaDiTesto 7">
              <a:extLst>
                <a:ext uri="{FF2B5EF4-FFF2-40B4-BE49-F238E27FC236}">
                  <a16:creationId xmlns:a16="http://schemas.microsoft.com/office/drawing/2014/main" id="{2ABDBA4D-2055-B3F3-5B13-AA7A7B252EB5}"/>
                </a:ext>
              </a:extLst>
            </p:cNvPr>
            <p:cNvSpPr txBox="1"/>
            <p:nvPr/>
          </p:nvSpPr>
          <p:spPr>
            <a:xfrm>
              <a:off x="218179" y="1935430"/>
              <a:ext cx="996749" cy="923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it-IT" dirty="0"/>
                <a:t>Z</a:t>
              </a:r>
            </a:p>
            <a:p>
              <a:pPr algn="ctr"/>
              <a:r>
                <a:rPr lang="it-IT" dirty="0"/>
                <a:t>Random</a:t>
              </a:r>
            </a:p>
            <a:p>
              <a:pPr algn="ctr"/>
              <a:r>
                <a:rPr lang="it-IT" dirty="0" err="1"/>
                <a:t>numbers</a:t>
              </a:r>
              <a:endParaRPr lang="it-IT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CasellaDiTesto 8">
                  <a:extLst>
                    <a:ext uri="{FF2B5EF4-FFF2-40B4-BE49-F238E27FC236}">
                      <a16:creationId xmlns:a16="http://schemas.microsoft.com/office/drawing/2014/main" id="{87D6706D-E3D8-B54E-4436-DA87CB1CCFCB}"/>
                    </a:ext>
                  </a:extLst>
                </p:cNvPr>
                <p:cNvSpPr txBox="1"/>
                <p:nvPr/>
              </p:nvSpPr>
              <p:spPr>
                <a:xfrm>
                  <a:off x="4686185" y="2018749"/>
                  <a:ext cx="785504" cy="71456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it-IT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oMath>
                    </m:oMathPara>
                  </a14:m>
                  <a:endParaRPr lang="it-IT" dirty="0"/>
                </a:p>
                <a:p>
                  <a:pPr algn="ctr"/>
                  <a:r>
                    <a:rPr lang="it-IT" dirty="0"/>
                    <a:t>Image</a:t>
                  </a:r>
                </a:p>
              </p:txBody>
            </p:sp>
          </mc:Choice>
          <mc:Fallback xmlns="">
            <p:sp>
              <p:nvSpPr>
                <p:cNvPr id="9" name="CasellaDiTesto 8">
                  <a:extLst>
                    <a:ext uri="{FF2B5EF4-FFF2-40B4-BE49-F238E27FC236}">
                      <a16:creationId xmlns:a16="http://schemas.microsoft.com/office/drawing/2014/main" id="{87D6706D-E3D8-B54E-4436-DA87CB1CCFC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86185" y="2018749"/>
                  <a:ext cx="785504" cy="714567"/>
                </a:xfrm>
                <a:prstGeom prst="rect">
                  <a:avLst/>
                </a:prstGeom>
                <a:blipFill>
                  <a:blip r:embed="rId3"/>
                  <a:stretch>
                    <a:fillRect l="-6667" r="-6667" b="-14151"/>
                  </a:stretch>
                </a:blipFill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CasellaDiTesto 9">
                  <a:extLst>
                    <a:ext uri="{FF2B5EF4-FFF2-40B4-BE49-F238E27FC236}">
                      <a16:creationId xmlns:a16="http://schemas.microsoft.com/office/drawing/2014/main" id="{4A8667C3-9DC2-BA0C-7A98-60106ABDDF95}"/>
                    </a:ext>
                  </a:extLst>
                </p:cNvPr>
                <p:cNvSpPr txBox="1"/>
                <p:nvPr/>
              </p:nvSpPr>
              <p:spPr>
                <a:xfrm>
                  <a:off x="1785091" y="1294186"/>
                  <a:ext cx="226241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it-IT" b="1" i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1" i="1" dirty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it-IT" b="1" i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sub>
                      </m:sSub>
                      <m:r>
                        <a:rPr lang="it-IT" b="1" i="1" dirty="0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it-IT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it-IT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it-IT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a14:m>
                  <a:r>
                    <a:rPr lang="it-IT" dirty="0"/>
                    <a:t>parameters</a:t>
                  </a:r>
                  <a14:m>
                    <m:oMath xmlns:m="http://schemas.openxmlformats.org/officeDocument/2006/math">
                      <m:r>
                        <a:rPr lang="it-IT" b="1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it-IT" dirty="0"/>
                </a:p>
              </p:txBody>
            </p:sp>
          </mc:Choice>
          <mc:Fallback xmlns="">
            <p:sp>
              <p:nvSpPr>
                <p:cNvPr id="10" name="CasellaDiTesto 9">
                  <a:extLst>
                    <a:ext uri="{FF2B5EF4-FFF2-40B4-BE49-F238E27FC236}">
                      <a16:creationId xmlns:a16="http://schemas.microsoft.com/office/drawing/2014/main" id="{4A8667C3-9DC2-BA0C-7A98-60106ABDDF9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85091" y="1294186"/>
                  <a:ext cx="2262414" cy="369332"/>
                </a:xfrm>
                <a:prstGeom prst="rect">
                  <a:avLst/>
                </a:prstGeom>
                <a:blipFill>
                  <a:blip r:embed="rId4"/>
                  <a:stretch>
                    <a:fillRect t="-11111" r="-5523" b="-40741"/>
                  </a:stretch>
                </a:blipFill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CasellaDiTesto 11">
              <a:extLst>
                <a:ext uri="{FF2B5EF4-FFF2-40B4-BE49-F238E27FC236}">
                  <a16:creationId xmlns:a16="http://schemas.microsoft.com/office/drawing/2014/main" id="{C44213A6-87EA-475B-CF7C-1E45435107D8}"/>
                </a:ext>
              </a:extLst>
            </p:cNvPr>
            <p:cNvSpPr txBox="1"/>
            <p:nvPr/>
          </p:nvSpPr>
          <p:spPr>
            <a:xfrm>
              <a:off x="302725" y="1362337"/>
              <a:ext cx="922729" cy="369332"/>
            </a:xfrm>
            <a:prstGeom prst="rect">
              <a:avLst/>
            </a:prstGeom>
            <a:noFill/>
            <a:ln w="28575">
              <a:solidFill>
                <a:srgbClr val="00B05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it-IT" b="1" dirty="0">
                  <a:latin typeface="Georgia" panose="02040502050405020303" pitchFamily="18" charset="0"/>
                </a:rPr>
                <a:t>Input</a:t>
              </a:r>
            </a:p>
          </p:txBody>
        </p:sp>
        <p:sp>
          <p:nvSpPr>
            <p:cNvPr id="13" name="CasellaDiTesto 12">
              <a:extLst>
                <a:ext uri="{FF2B5EF4-FFF2-40B4-BE49-F238E27FC236}">
                  <a16:creationId xmlns:a16="http://schemas.microsoft.com/office/drawing/2014/main" id="{8FDEB36B-5355-352B-A580-739328FBAB9F}"/>
                </a:ext>
              </a:extLst>
            </p:cNvPr>
            <p:cNvSpPr txBox="1"/>
            <p:nvPr/>
          </p:nvSpPr>
          <p:spPr>
            <a:xfrm>
              <a:off x="4433044" y="1383477"/>
              <a:ext cx="1390159" cy="408324"/>
            </a:xfrm>
            <a:prstGeom prst="rect">
              <a:avLst/>
            </a:prstGeom>
            <a:noFill/>
            <a:ln w="28575">
              <a:solidFill>
                <a:srgbClr val="00B05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it-IT" b="1" dirty="0">
                  <a:latin typeface="Georgia" panose="02040502050405020303" pitchFamily="18" charset="0"/>
                </a:rPr>
                <a:t>Output</a:t>
              </a:r>
            </a:p>
          </p:txBody>
        </p:sp>
      </p:grpSp>
      <p:grpSp>
        <p:nvGrpSpPr>
          <p:cNvPr id="19" name="Gruppo 18">
            <a:extLst>
              <a:ext uri="{FF2B5EF4-FFF2-40B4-BE49-F238E27FC236}">
                <a16:creationId xmlns:a16="http://schemas.microsoft.com/office/drawing/2014/main" id="{11FA3C19-2B8E-7885-4F85-31B27EAB4B8A}"/>
              </a:ext>
            </a:extLst>
          </p:cNvPr>
          <p:cNvGrpSpPr/>
          <p:nvPr/>
        </p:nvGrpSpPr>
        <p:grpSpPr>
          <a:xfrm>
            <a:off x="79094" y="1048008"/>
            <a:ext cx="6051688" cy="1868324"/>
            <a:chOff x="6558717" y="1650165"/>
            <a:chExt cx="6051688" cy="1868324"/>
          </a:xfrm>
        </p:grpSpPr>
        <p:pic>
          <p:nvPicPr>
            <p:cNvPr id="11" name="Immagine 10">
              <a:extLst>
                <a:ext uri="{FF2B5EF4-FFF2-40B4-BE49-F238E27FC236}">
                  <a16:creationId xmlns:a16="http://schemas.microsoft.com/office/drawing/2014/main" id="{F02B3537-B051-2924-F65B-9D9B324FCA3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03367" y="1985366"/>
              <a:ext cx="4063992" cy="1533123"/>
            </a:xfrm>
            <a:prstGeom prst="rect">
              <a:avLst/>
            </a:prstGeom>
          </p:spPr>
        </p:pic>
        <p:sp>
          <p:nvSpPr>
            <p:cNvPr id="14" name="CasellaDiTesto 13">
              <a:extLst>
                <a:ext uri="{FF2B5EF4-FFF2-40B4-BE49-F238E27FC236}">
                  <a16:creationId xmlns:a16="http://schemas.microsoft.com/office/drawing/2014/main" id="{97A1337D-4DAA-960D-0E27-072FE22AF71F}"/>
                </a:ext>
              </a:extLst>
            </p:cNvPr>
            <p:cNvSpPr txBox="1"/>
            <p:nvPr/>
          </p:nvSpPr>
          <p:spPr>
            <a:xfrm>
              <a:off x="6558717" y="2316288"/>
              <a:ext cx="726481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it-IT" dirty="0"/>
                <a:t>X</a:t>
              </a:r>
            </a:p>
            <a:p>
              <a:pPr algn="ctr"/>
              <a:r>
                <a:rPr lang="it-IT" dirty="0"/>
                <a:t>Input</a:t>
              </a:r>
            </a:p>
            <a:p>
              <a:pPr algn="ctr"/>
              <a:r>
                <a:rPr lang="it-IT" dirty="0"/>
                <a:t>Image</a:t>
              </a:r>
            </a:p>
          </p:txBody>
        </p:sp>
        <p:sp>
          <p:nvSpPr>
            <p:cNvPr id="15" name="CasellaDiTesto 14">
              <a:extLst>
                <a:ext uri="{FF2B5EF4-FFF2-40B4-BE49-F238E27FC236}">
                  <a16:creationId xmlns:a16="http://schemas.microsoft.com/office/drawing/2014/main" id="{0CD06284-F9EF-3AF3-D64D-119AB1C8F611}"/>
                </a:ext>
              </a:extLst>
            </p:cNvPr>
            <p:cNvSpPr txBox="1"/>
            <p:nvPr/>
          </p:nvSpPr>
          <p:spPr>
            <a:xfrm>
              <a:off x="11321270" y="2122253"/>
              <a:ext cx="1289135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it-IT" dirty="0"/>
                <a:t>Y</a:t>
              </a:r>
            </a:p>
            <a:p>
              <a:pPr algn="ctr"/>
              <a:r>
                <a:rPr lang="it-IT" dirty="0"/>
                <a:t>Class of the</a:t>
              </a:r>
            </a:p>
            <a:p>
              <a:pPr algn="ctr"/>
              <a:r>
                <a:rPr lang="it-IT" dirty="0"/>
                <a:t>Input image</a:t>
              </a:r>
            </a:p>
            <a:p>
              <a:pPr algn="ctr"/>
              <a:r>
                <a:rPr lang="it-IT" dirty="0"/>
                <a:t>(label)</a:t>
              </a:r>
            </a:p>
          </p:txBody>
        </p:sp>
        <p:sp>
          <p:nvSpPr>
            <p:cNvPr id="16" name="CasellaDiTesto 15">
              <a:extLst>
                <a:ext uri="{FF2B5EF4-FFF2-40B4-BE49-F238E27FC236}">
                  <a16:creationId xmlns:a16="http://schemas.microsoft.com/office/drawing/2014/main" id="{99A7A113-E0D2-CC93-4BDD-D4C39CA4DDBB}"/>
                </a:ext>
              </a:extLst>
            </p:cNvPr>
            <p:cNvSpPr txBox="1"/>
            <p:nvPr/>
          </p:nvSpPr>
          <p:spPr>
            <a:xfrm>
              <a:off x="6940127" y="1703506"/>
              <a:ext cx="922729" cy="369332"/>
            </a:xfrm>
            <a:prstGeom prst="rect">
              <a:avLst/>
            </a:prstGeom>
            <a:noFill/>
            <a:ln w="28575">
              <a:solidFill>
                <a:srgbClr val="00B05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it-IT" b="1" dirty="0">
                  <a:latin typeface="Georgia" panose="02040502050405020303" pitchFamily="18" charset="0"/>
                </a:rPr>
                <a:t>Input</a:t>
              </a:r>
            </a:p>
          </p:txBody>
        </p:sp>
        <p:sp>
          <p:nvSpPr>
            <p:cNvPr id="17" name="CasellaDiTesto 16">
              <a:extLst>
                <a:ext uri="{FF2B5EF4-FFF2-40B4-BE49-F238E27FC236}">
                  <a16:creationId xmlns:a16="http://schemas.microsoft.com/office/drawing/2014/main" id="{94DFC038-D1B0-DB12-FFBF-1922FC9CFEB8}"/>
                </a:ext>
              </a:extLst>
            </p:cNvPr>
            <p:cNvSpPr txBox="1"/>
            <p:nvPr/>
          </p:nvSpPr>
          <p:spPr>
            <a:xfrm>
              <a:off x="10802734" y="1650165"/>
              <a:ext cx="1070026" cy="369332"/>
            </a:xfrm>
            <a:prstGeom prst="rect">
              <a:avLst/>
            </a:prstGeom>
            <a:noFill/>
            <a:ln w="28575">
              <a:solidFill>
                <a:srgbClr val="00B05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it-IT" b="1" dirty="0">
                  <a:latin typeface="Georgia" panose="02040502050405020303" pitchFamily="18" charset="0"/>
                </a:rPr>
                <a:t>Output</a:t>
              </a:r>
            </a:p>
          </p:txBody>
        </p:sp>
      </p:grp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34184695-C533-98D3-2454-34C92A852537}"/>
              </a:ext>
            </a:extLst>
          </p:cNvPr>
          <p:cNvSpPr txBox="1"/>
          <p:nvPr/>
        </p:nvSpPr>
        <p:spPr>
          <a:xfrm rot="5400000">
            <a:off x="2980769" y="3241303"/>
            <a:ext cx="68640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dirty="0"/>
              <a:t>_______________________________________________</a:t>
            </a:r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A271EBD5-37CD-7759-9FFF-9D84BA391F58}"/>
              </a:ext>
            </a:extLst>
          </p:cNvPr>
          <p:cNvSpPr txBox="1"/>
          <p:nvPr/>
        </p:nvSpPr>
        <p:spPr>
          <a:xfrm>
            <a:off x="6000202" y="242219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2000" b="1" dirty="0">
                <a:latin typeface="Georgia" panose="02040502050405020303" pitchFamily="18" charset="0"/>
              </a:rPr>
              <a:t>Generative </a:t>
            </a:r>
            <a:r>
              <a:rPr lang="it-IT" sz="2000" b="1" dirty="0" err="1">
                <a:latin typeface="Georgia" panose="02040502050405020303" pitchFamily="18" charset="0"/>
              </a:rPr>
              <a:t>Problem</a:t>
            </a:r>
            <a:endParaRPr lang="it-IT" sz="2000" b="1" dirty="0">
              <a:latin typeface="Georgia" panose="02040502050405020303" pitchFamily="18" charset="0"/>
            </a:endParaRPr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9DF8F6BE-AB7D-3FCC-BA79-05F7B475A7E3}"/>
              </a:ext>
            </a:extLst>
          </p:cNvPr>
          <p:cNvSpPr txBox="1"/>
          <p:nvPr/>
        </p:nvSpPr>
        <p:spPr>
          <a:xfrm>
            <a:off x="95798" y="242219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2000" b="1" dirty="0" err="1">
                <a:latin typeface="Georgia" panose="02040502050405020303" pitchFamily="18" charset="0"/>
              </a:rPr>
              <a:t>Classification</a:t>
            </a:r>
            <a:r>
              <a:rPr lang="it-IT" sz="2000" b="1" dirty="0">
                <a:latin typeface="Georgia" panose="02040502050405020303" pitchFamily="18" charset="0"/>
              </a:rPr>
              <a:t> </a:t>
            </a:r>
            <a:r>
              <a:rPr lang="it-IT" sz="2000" b="1" dirty="0" err="1">
                <a:latin typeface="Georgia" panose="02040502050405020303" pitchFamily="18" charset="0"/>
              </a:rPr>
              <a:t>problem</a:t>
            </a:r>
            <a:endParaRPr lang="it-IT" sz="2000" b="1" dirty="0">
              <a:latin typeface="Georgia" panose="02040502050405020303" pitchFamily="18" charset="0"/>
            </a:endParaRPr>
          </a:p>
        </p:txBody>
      </p:sp>
      <p:sp>
        <p:nvSpPr>
          <p:cNvPr id="37" name="CasellaDiTesto 36">
            <a:extLst>
              <a:ext uri="{FF2B5EF4-FFF2-40B4-BE49-F238E27FC236}">
                <a16:creationId xmlns:a16="http://schemas.microsoft.com/office/drawing/2014/main" id="{E245F2E0-E844-07C1-5CC3-94623E761A77}"/>
              </a:ext>
            </a:extLst>
          </p:cNvPr>
          <p:cNvSpPr txBox="1"/>
          <p:nvPr/>
        </p:nvSpPr>
        <p:spPr>
          <a:xfrm>
            <a:off x="44270" y="2934007"/>
            <a:ext cx="642257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it-IT" b="1" dirty="0"/>
              <a:t>🔹 </a:t>
            </a:r>
            <a:r>
              <a:rPr lang="it-IT" b="1" dirty="0" err="1"/>
              <a:t>Classification</a:t>
            </a:r>
            <a:r>
              <a:rPr lang="it-IT" b="1" dirty="0"/>
              <a:t> (</a:t>
            </a:r>
            <a:r>
              <a:rPr lang="it-IT" b="1" dirty="0" err="1"/>
              <a:t>Feedforward</a:t>
            </a:r>
            <a:r>
              <a:rPr lang="it-IT" b="1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b="1" dirty="0" err="1"/>
              <a:t>Aim</a:t>
            </a:r>
            <a:r>
              <a:rPr lang="it-IT" b="1" dirty="0"/>
              <a:t>:</a:t>
            </a:r>
            <a:r>
              <a:rPr lang="it-IT" dirty="0"/>
              <a:t> </a:t>
            </a:r>
            <a:r>
              <a:rPr lang="it-IT" dirty="0" err="1"/>
              <a:t>assign</a:t>
            </a:r>
            <a:r>
              <a:rPr lang="it-IT" dirty="0"/>
              <a:t> a label to an input (e.g., image → class)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b="1" dirty="0"/>
              <a:t>Input:</a:t>
            </a:r>
            <a:r>
              <a:rPr lang="it-IT" dirty="0"/>
              <a:t> </a:t>
            </a:r>
            <a:r>
              <a:rPr lang="it-IT" dirty="0" err="1"/>
              <a:t>real</a:t>
            </a:r>
            <a:r>
              <a:rPr lang="it-IT" dirty="0"/>
              <a:t> data samples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b="1" dirty="0"/>
              <a:t>Output:</a:t>
            </a:r>
            <a:r>
              <a:rPr lang="it-IT" dirty="0"/>
              <a:t> class </a:t>
            </a:r>
            <a:r>
              <a:rPr lang="it-IT" dirty="0" err="1"/>
              <a:t>probabilities</a:t>
            </a:r>
            <a:r>
              <a:rPr lang="it-IT" dirty="0"/>
              <a:t> (e.g., via </a:t>
            </a:r>
            <a:r>
              <a:rPr lang="it-IT" dirty="0" err="1"/>
              <a:t>softmax</a:t>
            </a:r>
            <a:r>
              <a:rPr lang="it-IT" dirty="0"/>
              <a:t>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b="1" dirty="0"/>
              <a:t>Architecture:</a:t>
            </a:r>
            <a:r>
              <a:rPr lang="it-IT" dirty="0"/>
              <a:t> single network</a:t>
            </a:r>
            <a:br>
              <a:rPr lang="it-IT" dirty="0"/>
            </a:br>
            <a:r>
              <a:rPr lang="it-IT" dirty="0"/>
              <a:t>(Dense, CNN, etc.)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b="1" dirty="0"/>
              <a:t>Loss </a:t>
            </a:r>
            <a:r>
              <a:rPr lang="it-IT" b="1" dirty="0" err="1"/>
              <a:t>function</a:t>
            </a:r>
            <a:r>
              <a:rPr lang="it-IT" b="1" dirty="0"/>
              <a:t>:</a:t>
            </a:r>
            <a:r>
              <a:rPr lang="it-IT" dirty="0"/>
              <a:t> standard </a:t>
            </a:r>
            <a:r>
              <a:rPr lang="it-IT" b="1" dirty="0" err="1">
                <a:solidFill>
                  <a:srgbClr val="00B0F0"/>
                </a:solidFill>
              </a:rPr>
              <a:t>supervised</a:t>
            </a:r>
            <a:r>
              <a:rPr lang="it-IT" b="1" dirty="0">
                <a:solidFill>
                  <a:srgbClr val="00B0F0"/>
                </a:solidFill>
              </a:rPr>
              <a:t> </a:t>
            </a:r>
            <a:r>
              <a:rPr lang="it-IT" dirty="0" err="1"/>
              <a:t>losses</a:t>
            </a:r>
            <a:r>
              <a:rPr lang="it-IT" dirty="0"/>
              <a:t> (cross-</a:t>
            </a:r>
            <a:r>
              <a:rPr lang="it-IT" dirty="0" err="1"/>
              <a:t>entropy</a:t>
            </a:r>
            <a:r>
              <a:rPr lang="it-IT" dirty="0"/>
              <a:t>) </a:t>
            </a:r>
          </a:p>
          <a:p>
            <a:pPr>
              <a:buFont typeface="Arial" panose="020B0604020202020204" pitchFamily="34" charset="0"/>
              <a:buChar char="•"/>
            </a:pPr>
            <a:endParaRPr lang="it-IT" dirty="0"/>
          </a:p>
          <a:p>
            <a:pPr>
              <a:buFont typeface="Arial" panose="020B0604020202020204" pitchFamily="34" charset="0"/>
              <a:buChar char="•"/>
            </a:pPr>
            <a:r>
              <a:rPr lang="it-IT" b="1" dirty="0"/>
              <a:t>Training:</a:t>
            </a:r>
            <a:r>
              <a:rPr lang="it-IT" dirty="0"/>
              <a:t> </a:t>
            </a:r>
            <a:r>
              <a:rPr lang="it-IT" dirty="0" err="1"/>
              <a:t>straightforward</a:t>
            </a:r>
            <a:r>
              <a:rPr lang="it-IT" dirty="0"/>
              <a:t> </a:t>
            </a:r>
            <a:r>
              <a:rPr lang="it-IT" dirty="0" err="1"/>
              <a:t>optimization</a:t>
            </a:r>
            <a:r>
              <a:rPr lang="it-IT" dirty="0"/>
              <a:t> with </a:t>
            </a:r>
            <a:r>
              <a:rPr lang="it-IT" dirty="0" err="1"/>
              <a:t>backpropagation</a:t>
            </a:r>
            <a:endParaRPr lang="it-IT" dirty="0"/>
          </a:p>
          <a:p>
            <a:pPr>
              <a:buFont typeface="Arial" panose="020B0604020202020204" pitchFamily="34" charset="0"/>
              <a:buChar char="•"/>
            </a:pPr>
            <a:endParaRPr lang="it-IT" dirty="0"/>
          </a:p>
          <a:p>
            <a:pPr>
              <a:buFont typeface="Arial" panose="020B0604020202020204" pitchFamily="34" charset="0"/>
              <a:buChar char="•"/>
            </a:pPr>
            <a:r>
              <a:rPr lang="it-IT" b="1" dirty="0"/>
              <a:t>Evaluation:</a:t>
            </a:r>
            <a:r>
              <a:rPr lang="it-IT" dirty="0"/>
              <a:t> </a:t>
            </a:r>
            <a:r>
              <a:rPr lang="it-IT" dirty="0" err="1"/>
              <a:t>Accuracy</a:t>
            </a:r>
            <a:r>
              <a:rPr lang="it-IT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b="1" dirty="0" err="1"/>
              <a:t>Typical</a:t>
            </a:r>
            <a:r>
              <a:rPr lang="it-IT" b="1" dirty="0"/>
              <a:t> </a:t>
            </a:r>
            <a:r>
              <a:rPr lang="it-IT" b="1" dirty="0" err="1"/>
              <a:t>issue</a:t>
            </a:r>
            <a:r>
              <a:rPr lang="it-IT" b="1" dirty="0"/>
              <a:t>:</a:t>
            </a:r>
            <a:r>
              <a:rPr lang="it-IT" dirty="0"/>
              <a:t> </a:t>
            </a:r>
            <a:r>
              <a:rPr lang="it-IT" dirty="0" err="1"/>
              <a:t>overfitting</a:t>
            </a:r>
            <a:r>
              <a:rPr lang="it-IT" dirty="0"/>
              <a:t> vs </a:t>
            </a:r>
            <a:r>
              <a:rPr lang="it-IT" dirty="0" err="1"/>
              <a:t>underfitting</a:t>
            </a:r>
            <a:endParaRPr lang="it-IT" dirty="0"/>
          </a:p>
        </p:txBody>
      </p:sp>
      <p:sp>
        <p:nvSpPr>
          <p:cNvPr id="39" name="CasellaDiTesto 38">
            <a:extLst>
              <a:ext uri="{FF2B5EF4-FFF2-40B4-BE49-F238E27FC236}">
                <a16:creationId xmlns:a16="http://schemas.microsoft.com/office/drawing/2014/main" id="{52A12FCA-6D2C-C365-8189-F9A9E9BD367E}"/>
              </a:ext>
            </a:extLst>
          </p:cNvPr>
          <p:cNvSpPr txBox="1"/>
          <p:nvPr/>
        </p:nvSpPr>
        <p:spPr>
          <a:xfrm>
            <a:off x="6411666" y="2904979"/>
            <a:ext cx="578325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it-IT" b="1" dirty="0"/>
              <a:t>🔸 Generation (GAN Framework)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b="1" dirty="0" err="1"/>
              <a:t>Aim</a:t>
            </a:r>
            <a:r>
              <a:rPr lang="it-IT" b="1" dirty="0"/>
              <a:t>:</a:t>
            </a:r>
            <a:r>
              <a:rPr lang="it-IT" dirty="0"/>
              <a:t> generate new </a:t>
            </a:r>
            <a:r>
              <a:rPr lang="it-IT" dirty="0" err="1"/>
              <a:t>realistic</a:t>
            </a:r>
            <a:r>
              <a:rPr lang="it-IT" dirty="0"/>
              <a:t> Images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b="1" dirty="0"/>
              <a:t>Input:</a:t>
            </a:r>
            <a:r>
              <a:rPr lang="it-IT" dirty="0"/>
              <a:t> random </a:t>
            </a:r>
            <a:r>
              <a:rPr lang="it-IT" dirty="0" err="1"/>
              <a:t>noise</a:t>
            </a:r>
            <a:r>
              <a:rPr lang="it-IT" dirty="0"/>
              <a:t> </a:t>
            </a:r>
            <a:r>
              <a:rPr lang="it-IT" dirty="0" err="1"/>
              <a:t>vector</a:t>
            </a:r>
            <a:r>
              <a:rPr lang="it-IT" dirty="0"/>
              <a:t> (</a:t>
            </a:r>
            <a:r>
              <a:rPr lang="it-IT" dirty="0" err="1"/>
              <a:t>latent</a:t>
            </a:r>
            <a:r>
              <a:rPr lang="it-IT" dirty="0"/>
              <a:t> </a:t>
            </a:r>
            <a:r>
              <a:rPr lang="it-IT" dirty="0" err="1"/>
              <a:t>space</a:t>
            </a:r>
            <a:r>
              <a:rPr lang="it-IT" dirty="0"/>
              <a:t>),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b="1" dirty="0"/>
              <a:t>Output:</a:t>
            </a:r>
            <a:r>
              <a:rPr lang="it-IT" dirty="0"/>
              <a:t> </a:t>
            </a:r>
            <a:r>
              <a:rPr lang="it-IT" dirty="0" err="1"/>
              <a:t>synthetic</a:t>
            </a:r>
            <a:r>
              <a:rPr lang="it-IT" dirty="0"/>
              <a:t> data (Generator)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b="1" dirty="0"/>
              <a:t>Architecture:</a:t>
            </a:r>
            <a:r>
              <a:rPr lang="it-IT" dirty="0"/>
              <a:t> 2 networks (Generator + Discriminator) (Dense, CNN,  </a:t>
            </a:r>
            <a:r>
              <a:rPr lang="it-IT" dirty="0" err="1"/>
              <a:t>etc</a:t>
            </a:r>
            <a:r>
              <a:rPr lang="it-IT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b="1" dirty="0"/>
              <a:t>Loss </a:t>
            </a:r>
            <a:r>
              <a:rPr lang="it-IT" b="1" dirty="0" err="1"/>
              <a:t>function</a:t>
            </a:r>
            <a:r>
              <a:rPr lang="it-IT" b="1" dirty="0"/>
              <a:t>:</a:t>
            </a:r>
            <a:r>
              <a:rPr lang="it-IT" dirty="0"/>
              <a:t> </a:t>
            </a:r>
            <a:r>
              <a:rPr lang="it-IT" dirty="0" err="1"/>
              <a:t>adversarial</a:t>
            </a:r>
            <a:r>
              <a:rPr lang="it-IT" dirty="0"/>
              <a:t> </a:t>
            </a:r>
            <a:r>
              <a:rPr lang="it-IT" dirty="0" err="1"/>
              <a:t>loss</a:t>
            </a:r>
            <a:r>
              <a:rPr lang="it-IT" dirty="0"/>
              <a:t>, </a:t>
            </a:r>
            <a:r>
              <a:rPr lang="it-IT" b="1" dirty="0" err="1">
                <a:solidFill>
                  <a:srgbClr val="00B0F0"/>
                </a:solidFill>
              </a:rPr>
              <a:t>Unsupervised</a:t>
            </a:r>
            <a:r>
              <a:rPr lang="it-IT" dirty="0"/>
              <a:t> </a:t>
            </a:r>
          </a:p>
          <a:p>
            <a:r>
              <a:rPr lang="it-IT" dirty="0"/>
              <a:t>(game </a:t>
            </a:r>
            <a:r>
              <a:rPr lang="it-IT" dirty="0" err="1"/>
              <a:t>between</a:t>
            </a:r>
            <a:r>
              <a:rPr lang="it-IT" dirty="0"/>
              <a:t> </a:t>
            </a:r>
            <a:r>
              <a:rPr lang="it-IT" dirty="0" err="1"/>
              <a:t>two</a:t>
            </a:r>
            <a:r>
              <a:rPr lang="it-IT" dirty="0"/>
              <a:t> networks, </a:t>
            </a:r>
            <a:r>
              <a:rPr lang="it-IT" dirty="0" err="1"/>
              <a:t>we</a:t>
            </a:r>
            <a:r>
              <a:rPr lang="it-IT" dirty="0"/>
              <a:t> </a:t>
            </a:r>
            <a:r>
              <a:rPr lang="it-IT" dirty="0" err="1"/>
              <a:t>will</a:t>
            </a:r>
            <a:r>
              <a:rPr lang="it-IT" dirty="0"/>
              <a:t> </a:t>
            </a:r>
            <a:r>
              <a:rPr lang="it-IT" dirty="0" err="1"/>
              <a:t>see</a:t>
            </a:r>
            <a:r>
              <a:rPr lang="it-IT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b="1" dirty="0"/>
              <a:t>Training:</a:t>
            </a:r>
            <a:r>
              <a:rPr lang="it-IT" dirty="0"/>
              <a:t> </a:t>
            </a:r>
            <a:r>
              <a:rPr lang="it-IT" dirty="0" err="1"/>
              <a:t>alternating</a:t>
            </a:r>
            <a:r>
              <a:rPr lang="it-IT" dirty="0"/>
              <a:t> </a:t>
            </a:r>
            <a:r>
              <a:rPr lang="it-IT" dirty="0" err="1"/>
              <a:t>optimization</a:t>
            </a:r>
            <a:r>
              <a:rPr lang="it-IT" dirty="0"/>
              <a:t>, </a:t>
            </a:r>
            <a:r>
              <a:rPr lang="it-IT" dirty="0" err="1"/>
              <a:t>often</a:t>
            </a:r>
            <a:r>
              <a:rPr lang="it-IT" dirty="0"/>
              <a:t> </a:t>
            </a:r>
            <a:r>
              <a:rPr lang="it-IT" dirty="0" err="1"/>
              <a:t>unstable</a:t>
            </a:r>
            <a:r>
              <a:rPr lang="it-IT" dirty="0"/>
              <a:t>. </a:t>
            </a:r>
            <a:r>
              <a:rPr lang="it-IT" dirty="0" err="1"/>
              <a:t>Based</a:t>
            </a:r>
            <a:r>
              <a:rPr lang="it-IT" dirty="0"/>
              <a:t> on </a:t>
            </a:r>
            <a:r>
              <a:rPr lang="it-IT" dirty="0" err="1"/>
              <a:t>backpropagation</a:t>
            </a:r>
            <a:r>
              <a:rPr lang="it-IT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b="1" dirty="0"/>
              <a:t>Evaluation:</a:t>
            </a:r>
            <a:r>
              <a:rPr lang="it-IT" dirty="0"/>
              <a:t> </a:t>
            </a:r>
            <a:r>
              <a:rPr lang="it-IT" dirty="0" err="1"/>
              <a:t>indirect</a:t>
            </a:r>
            <a:r>
              <a:rPr lang="it-IT" dirty="0"/>
              <a:t> (visual </a:t>
            </a:r>
            <a:r>
              <a:rPr lang="it-IT" dirty="0" err="1"/>
              <a:t>quality</a:t>
            </a:r>
            <a:r>
              <a:rPr lang="it-IT" dirty="0"/>
              <a:t> of </a:t>
            </a:r>
            <a:r>
              <a:rPr lang="it-IT" dirty="0" err="1"/>
              <a:t>generated</a:t>
            </a:r>
            <a:r>
              <a:rPr lang="it-IT" dirty="0"/>
              <a:t> data)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b="1" dirty="0" err="1"/>
              <a:t>Typical</a:t>
            </a:r>
            <a:r>
              <a:rPr lang="it-IT" b="1" dirty="0"/>
              <a:t> </a:t>
            </a:r>
            <a:r>
              <a:rPr lang="it-IT" b="1" dirty="0" err="1"/>
              <a:t>issue</a:t>
            </a:r>
            <a:r>
              <a:rPr lang="it-IT" b="1" dirty="0"/>
              <a:t>:</a:t>
            </a:r>
            <a:r>
              <a:rPr lang="it-IT" dirty="0"/>
              <a:t> training </a:t>
            </a:r>
            <a:r>
              <a:rPr lang="it-IT" dirty="0" err="1"/>
              <a:t>instability</a:t>
            </a:r>
            <a:r>
              <a:rPr lang="it-IT" dirty="0"/>
              <a:t>, mode </a:t>
            </a:r>
            <a:r>
              <a:rPr lang="it-IT" dirty="0" err="1"/>
              <a:t>collapse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195237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3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08FD95-9959-9177-F457-38C006F62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asellaDiTesto 12">
                <a:extLst>
                  <a:ext uri="{FF2B5EF4-FFF2-40B4-BE49-F238E27FC236}">
                    <a16:creationId xmlns:a16="http://schemas.microsoft.com/office/drawing/2014/main" id="{0A8C6524-9927-177C-CF9F-E2898F80BC8D}"/>
                  </a:ext>
                </a:extLst>
              </p:cNvPr>
              <p:cNvSpPr txBox="1"/>
              <p:nvPr/>
            </p:nvSpPr>
            <p:spPr>
              <a:xfrm>
                <a:off x="2954784" y="0"/>
                <a:ext cx="628243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it-IT" sz="2800" b="1" dirty="0">
                    <a:latin typeface="Georgia" panose="02040502050405020303" pitchFamily="18" charset="0"/>
                  </a:rPr>
                  <a:t>GANs</a:t>
                </a:r>
                <a:r>
                  <a:rPr lang="it-IT" sz="2800" dirty="0">
                    <a:latin typeface="Georgia" panose="02040502050405020303" pitchFamily="18" charset="0"/>
                  </a:rPr>
                  <a:t>:</a:t>
                </a:r>
                <a:r>
                  <a:rPr lang="it-IT" sz="2800" b="1" dirty="0">
                    <a:latin typeface="Georgia" panose="02040502050405020303" pitchFamily="18" charset="0"/>
                  </a:rPr>
                  <a:t> </a:t>
                </a:r>
                <a:r>
                  <a:rPr lang="it-IT" sz="2400" dirty="0" err="1">
                    <a:latin typeface="Georgia" panose="02040502050405020303" pitchFamily="18" charset="0"/>
                  </a:rPr>
                  <a:t>We</a:t>
                </a:r>
                <a:r>
                  <a:rPr lang="it-IT" sz="2400" dirty="0">
                    <a:latin typeface="Georgia" panose="02040502050405020303" pitchFamily="18" charset="0"/>
                  </a:rPr>
                  <a:t> </a:t>
                </a:r>
                <a:r>
                  <a:rPr lang="it-IT" sz="2400" dirty="0" err="1">
                    <a:latin typeface="Georgia" panose="02040502050405020303" pitchFamily="18" charset="0"/>
                  </a:rPr>
                  <a:t>learn</a:t>
                </a:r>
                <a:r>
                  <a:rPr lang="it-IT" sz="2400" dirty="0">
                    <a:latin typeface="Georgia" panose="02040502050405020303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400" b="0" i="1" dirty="0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it-IT" sz="2400" b="0" i="1" dirty="0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it-IT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it-IT" sz="2400" i="1" dirty="0" err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it-IT" sz="2400" i="1" dirty="0" err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it-IT" sz="2400" i="1" dirty="0" err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it-IT" sz="2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it-IT" sz="2800" dirty="0">
                  <a:latin typeface="Georgia" panose="02040502050405020303" pitchFamily="18" charset="0"/>
                </a:endParaRPr>
              </a:p>
            </p:txBody>
          </p:sp>
        </mc:Choice>
        <mc:Fallback xmlns="">
          <p:sp>
            <p:nvSpPr>
              <p:cNvPr id="13" name="CasellaDiTesto 12">
                <a:extLst>
                  <a:ext uri="{FF2B5EF4-FFF2-40B4-BE49-F238E27FC236}">
                    <a16:creationId xmlns:a16="http://schemas.microsoft.com/office/drawing/2014/main" id="{0A8C6524-9927-177C-CF9F-E2898F80BC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4784" y="0"/>
                <a:ext cx="6282431" cy="523220"/>
              </a:xfrm>
              <a:prstGeom prst="rect">
                <a:avLst/>
              </a:prstGeom>
              <a:blipFill>
                <a:blip r:embed="rId2"/>
                <a:stretch>
                  <a:fillRect t="-11628" b="-31395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CasellaDiTesto 36">
                <a:extLst>
                  <a:ext uri="{FF2B5EF4-FFF2-40B4-BE49-F238E27FC236}">
                    <a16:creationId xmlns:a16="http://schemas.microsoft.com/office/drawing/2014/main" id="{702CA39B-B8D1-BA52-4E9D-945C6618F4B7}"/>
                  </a:ext>
                </a:extLst>
              </p:cNvPr>
              <p:cNvSpPr txBox="1"/>
              <p:nvPr/>
            </p:nvSpPr>
            <p:spPr>
              <a:xfrm>
                <a:off x="1776280" y="702628"/>
                <a:ext cx="2975994" cy="3798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it-IT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it-IT" b="0" i="1" dirty="0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sup>
                      </m:sSup>
                      <m:d>
                        <m:dPr>
                          <m:ctrlPr>
                            <a:rPr lang="it-IT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i="1" dirty="0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it-IT" i="1" dirty="0" smtClean="0">
                          <a:latin typeface="Cambria Math" panose="02040503050406030204" pitchFamily="18" charset="0"/>
                        </a:rPr>
                        <m:t>=∫</m:t>
                      </m:r>
                      <m:sSub>
                        <m:sSubPr>
                          <m:ctrlPr>
                            <a:rPr lang="it-IT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0" i="1" dirty="0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it-IT" b="0" i="1" dirty="0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d>
                        <m:dPr>
                          <m:ctrlPr>
                            <a:rPr lang="it-IT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i="1" dirty="0" err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e>
                          <m:r>
                            <a:rPr lang="it-IT" i="1" dirty="0" err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it-IT" b="0" i="1" dirty="0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it-IT" i="1" dirty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it-IT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i="1" dirty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it-IT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it-IT" i="1" dirty="0">
                          <a:latin typeface="Cambria Math" panose="02040503050406030204" pitchFamily="18" charset="0"/>
                        </a:rPr>
                        <m:t>𝑑𝑧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37" name="CasellaDiTesto 36">
                <a:extLst>
                  <a:ext uri="{FF2B5EF4-FFF2-40B4-BE49-F238E27FC236}">
                    <a16:creationId xmlns:a16="http://schemas.microsoft.com/office/drawing/2014/main" id="{702CA39B-B8D1-BA52-4E9D-945C6618F4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6280" y="702628"/>
                <a:ext cx="2975994" cy="379848"/>
              </a:xfrm>
              <a:prstGeom prst="rect">
                <a:avLst/>
              </a:prstGeom>
              <a:blipFill>
                <a:blip r:embed="rId3"/>
                <a:stretch>
                  <a:fillRect l="-613" b="-19048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CasellaDiTesto 40">
                <a:extLst>
                  <a:ext uri="{FF2B5EF4-FFF2-40B4-BE49-F238E27FC236}">
                    <a16:creationId xmlns:a16="http://schemas.microsoft.com/office/drawing/2014/main" id="{C581B6EA-22D0-A8DE-9992-94DE1F6FC0CB}"/>
                  </a:ext>
                </a:extLst>
              </p:cNvPr>
              <p:cNvSpPr txBox="1"/>
              <p:nvPr/>
            </p:nvSpPr>
            <p:spPr>
              <a:xfrm>
                <a:off x="320878" y="2145364"/>
                <a:ext cx="8823121" cy="14791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it-IT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it-IT" b="0" i="1" dirty="0" smtClean="0">
                            <a:latin typeface="Cambria Math" panose="02040503050406030204" pitchFamily="18" charset="0"/>
                          </a:rPr>
                          <m:t>𝐺</m:t>
                        </m:r>
                      </m:sup>
                    </m:sSup>
                    <m:d>
                      <m:dPr>
                        <m:ctrlPr>
                          <a:rPr lang="it-IT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r>
                  <a:rPr lang="it-IT" dirty="0"/>
                  <a:t> Distribution </a:t>
                </a:r>
                <a:r>
                  <a:rPr lang="it-IT" dirty="0" err="1"/>
                  <a:t>generated</a:t>
                </a:r>
                <a:r>
                  <a:rPr lang="it-IT" dirty="0"/>
                  <a:t> images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it-IT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it-IT" b="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  <m:d>
                      <m:dPr>
                        <m:ctrlPr>
                          <a:rPr lang="it-IT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r>
                  <a:rPr lang="it-IT" dirty="0"/>
                  <a:t> Distribuzione </a:t>
                </a:r>
                <a:r>
                  <a:rPr lang="it-IT" dirty="0" err="1"/>
                  <a:t>true</a:t>
                </a:r>
                <a:r>
                  <a:rPr lang="it-IT" dirty="0"/>
                  <a:t> images</a:t>
                </a:r>
              </a:p>
              <a:p>
                <a:endParaRPr lang="it-IT" dirty="0"/>
              </a:p>
              <a:p>
                <a:r>
                  <a:rPr lang="it-IT" dirty="0" err="1"/>
                  <a:t>We</a:t>
                </a:r>
                <a:r>
                  <a:rPr lang="it-IT" dirty="0"/>
                  <a:t> </a:t>
                </a:r>
                <a:r>
                  <a:rPr lang="it-IT" dirty="0" err="1"/>
                  <a:t>train</a:t>
                </a:r>
                <a:r>
                  <a:rPr lang="it-IT" dirty="0"/>
                  <a:t> our generator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dirty="0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it-IT" b="0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r>
                      <a:rPr lang="it-IT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it-IT" b="0" i="1" dirty="0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it-IT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it-IT" dirty="0"/>
                  <a:t> to make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𝐺</m:t>
                        </m:r>
                      </m:sup>
                    </m:sSup>
                    <m:d>
                      <m:dPr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r>
                  <a:rPr lang="it-IT" dirty="0"/>
                  <a:t> ‘converge’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it-IT" b="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  <m:d>
                      <m:dPr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r>
                  <a:rPr lang="it-IT" dirty="0"/>
                  <a:t> (</a:t>
                </a:r>
                <a:r>
                  <a:rPr lang="it-IT" dirty="0" err="1"/>
                  <a:t>what</a:t>
                </a:r>
                <a:r>
                  <a:rPr lang="it-IT" dirty="0"/>
                  <a:t> </a:t>
                </a:r>
                <a:r>
                  <a:rPr lang="it-IT" dirty="0" err="1"/>
                  <a:t>is</a:t>
                </a:r>
                <a:r>
                  <a:rPr lang="it-IT" dirty="0"/>
                  <a:t> the </a:t>
                </a:r>
                <a:r>
                  <a:rPr lang="it-IT" dirty="0" err="1"/>
                  <a:t>loss</a:t>
                </a:r>
                <a:r>
                  <a:rPr lang="it-IT" dirty="0"/>
                  <a:t>??)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it-IT" dirty="0"/>
              </a:p>
            </p:txBody>
          </p:sp>
        </mc:Choice>
        <mc:Fallback xmlns="">
          <p:sp>
            <p:nvSpPr>
              <p:cNvPr id="41" name="CasellaDiTesto 40">
                <a:extLst>
                  <a:ext uri="{FF2B5EF4-FFF2-40B4-BE49-F238E27FC236}">
                    <a16:creationId xmlns:a16="http://schemas.microsoft.com/office/drawing/2014/main" id="{C581B6EA-22D0-A8DE-9992-94DE1F6FC0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878" y="2145364"/>
                <a:ext cx="8823121" cy="1479123"/>
              </a:xfrm>
              <a:prstGeom prst="rect">
                <a:avLst/>
              </a:prstGeom>
              <a:blipFill>
                <a:blip r:embed="rId4"/>
                <a:stretch>
                  <a:fillRect l="-622" t="-246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CasellaDiTesto 41">
                <a:extLst>
                  <a:ext uri="{FF2B5EF4-FFF2-40B4-BE49-F238E27FC236}">
                    <a16:creationId xmlns:a16="http://schemas.microsoft.com/office/drawing/2014/main" id="{4AD7C4F1-F494-5A7A-3A76-A4286D40DD4E}"/>
                  </a:ext>
                </a:extLst>
              </p:cNvPr>
              <p:cNvSpPr txBox="1"/>
              <p:nvPr/>
            </p:nvSpPr>
            <p:spPr>
              <a:xfrm>
                <a:off x="320879" y="4048125"/>
                <a:ext cx="10759677" cy="9251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it-IT" dirty="0"/>
                  <a:t>We </a:t>
                </a:r>
                <a:r>
                  <a:rPr lang="it-IT" dirty="0" err="1"/>
                  <a:t>need</a:t>
                </a:r>
                <a:r>
                  <a:rPr lang="it-IT" dirty="0"/>
                  <a:t> to: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it-IT" dirty="0"/>
                  <a:t>Be </a:t>
                </a:r>
                <a:r>
                  <a:rPr lang="it-IT" dirty="0" err="1"/>
                  <a:t>able</a:t>
                </a:r>
                <a:r>
                  <a:rPr lang="it-IT" dirty="0"/>
                  <a:t> to ‘discriminare </a:t>
                </a:r>
                <a:r>
                  <a:rPr lang="it-IT" dirty="0" err="1"/>
                  <a:t>if</a:t>
                </a:r>
                <a:r>
                  <a:rPr lang="it-IT" dirty="0"/>
                  <a:t> X </a:t>
                </a:r>
                <a:r>
                  <a:rPr lang="it-IT" dirty="0" err="1"/>
                  <a:t>belongs</a:t>
                </a:r>
                <a:r>
                  <a:rPr lang="it-IT" dirty="0"/>
                  <a:t>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𝐺</m:t>
                        </m:r>
                      </m:sup>
                    </m:sSup>
                    <m:d>
                      <m:dPr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r>
                  <a:rPr lang="it-IT" dirty="0"/>
                  <a:t> 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it-IT" b="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  <m:d>
                      <m:dPr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r>
                  <a:rPr lang="it-IT" dirty="0"/>
                  <a:t>’			(</a:t>
                </a:r>
                <a:r>
                  <a:rPr lang="it-IT" dirty="0" err="1"/>
                  <a:t>Evaluate</a:t>
                </a:r>
                <a:r>
                  <a:rPr lang="it-IT" dirty="0"/>
                  <a:t> </a:t>
                </a:r>
                <a:r>
                  <a:rPr lang="it-IT" dirty="0" err="1"/>
                  <a:t>separation</a:t>
                </a:r>
                <a:r>
                  <a:rPr lang="it-IT" dirty="0"/>
                  <a:t> </a:t>
                </a:r>
                <a:r>
                  <a:rPr lang="it-IT" dirty="0" err="1"/>
                  <a:t>between</a:t>
                </a:r>
                <a:r>
                  <a:rPr lang="it-IT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𝐺</m:t>
                        </m:r>
                      </m:sup>
                    </m:sSup>
                  </m:oMath>
                </a14:m>
                <a:r>
                  <a:rPr lang="it-IT" dirty="0"/>
                  <a:t> 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</m:oMath>
                </a14:m>
                <a:r>
                  <a:rPr lang="it-IT" dirty="0"/>
                  <a:t>)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it-IT" dirty="0"/>
                  <a:t>Be </a:t>
                </a:r>
                <a:r>
                  <a:rPr lang="it-IT" dirty="0" err="1"/>
                  <a:t>able</a:t>
                </a:r>
                <a:r>
                  <a:rPr lang="it-IT" dirty="0"/>
                  <a:t> to </a:t>
                </a:r>
                <a:r>
                  <a:rPr lang="it-IT" dirty="0" err="1"/>
                  <a:t>train</a:t>
                </a:r>
                <a:r>
                  <a:rPr lang="it-IT" dirty="0"/>
                  <a:t> G to generate </a:t>
                </a:r>
                <a:r>
                  <a:rPr lang="it-IT" dirty="0" err="1"/>
                  <a:t>imeges</a:t>
                </a:r>
                <a:r>
                  <a:rPr lang="it-IT" dirty="0"/>
                  <a:t> </a:t>
                </a:r>
                <a:r>
                  <a:rPr lang="it-IT" dirty="0" err="1"/>
                  <a:t>that</a:t>
                </a:r>
                <a:r>
                  <a:rPr lang="it-IT" dirty="0"/>
                  <a:t> are </a:t>
                </a:r>
                <a:r>
                  <a:rPr lang="it-IT" dirty="0" err="1"/>
                  <a:t>similar</a:t>
                </a:r>
                <a:r>
                  <a:rPr lang="it-IT" dirty="0"/>
                  <a:t>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it-IT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it-IT" b="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  <m:d>
                      <m:dPr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r>
                  <a:rPr lang="it-IT" dirty="0"/>
                  <a:t> 		(Minimize distance between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𝐺</m:t>
                        </m:r>
                      </m:sup>
                    </m:sSup>
                  </m:oMath>
                </a14:m>
                <a:r>
                  <a:rPr lang="it-IT" dirty="0"/>
                  <a:t> 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</m:oMath>
                </a14:m>
                <a:r>
                  <a:rPr lang="it-IT" dirty="0"/>
                  <a:t>)</a:t>
                </a:r>
              </a:p>
            </p:txBody>
          </p:sp>
        </mc:Choice>
        <mc:Fallback xmlns="">
          <p:sp>
            <p:nvSpPr>
              <p:cNvPr id="42" name="CasellaDiTesto 41">
                <a:extLst>
                  <a:ext uri="{FF2B5EF4-FFF2-40B4-BE49-F238E27FC236}">
                    <a16:creationId xmlns:a16="http://schemas.microsoft.com/office/drawing/2014/main" id="{4AD7C4F1-F494-5A7A-3A76-A4286D40DD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879" y="4048125"/>
                <a:ext cx="10759677" cy="925125"/>
              </a:xfrm>
              <a:prstGeom prst="rect">
                <a:avLst/>
              </a:prstGeom>
              <a:blipFill>
                <a:blip r:embed="rId5"/>
                <a:stretch>
                  <a:fillRect l="-510" t="-3289" b="-921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CasellaDiTesto 1">
                <a:extLst>
                  <a:ext uri="{FF2B5EF4-FFF2-40B4-BE49-F238E27FC236}">
                    <a16:creationId xmlns:a16="http://schemas.microsoft.com/office/drawing/2014/main" id="{54AFEB1F-F63E-5AE2-FC1D-35B255765C18}"/>
                  </a:ext>
                </a:extLst>
              </p:cNvPr>
              <p:cNvSpPr txBox="1"/>
              <p:nvPr/>
            </p:nvSpPr>
            <p:spPr>
              <a:xfrm>
                <a:off x="684922" y="1071551"/>
                <a:ext cx="605790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dirty="0"/>
                  <a:t>This </a:t>
                </a:r>
                <a:r>
                  <a:rPr lang="it-IT" dirty="0" err="1"/>
                  <a:t>means</a:t>
                </a:r>
                <a:r>
                  <a:rPr lang="it-IT" dirty="0"/>
                  <a:t>: </a:t>
                </a:r>
                <a:r>
                  <a:rPr lang="it-IT" dirty="0" err="1"/>
                  <a:t>we</a:t>
                </a:r>
                <a:r>
                  <a:rPr lang="it-IT" dirty="0"/>
                  <a:t> start from z (a random state, random </a:t>
                </a:r>
                <a:r>
                  <a:rPr lang="it-IT" dirty="0" err="1"/>
                  <a:t>numbers</a:t>
                </a:r>
                <a:r>
                  <a:rPr lang="it-IT" dirty="0"/>
                  <a:t>) </a:t>
                </a:r>
                <a:br>
                  <a:rPr lang="it-IT" dirty="0"/>
                </a:br>
                <a:r>
                  <a:rPr lang="it-IT" dirty="0"/>
                  <a:t>and </a:t>
                </a:r>
                <a:r>
                  <a:rPr lang="it-IT" dirty="0" err="1"/>
                  <a:t>then</a:t>
                </a:r>
                <a:r>
                  <a:rPr lang="it-IT" dirty="0"/>
                  <a:t> </a:t>
                </a:r>
                <a:r>
                  <a:rPr lang="it-IT" dirty="0" err="1"/>
                  <a:t>we</a:t>
                </a:r>
                <a:r>
                  <a:rPr lang="it-IT" dirty="0"/>
                  <a:t> </a:t>
                </a:r>
                <a:r>
                  <a:rPr lang="it-IT" dirty="0" err="1"/>
                  <a:t>apply</a:t>
                </a:r>
                <a:r>
                  <a:rPr lang="it-IT" dirty="0"/>
                  <a:t> the </a:t>
                </a:r>
                <a:r>
                  <a:rPr lang="it-IT" dirty="0" err="1"/>
                  <a:t>transformation</a:t>
                </a:r>
                <a:r>
                  <a:rPr lang="it-IT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dirty="0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i="1" dirty="0" err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e>
                        <m:r>
                          <a:rPr lang="it-IT" i="1" dirty="0" err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r>
                  <a:rPr lang="it-IT" dirty="0"/>
                  <a:t> (the network)</a:t>
                </a:r>
              </a:p>
            </p:txBody>
          </p:sp>
        </mc:Choice>
        <mc:Fallback xmlns="">
          <p:sp>
            <p:nvSpPr>
              <p:cNvPr id="2" name="CasellaDiTesto 1">
                <a:extLst>
                  <a:ext uri="{FF2B5EF4-FFF2-40B4-BE49-F238E27FC236}">
                    <a16:creationId xmlns:a16="http://schemas.microsoft.com/office/drawing/2014/main" id="{54AFEB1F-F63E-5AE2-FC1D-35B255765C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922" y="1071551"/>
                <a:ext cx="6057901" cy="646331"/>
              </a:xfrm>
              <a:prstGeom prst="rect">
                <a:avLst/>
              </a:prstGeom>
              <a:blipFill>
                <a:blip r:embed="rId8"/>
                <a:stretch>
                  <a:fillRect l="-805" t="-5660" r="-1408" b="-1415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Gruppo 14">
            <a:extLst>
              <a:ext uri="{FF2B5EF4-FFF2-40B4-BE49-F238E27FC236}">
                <a16:creationId xmlns:a16="http://schemas.microsoft.com/office/drawing/2014/main" id="{A4279EB9-957D-E1EE-B04C-B1CD156A7D8A}"/>
              </a:ext>
            </a:extLst>
          </p:cNvPr>
          <p:cNvGrpSpPr/>
          <p:nvPr/>
        </p:nvGrpSpPr>
        <p:grpSpPr>
          <a:xfrm>
            <a:off x="7947806" y="857033"/>
            <a:ext cx="2823021" cy="914400"/>
            <a:chOff x="6119496" y="5832672"/>
            <a:chExt cx="2823021" cy="914400"/>
          </a:xfrm>
        </p:grpSpPr>
        <p:pic>
          <p:nvPicPr>
            <p:cNvPr id="16" name="Immagine 15">
              <a:extLst>
                <a:ext uri="{FF2B5EF4-FFF2-40B4-BE49-F238E27FC236}">
                  <a16:creationId xmlns:a16="http://schemas.microsoft.com/office/drawing/2014/main" id="{84326C41-EFB4-1C73-ED17-223D2E99C21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79397" y="5832672"/>
              <a:ext cx="2151565" cy="811668"/>
            </a:xfrm>
            <a:prstGeom prst="rect">
              <a:avLst/>
            </a:prstGeom>
          </p:spPr>
        </p:pic>
        <p:sp>
          <p:nvSpPr>
            <p:cNvPr id="17" name="Rettangolo 16">
              <a:extLst>
                <a:ext uri="{FF2B5EF4-FFF2-40B4-BE49-F238E27FC236}">
                  <a16:creationId xmlns:a16="http://schemas.microsoft.com/office/drawing/2014/main" id="{B0A0AE8C-9197-B412-A391-1EDB4CC26244}"/>
                </a:ext>
              </a:extLst>
            </p:cNvPr>
            <p:cNvSpPr/>
            <p:nvPr/>
          </p:nvSpPr>
          <p:spPr>
            <a:xfrm>
              <a:off x="8028117" y="5832672"/>
              <a:ext cx="914400" cy="914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>
                <a:solidFill>
                  <a:schemeClr val="tx1"/>
                </a:solidFill>
              </a:endParaRPr>
            </a:p>
          </p:txBody>
        </p:sp>
        <p:cxnSp>
          <p:nvCxnSpPr>
            <p:cNvPr id="18" name="Connettore 2 17">
              <a:extLst>
                <a:ext uri="{FF2B5EF4-FFF2-40B4-BE49-F238E27FC236}">
                  <a16:creationId xmlns:a16="http://schemas.microsoft.com/office/drawing/2014/main" id="{1E7A4826-343C-4C76-ABB1-13239368C0A5}"/>
                </a:ext>
              </a:extLst>
            </p:cNvPr>
            <p:cNvCxnSpPr/>
            <p:nvPr/>
          </p:nvCxnSpPr>
          <p:spPr>
            <a:xfrm>
              <a:off x="8028117" y="6032727"/>
              <a:ext cx="22767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Connettore 2 18">
              <a:extLst>
                <a:ext uri="{FF2B5EF4-FFF2-40B4-BE49-F238E27FC236}">
                  <a16:creationId xmlns:a16="http://schemas.microsoft.com/office/drawing/2014/main" id="{70FFA9EE-CC9A-A107-1830-B0341C2F514C}"/>
                </a:ext>
              </a:extLst>
            </p:cNvPr>
            <p:cNvCxnSpPr/>
            <p:nvPr/>
          </p:nvCxnSpPr>
          <p:spPr>
            <a:xfrm>
              <a:off x="8008912" y="6238506"/>
              <a:ext cx="22767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Connettore 2 19">
              <a:extLst>
                <a:ext uri="{FF2B5EF4-FFF2-40B4-BE49-F238E27FC236}">
                  <a16:creationId xmlns:a16="http://schemas.microsoft.com/office/drawing/2014/main" id="{F2562AB7-1A7C-AEF8-12CD-7922EF60F564}"/>
                </a:ext>
              </a:extLst>
            </p:cNvPr>
            <p:cNvCxnSpPr/>
            <p:nvPr/>
          </p:nvCxnSpPr>
          <p:spPr>
            <a:xfrm>
              <a:off x="8018898" y="6418490"/>
              <a:ext cx="22767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1" name="CasellaDiTesto 20">
              <a:extLst>
                <a:ext uri="{FF2B5EF4-FFF2-40B4-BE49-F238E27FC236}">
                  <a16:creationId xmlns:a16="http://schemas.microsoft.com/office/drawing/2014/main" id="{9FCB6C72-C30D-929A-AA09-76D9F1EC8C89}"/>
                </a:ext>
              </a:extLst>
            </p:cNvPr>
            <p:cNvSpPr txBox="1"/>
            <p:nvPr/>
          </p:nvSpPr>
          <p:spPr>
            <a:xfrm>
              <a:off x="6119496" y="6023910"/>
              <a:ext cx="2808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dirty="0"/>
                <a:t>z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CasellaDiTesto 21">
                  <a:extLst>
                    <a:ext uri="{FF2B5EF4-FFF2-40B4-BE49-F238E27FC236}">
                      <a16:creationId xmlns:a16="http://schemas.microsoft.com/office/drawing/2014/main" id="{1CED8EEE-9D08-DA3A-1832-F686F5F79734}"/>
                    </a:ext>
                  </a:extLst>
                </p:cNvPr>
                <p:cNvSpPr txBox="1"/>
                <p:nvPr/>
              </p:nvSpPr>
              <p:spPr>
                <a:xfrm>
                  <a:off x="8236589" y="6032727"/>
                  <a:ext cx="40350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it-IT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oMath>
                    </m:oMathPara>
                  </a14:m>
                  <a:endParaRPr lang="it-IT" dirty="0"/>
                </a:p>
              </p:txBody>
            </p:sp>
          </mc:Choice>
          <mc:Fallback xmlns="">
            <p:sp>
              <p:nvSpPr>
                <p:cNvPr id="29" name="CasellaDiTesto 28">
                  <a:extLst>
                    <a:ext uri="{FF2B5EF4-FFF2-40B4-BE49-F238E27FC236}">
                      <a16:creationId xmlns:a16="http://schemas.microsoft.com/office/drawing/2014/main" id="{2A74F1AF-824D-00CD-44CB-90C6ABFDD1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36589" y="6032727"/>
                  <a:ext cx="403507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asellaDiTesto 22">
                <a:extLst>
                  <a:ext uri="{FF2B5EF4-FFF2-40B4-BE49-F238E27FC236}">
                    <a16:creationId xmlns:a16="http://schemas.microsoft.com/office/drawing/2014/main" id="{D93B569A-4A16-10B1-5B6E-5DCDCE7482D2}"/>
                  </a:ext>
                </a:extLst>
              </p:cNvPr>
              <p:cNvSpPr txBox="1"/>
              <p:nvPr/>
            </p:nvSpPr>
            <p:spPr>
              <a:xfrm>
                <a:off x="8219547" y="1642164"/>
                <a:ext cx="184890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b="1" i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1" i="1" dirty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it-IT" b="1" i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sub>
                      </m:sSub>
                      <m:r>
                        <a:rPr lang="it-IT" b="1" i="1" dirty="0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it-IT" b="1" i="1" dirty="0">
                  <a:solidFill>
                    <a:srgbClr val="00B0F0"/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it-IT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it-IT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a:rPr lang="it-IT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it-IT" dirty="0"/>
                  <a:t>parameters</a:t>
                </a:r>
                <a14:m>
                  <m:oMath xmlns:m="http://schemas.openxmlformats.org/officeDocument/2006/math">
                    <m:r>
                      <a:rPr lang="it-IT" b="1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it-IT" dirty="0"/>
              </a:p>
            </p:txBody>
          </p:sp>
        </mc:Choice>
        <mc:Fallback xmlns="">
          <p:sp>
            <p:nvSpPr>
              <p:cNvPr id="23" name="CasellaDiTesto 22">
                <a:extLst>
                  <a:ext uri="{FF2B5EF4-FFF2-40B4-BE49-F238E27FC236}">
                    <a16:creationId xmlns:a16="http://schemas.microsoft.com/office/drawing/2014/main" id="{D93B569A-4A16-10B1-5B6E-5DCDCE7482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9547" y="1642164"/>
                <a:ext cx="1848904" cy="646331"/>
              </a:xfrm>
              <a:prstGeom prst="rect">
                <a:avLst/>
              </a:prstGeom>
              <a:blipFill>
                <a:blip r:embed="rId11"/>
                <a:stretch>
                  <a:fillRect l="-987" r="-658" b="-1415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uppo 5">
            <a:extLst>
              <a:ext uri="{FF2B5EF4-FFF2-40B4-BE49-F238E27FC236}">
                <a16:creationId xmlns:a16="http://schemas.microsoft.com/office/drawing/2014/main" id="{CF194040-1CCD-E381-B4BC-C4FB3D2693FC}"/>
              </a:ext>
            </a:extLst>
          </p:cNvPr>
          <p:cNvGrpSpPr/>
          <p:nvPr/>
        </p:nvGrpSpPr>
        <p:grpSpPr>
          <a:xfrm>
            <a:off x="436621" y="5359204"/>
            <a:ext cx="5362575" cy="1165500"/>
            <a:chOff x="436621" y="5359204"/>
            <a:chExt cx="5362575" cy="1165500"/>
          </a:xfrm>
        </p:grpSpPr>
        <p:pic>
          <p:nvPicPr>
            <p:cNvPr id="3" name="Immagine 2">
              <a:extLst>
                <a:ext uri="{FF2B5EF4-FFF2-40B4-BE49-F238E27FC236}">
                  <a16:creationId xmlns:a16="http://schemas.microsoft.com/office/drawing/2014/main" id="{9D327C4D-B311-291A-5807-96925AF6C061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436621" y="5359204"/>
              <a:ext cx="5362575" cy="1152525"/>
            </a:xfrm>
            <a:prstGeom prst="rect">
              <a:avLst/>
            </a:prstGeom>
          </p:spPr>
        </p:pic>
        <p:sp>
          <p:nvSpPr>
            <p:cNvPr id="4" name="CasellaDiTesto 3">
              <a:extLst>
                <a:ext uri="{FF2B5EF4-FFF2-40B4-BE49-F238E27FC236}">
                  <a16:creationId xmlns:a16="http://schemas.microsoft.com/office/drawing/2014/main" id="{BC74D846-191C-FA7A-7772-803953B8DA12}"/>
                </a:ext>
              </a:extLst>
            </p:cNvPr>
            <p:cNvSpPr txBox="1"/>
            <p:nvPr/>
          </p:nvSpPr>
          <p:spPr>
            <a:xfrm>
              <a:off x="2514600" y="6155372"/>
              <a:ext cx="104246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dirty="0"/>
                <a:t>Network</a:t>
              </a:r>
            </a:p>
          </p:txBody>
        </p:sp>
      </p:grpSp>
      <p:grpSp>
        <p:nvGrpSpPr>
          <p:cNvPr id="8" name="Gruppo 7">
            <a:extLst>
              <a:ext uri="{FF2B5EF4-FFF2-40B4-BE49-F238E27FC236}">
                <a16:creationId xmlns:a16="http://schemas.microsoft.com/office/drawing/2014/main" id="{0C1C0714-3E62-116B-F755-F8BF8F7A98A6}"/>
              </a:ext>
            </a:extLst>
          </p:cNvPr>
          <p:cNvGrpSpPr/>
          <p:nvPr/>
        </p:nvGrpSpPr>
        <p:grpSpPr>
          <a:xfrm>
            <a:off x="7373355" y="4881793"/>
            <a:ext cx="3971925" cy="1962150"/>
            <a:chOff x="7373355" y="4881793"/>
            <a:chExt cx="3971925" cy="1962150"/>
          </a:xfrm>
        </p:grpSpPr>
        <p:pic>
          <p:nvPicPr>
            <p:cNvPr id="7" name="Immagine 6">
              <a:extLst>
                <a:ext uri="{FF2B5EF4-FFF2-40B4-BE49-F238E27FC236}">
                  <a16:creationId xmlns:a16="http://schemas.microsoft.com/office/drawing/2014/main" id="{64ACB7FB-A0BF-A5C7-75C7-52FFAA3F7FA3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7373355" y="4881793"/>
              <a:ext cx="3971925" cy="1962150"/>
            </a:xfrm>
            <a:prstGeom prst="rect">
              <a:avLst/>
            </a:prstGeom>
          </p:spPr>
        </p:pic>
        <p:sp>
          <p:nvSpPr>
            <p:cNvPr id="5" name="CasellaDiTesto 4">
              <a:extLst>
                <a:ext uri="{FF2B5EF4-FFF2-40B4-BE49-F238E27FC236}">
                  <a16:creationId xmlns:a16="http://schemas.microsoft.com/office/drawing/2014/main" id="{284BC962-2A71-8CA8-01FC-2E358AAC0523}"/>
                </a:ext>
              </a:extLst>
            </p:cNvPr>
            <p:cNvSpPr txBox="1"/>
            <p:nvPr/>
          </p:nvSpPr>
          <p:spPr>
            <a:xfrm>
              <a:off x="9041639" y="6000967"/>
              <a:ext cx="104246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dirty="0"/>
                <a:t>Network</a:t>
              </a:r>
            </a:p>
          </p:txBody>
        </p:sp>
      </p:grp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F9191B16-54A9-DD2D-F291-30D70E71FB25}"/>
              </a:ext>
            </a:extLst>
          </p:cNvPr>
          <p:cNvSpPr txBox="1"/>
          <p:nvPr/>
        </p:nvSpPr>
        <p:spPr>
          <a:xfrm>
            <a:off x="9041639" y="2513056"/>
            <a:ext cx="30477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Book</a:t>
            </a:r>
          </a:p>
          <a:p>
            <a:r>
              <a:rPr lang="it-IT" dirty="0">
                <a:solidFill>
                  <a:srgbClr val="00B050"/>
                </a:solidFill>
                <a:hlinkClick r:id="rId1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Deep Learning, Bishop 2024</a:t>
            </a:r>
            <a:r>
              <a:rPr lang="it-IT" dirty="0">
                <a:solidFill>
                  <a:srgbClr val="00B050"/>
                </a:solidFill>
              </a:rPr>
              <a:t>,</a:t>
            </a:r>
          </a:p>
          <a:p>
            <a:r>
              <a:rPr lang="it-IT" dirty="0" err="1"/>
              <a:t>Chapter</a:t>
            </a:r>
            <a:r>
              <a:rPr lang="it-IT" dirty="0"/>
              <a:t> 17</a:t>
            </a:r>
          </a:p>
        </p:txBody>
      </p:sp>
    </p:spTree>
    <p:extLst>
      <p:ext uri="{BB962C8B-B14F-4D97-AF65-F5344CB8AC3E}">
        <p14:creationId xmlns:p14="http://schemas.microsoft.com/office/powerpoint/2010/main" val="167936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4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B1C5FD-36B6-70D0-E8B9-CA878CFAF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3" name="CasellaDiTesto 42">
                <a:extLst>
                  <a:ext uri="{FF2B5EF4-FFF2-40B4-BE49-F238E27FC236}">
                    <a16:creationId xmlns:a16="http://schemas.microsoft.com/office/drawing/2014/main" id="{83E64315-BFAD-BE89-619E-F73DC36F1F8E}"/>
                  </a:ext>
                </a:extLst>
              </p:cNvPr>
              <p:cNvSpPr txBox="1"/>
              <p:nvPr/>
            </p:nvSpPr>
            <p:spPr>
              <a:xfrm>
                <a:off x="5999836" y="4163353"/>
                <a:ext cx="6094602" cy="1271054"/>
              </a:xfrm>
              <a:prstGeom prst="rect">
                <a:avLst/>
              </a:prstGeom>
              <a:noFill/>
            </p:spPr>
            <p:txBody>
              <a:bodyPr wrap="square" anchor="b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it-IT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it-IT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{"/>
                          <m:endChr m:val="}"/>
                          <m:ctrlPr>
                            <a:rPr lang="it-IT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1,0</m:t>
                          </m:r>
                        </m:e>
                      </m:d>
                      <m:r>
                        <a:rPr lang="it-IT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≔{</m:t>
                      </m:r>
                      <m:r>
                        <m:rPr>
                          <m:sty m:val="p"/>
                        </m:rPr>
                        <a:rPr lang="it-IT">
                          <a:latin typeface="Cambria Math" panose="02040503050406030204" pitchFamily="18" charset="0"/>
                        </a:rPr>
                        <m:t>Real</m:t>
                      </m:r>
                      <m:r>
                        <a:rPr lang="it-IT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it-IT">
                          <a:latin typeface="Cambria Math" panose="02040503050406030204" pitchFamily="18" charset="0"/>
                        </a:rPr>
                        <m:t>Generated</m:t>
                      </m:r>
                      <m:r>
                        <a:rPr lang="it-IT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}  </m:t>
                      </m:r>
                    </m:oMath>
                  </m:oMathPara>
                </a14:m>
                <a:endParaRPr lang="it-IT" sz="18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i="1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p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it-IT" i="1"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it-IT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lang="it-IT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it-IT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𝑙𝑜𝑔</m:t>
                          </m:r>
                          <m:r>
                            <a:rPr lang="it-IT"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it-IT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d>
                                <m:dPr>
                                  <m:ctrlPr>
                                    <a:rPr lang="it-IT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it-IT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it-IT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it-IT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  <m:r>
                            <a:rPr lang="it-IT">
                              <a:latin typeface="Cambria Math" panose="02040503050406030204" pitchFamily="18" charset="0"/>
                            </a:rPr>
                            <m:t>+ </m:t>
                          </m:r>
                          <m:d>
                            <m:dPr>
                              <m:ctrlPr>
                                <a:rPr lang="it-IT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it-IT">
                                  <a:latin typeface="Cambria Math" panose="02040503050406030204" pitchFamily="18" charset="0"/>
                                </a:rPr>
                                <m:t> −</m:t>
                              </m:r>
                              <m:sSub>
                                <m:sSubPr>
                                  <m:ctrlPr>
                                    <a:rPr lang="it-IT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it-IT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𝑙𝑜𝑔</m:t>
                          </m:r>
                          <m:r>
                            <a:rPr lang="it-IT"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it-IT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it-IT">
                                  <a:latin typeface="Cambria Math" panose="02040503050406030204" pitchFamily="18" charset="0"/>
                                </a:rPr>
                                <m:t> −</m:t>
                              </m:r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d>
                                <m:dPr>
                                  <m:ctrlPr>
                                    <a:rPr lang="it-IT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it-IT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it-IT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it-IT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nary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it-IT" dirty="0"/>
              </a:p>
              <a:p>
                <a:endParaRPr lang="it-IT" sz="200" dirty="0"/>
              </a:p>
              <a:p>
                <a:endParaRPr lang="it-IT" sz="2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it-IT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it-IT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18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it-IT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it-IT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∼</m:t>
                              </m:r>
                              <m:sSup>
                                <m:sSupPr>
                                  <m:ctrlPr>
                                    <a:rPr lang="it-IT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it-IT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p>
                                  <m:r>
                                    <a:rPr lang="it-IT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sup>
                              </m:sSup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it-IT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𝑙𝑜𝑔</m:t>
                              </m:r>
                              <m:r>
                                <a:rPr lang="it-IT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ctrlPr>
                                    <a:rPr lang="it-IT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it-IT" i="1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  <m:d>
                                    <m:dPr>
                                      <m:ctrlPr>
                                        <a:rPr lang="it-IT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it-IT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e>
                              </m:d>
                            </m:e>
                          </m:d>
                          <m:r>
                            <a:rPr lang="it-IT" b="0" i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b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∼</m:t>
                              </m:r>
                              <m:sSup>
                                <m:sSupPr>
                                  <m:ctrlP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p>
                                  <m: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sup>
                              </m:sSup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it-IT" sz="1800" b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𝑙𝑜𝑔</m:t>
                          </m:r>
                          <m:r>
                            <a:rPr lang="it-IT"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it-IT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it-IT">
                                  <a:latin typeface="Cambria Math" panose="02040503050406030204" pitchFamily="18" charset="0"/>
                                </a:rPr>
                                <m:t> −</m:t>
                              </m:r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d>
                                <m:dPr>
                                  <m:ctrlPr>
                                    <a:rPr lang="it-IT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d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d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43" name="CasellaDiTesto 42">
                <a:extLst>
                  <a:ext uri="{FF2B5EF4-FFF2-40B4-BE49-F238E27FC236}">
                    <a16:creationId xmlns:a16="http://schemas.microsoft.com/office/drawing/2014/main" id="{83E64315-BFAD-BE89-619E-F73DC36F1F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9836" y="4163353"/>
                <a:ext cx="6094602" cy="1271054"/>
              </a:xfrm>
              <a:prstGeom prst="rect">
                <a:avLst/>
              </a:prstGeom>
              <a:blipFill>
                <a:blip r:embed="rId2"/>
                <a:stretch>
                  <a:fillRect b="-3846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CasellaDiTesto 43">
                <a:extLst>
                  <a:ext uri="{FF2B5EF4-FFF2-40B4-BE49-F238E27FC236}">
                    <a16:creationId xmlns:a16="http://schemas.microsoft.com/office/drawing/2014/main" id="{5DC30FCC-3D58-56F5-5237-B90678C4D332}"/>
                  </a:ext>
                </a:extLst>
              </p:cNvPr>
              <p:cNvSpPr txBox="1"/>
              <p:nvPr/>
            </p:nvSpPr>
            <p:spPr>
              <a:xfrm>
                <a:off x="6260298" y="5027992"/>
                <a:ext cx="5855502" cy="41287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it-IT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it-IT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18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it-IT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it-IT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∼</m:t>
                              </m:r>
                              <m:sSup>
                                <m:sSupPr>
                                  <m:ctrlPr>
                                    <a:rPr lang="it-IT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it-IT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p>
                                  <m:r>
                                    <a:rPr lang="it-IT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sup>
                              </m:sSup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it-IT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𝑙𝑜𝑔</m:t>
                              </m:r>
                              <m:r>
                                <a:rPr lang="it-IT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ctrlPr>
                                    <a:rPr lang="it-IT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it-IT" i="1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  <m:d>
                                    <m:dPr>
                                      <m:ctrlPr>
                                        <a:rPr lang="it-IT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it-IT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e>
                              </m:d>
                            </m:e>
                          </m:d>
                          <m:r>
                            <a:rPr lang="it-IT" b="0" i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b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∼</m:t>
                              </m:r>
                              <m:sSub>
                                <m:sSubPr>
                                  <m:ctrlP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sub>
                              </m:sSub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it-IT" sz="1800" b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𝑙𝑜𝑔</m:t>
                          </m:r>
                          <m:r>
                            <a:rPr lang="it-IT"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it-IT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it-IT">
                                  <a:latin typeface="Cambria Math" panose="02040503050406030204" pitchFamily="18" charset="0"/>
                                </a:rPr>
                                <m:t> −</m:t>
                              </m:r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d>
                                <m:dPr>
                                  <m:ctrlPr>
                                    <a:rPr lang="it-IT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  <m: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  <m: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e>
                          </m:d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d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44" name="CasellaDiTesto 43">
                <a:extLst>
                  <a:ext uri="{FF2B5EF4-FFF2-40B4-BE49-F238E27FC236}">
                    <a16:creationId xmlns:a16="http://schemas.microsoft.com/office/drawing/2014/main" id="{5DC30FCC-3D58-56F5-5237-B90678C4D3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0298" y="5027992"/>
                <a:ext cx="5855502" cy="412870"/>
              </a:xfrm>
              <a:prstGeom prst="rect">
                <a:avLst/>
              </a:prstGeom>
              <a:blipFill>
                <a:blip r:embed="rId3"/>
                <a:stretch>
                  <a:fillRect b="-8824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asellaDiTesto 12">
                <a:extLst>
                  <a:ext uri="{FF2B5EF4-FFF2-40B4-BE49-F238E27FC236}">
                    <a16:creationId xmlns:a16="http://schemas.microsoft.com/office/drawing/2014/main" id="{79F60A17-77A9-308F-86D5-A2F1B2C9B94B}"/>
                  </a:ext>
                </a:extLst>
              </p:cNvPr>
              <p:cNvSpPr txBox="1"/>
              <p:nvPr/>
            </p:nvSpPr>
            <p:spPr>
              <a:xfrm>
                <a:off x="2954784" y="0"/>
                <a:ext cx="628243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it-IT" sz="2800" b="1" dirty="0">
                    <a:latin typeface="Georgia" panose="02040502050405020303" pitchFamily="18" charset="0"/>
                  </a:rPr>
                  <a:t>GANs</a:t>
                </a:r>
                <a:r>
                  <a:rPr lang="it-IT" sz="2800" dirty="0">
                    <a:latin typeface="Georgia" panose="02040502050405020303" pitchFamily="18" charset="0"/>
                  </a:rPr>
                  <a:t>:</a:t>
                </a:r>
                <a:r>
                  <a:rPr lang="it-IT" sz="2800" b="1" dirty="0">
                    <a:latin typeface="Georgia" panose="02040502050405020303" pitchFamily="18" charset="0"/>
                  </a:rPr>
                  <a:t> </a:t>
                </a:r>
                <a:r>
                  <a:rPr lang="it-IT" sz="2400" dirty="0">
                    <a:latin typeface="Georgia" panose="02040502050405020303" pitchFamily="18" charset="0"/>
                  </a:rPr>
                  <a:t>learning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400" b="0" i="1" dirty="0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it-IT" sz="2400" b="0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r>
                      <a:rPr lang="it-IT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it-IT" sz="2400" i="1" dirty="0" err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it-IT" sz="2400" i="1" dirty="0" err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it-IT" sz="2400" i="1" dirty="0" err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it-IT" sz="2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it-IT" sz="2800" dirty="0">
                  <a:latin typeface="Georgia" panose="02040502050405020303" pitchFamily="18" charset="0"/>
                </a:endParaRPr>
              </a:p>
            </p:txBody>
          </p:sp>
        </mc:Choice>
        <mc:Fallback xmlns="">
          <p:sp>
            <p:nvSpPr>
              <p:cNvPr id="13" name="CasellaDiTesto 12">
                <a:extLst>
                  <a:ext uri="{FF2B5EF4-FFF2-40B4-BE49-F238E27FC236}">
                    <a16:creationId xmlns:a16="http://schemas.microsoft.com/office/drawing/2014/main" id="{79F60A17-77A9-308F-86D5-A2F1B2C9B9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4784" y="0"/>
                <a:ext cx="6282431" cy="523220"/>
              </a:xfrm>
              <a:prstGeom prst="rect">
                <a:avLst/>
              </a:prstGeom>
              <a:blipFill>
                <a:blip r:embed="rId4"/>
                <a:stretch>
                  <a:fillRect t="-11628" b="-31395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Immagine 2">
            <a:extLst>
              <a:ext uri="{FF2B5EF4-FFF2-40B4-BE49-F238E27FC236}">
                <a16:creationId xmlns:a16="http://schemas.microsoft.com/office/drawing/2014/main" id="{F8E6A2BA-E4F2-BE39-83E0-6BEFEC7D5F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40021" y="803026"/>
            <a:ext cx="3038099" cy="652948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FCF700BB-16A6-CDEF-CB04-C3F41F8F266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5296" y="574486"/>
            <a:ext cx="2247000" cy="111002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CasellaDiTesto 1">
                <a:extLst>
                  <a:ext uri="{FF2B5EF4-FFF2-40B4-BE49-F238E27FC236}">
                    <a16:creationId xmlns:a16="http://schemas.microsoft.com/office/drawing/2014/main" id="{567A8239-15C4-A1C5-7405-E766F0A7C018}"/>
                  </a:ext>
                </a:extLst>
              </p:cNvPr>
              <p:cNvSpPr txBox="1"/>
              <p:nvPr/>
            </p:nvSpPr>
            <p:spPr>
              <a:xfrm>
                <a:off x="214199" y="2604515"/>
                <a:ext cx="8494633" cy="6481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+mj-lt"/>
                  <a:buAutoNum type="arabicPeriod"/>
                </a:pPr>
                <a:r>
                  <a:rPr lang="it-IT" dirty="0"/>
                  <a:t>Evaluate difference between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𝐺</m:t>
                        </m:r>
                      </m:sup>
                    </m:sSup>
                  </m:oMath>
                </a14:m>
                <a:r>
                  <a:rPr lang="it-IT" dirty="0"/>
                  <a:t> &amp;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</m:oMath>
                </a14:m>
                <a:r>
                  <a:rPr lang="it-IT" dirty="0"/>
                  <a:t>	→  	Train discriminator network			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it-IT" dirty="0" err="1"/>
                  <a:t>Minimize</a:t>
                </a:r>
                <a:r>
                  <a:rPr lang="it-IT" dirty="0"/>
                  <a:t> </a:t>
                </a:r>
                <a:r>
                  <a:rPr lang="it-IT" dirty="0" err="1"/>
                  <a:t>distance</a:t>
                </a:r>
                <a:r>
                  <a:rPr lang="it-IT" dirty="0"/>
                  <a:t> </a:t>
                </a:r>
                <a:r>
                  <a:rPr lang="it-IT" dirty="0" err="1"/>
                  <a:t>between</a:t>
                </a:r>
                <a:r>
                  <a:rPr lang="it-IT" dirty="0"/>
                  <a:t>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𝐺</m:t>
                        </m:r>
                      </m:sup>
                    </m:sSup>
                  </m:oMath>
                </a14:m>
                <a:r>
                  <a:rPr lang="it-IT" dirty="0"/>
                  <a:t> &amp;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  <m:r>
                      <a:rPr lang="it-IT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it-IT" dirty="0"/>
                  <a:t> 	→	Train generator network</a:t>
                </a:r>
              </a:p>
            </p:txBody>
          </p:sp>
        </mc:Choice>
        <mc:Fallback xmlns="">
          <p:sp>
            <p:nvSpPr>
              <p:cNvPr id="2" name="CasellaDiTesto 1">
                <a:extLst>
                  <a:ext uri="{FF2B5EF4-FFF2-40B4-BE49-F238E27FC236}">
                    <a16:creationId xmlns:a16="http://schemas.microsoft.com/office/drawing/2014/main" id="{567A8239-15C4-A1C5-7405-E766F0A7C0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199" y="2604515"/>
                <a:ext cx="8494633" cy="648126"/>
              </a:xfrm>
              <a:prstGeom prst="rect">
                <a:avLst/>
              </a:prstGeom>
              <a:blipFill>
                <a:blip r:embed="rId7"/>
                <a:stretch>
                  <a:fillRect l="-502" t="-4673" b="-13084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2" name="Gruppo 31">
            <a:extLst>
              <a:ext uri="{FF2B5EF4-FFF2-40B4-BE49-F238E27FC236}">
                <a16:creationId xmlns:a16="http://schemas.microsoft.com/office/drawing/2014/main" id="{1082D23B-129F-B2DC-DAC0-B8386B8E2246}"/>
              </a:ext>
            </a:extLst>
          </p:cNvPr>
          <p:cNvGrpSpPr/>
          <p:nvPr/>
        </p:nvGrpSpPr>
        <p:grpSpPr>
          <a:xfrm>
            <a:off x="11994" y="3790235"/>
            <a:ext cx="6309635" cy="2027769"/>
            <a:chOff x="11994" y="4016738"/>
            <a:chExt cx="6309635" cy="2027769"/>
          </a:xfrm>
        </p:grpSpPr>
        <p:cxnSp>
          <p:nvCxnSpPr>
            <p:cNvPr id="21" name="Connettore 2 20">
              <a:extLst>
                <a:ext uri="{FF2B5EF4-FFF2-40B4-BE49-F238E27FC236}">
                  <a16:creationId xmlns:a16="http://schemas.microsoft.com/office/drawing/2014/main" id="{E772BCFE-2D43-AD3F-96AE-17B875C305A7}"/>
                </a:ext>
              </a:extLst>
            </p:cNvPr>
            <p:cNvCxnSpPr>
              <a:cxnSpLocks/>
              <a:stCxn id="17" idx="0"/>
              <a:endCxn id="25" idx="1"/>
            </p:cNvCxnSpPr>
            <p:nvPr/>
          </p:nvCxnSpPr>
          <p:spPr>
            <a:xfrm flipV="1">
              <a:off x="3780251" y="4294058"/>
              <a:ext cx="1024931" cy="61057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" name="CasellaDiTesto 4">
              <a:extLst>
                <a:ext uri="{FF2B5EF4-FFF2-40B4-BE49-F238E27FC236}">
                  <a16:creationId xmlns:a16="http://schemas.microsoft.com/office/drawing/2014/main" id="{1594A819-ABA0-9D05-F8EE-CE6AA8AD960D}"/>
                </a:ext>
              </a:extLst>
            </p:cNvPr>
            <p:cNvSpPr txBox="1"/>
            <p:nvPr/>
          </p:nvSpPr>
          <p:spPr>
            <a:xfrm>
              <a:off x="214199" y="4083820"/>
              <a:ext cx="610743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indent="-342900">
                <a:buFont typeface="+mj-lt"/>
                <a:buAutoNum type="arabicPeriod"/>
              </a:pPr>
              <a:r>
                <a:rPr lang="it-IT" dirty="0"/>
                <a:t>Train discriminator network 			</a:t>
              </a:r>
            </a:p>
          </p:txBody>
        </p:sp>
        <p:grpSp>
          <p:nvGrpSpPr>
            <p:cNvPr id="6" name="Gruppo 5">
              <a:extLst>
                <a:ext uri="{FF2B5EF4-FFF2-40B4-BE49-F238E27FC236}">
                  <a16:creationId xmlns:a16="http://schemas.microsoft.com/office/drawing/2014/main" id="{9B07F226-11BF-7533-FB81-0DA9532C914F}"/>
                </a:ext>
              </a:extLst>
            </p:cNvPr>
            <p:cNvGrpSpPr/>
            <p:nvPr/>
          </p:nvGrpSpPr>
          <p:grpSpPr>
            <a:xfrm>
              <a:off x="1871890" y="4904633"/>
              <a:ext cx="4224109" cy="1139874"/>
              <a:chOff x="7634679" y="1303727"/>
              <a:chExt cx="4224109" cy="1139874"/>
            </a:xfrm>
          </p:grpSpPr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0A31CE70-E297-D5C2-634C-23B119D61C5B}"/>
                  </a:ext>
                </a:extLst>
              </p:cNvPr>
              <p:cNvSpPr txBox="1"/>
              <p:nvPr/>
            </p:nvSpPr>
            <p:spPr>
              <a:xfrm>
                <a:off x="7634679" y="1307064"/>
                <a:ext cx="733425" cy="369332"/>
              </a:xfrm>
              <a:prstGeom prst="rect">
                <a:avLst/>
              </a:prstGeom>
              <a:noFill/>
              <a:ln w="28575">
                <a:solidFill>
                  <a:srgbClr val="00B05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/>
                <a:r>
                  <a:rPr lang="it-IT" dirty="0"/>
                  <a:t>Data</a:t>
                </a:r>
              </a:p>
            </p:txBody>
          </p:sp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B548533B-B0C6-ADD8-0D89-87EEC919BB11}"/>
                  </a:ext>
                </a:extLst>
              </p:cNvPr>
              <p:cNvSpPr txBox="1"/>
              <p:nvPr/>
            </p:nvSpPr>
            <p:spPr>
              <a:xfrm>
                <a:off x="7682304" y="1935946"/>
                <a:ext cx="1762125" cy="369332"/>
              </a:xfrm>
              <a:prstGeom prst="rect">
                <a:avLst/>
              </a:prstGeom>
              <a:noFill/>
              <a:ln w="28575">
                <a:solidFill>
                  <a:srgbClr val="00B05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anchor="ctr">
                <a:spAutoFit/>
              </a:bodyPr>
              <a:lstStyle/>
              <a:p>
                <a:pPr algn="ctr"/>
                <a:r>
                  <a:rPr lang="it-IT" dirty="0"/>
                  <a:t>Discriminator</a:t>
                </a:r>
                <a:endParaRPr lang="it-IT" sz="300" dirty="0"/>
              </a:p>
            </p:txBody>
          </p:sp>
          <p:sp>
            <p:nvSpPr>
              <p:cNvPr id="10" name="CasellaDiTesto 9">
                <a:extLst>
                  <a:ext uri="{FF2B5EF4-FFF2-40B4-BE49-F238E27FC236}">
                    <a16:creationId xmlns:a16="http://schemas.microsoft.com/office/drawing/2014/main" id="{E79DA0C8-8669-5753-2A9E-64566214568F}"/>
                  </a:ext>
                </a:extLst>
              </p:cNvPr>
              <p:cNvSpPr txBox="1"/>
              <p:nvPr/>
            </p:nvSpPr>
            <p:spPr>
              <a:xfrm>
                <a:off x="10422593" y="1307064"/>
                <a:ext cx="1110265" cy="369332"/>
              </a:xfrm>
              <a:prstGeom prst="rect">
                <a:avLst/>
              </a:prstGeom>
              <a:noFill/>
              <a:ln w="28575">
                <a:solidFill>
                  <a:srgbClr val="00B05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anchor="ctr">
                <a:spAutoFit/>
              </a:bodyPr>
              <a:lstStyle/>
              <a:p>
                <a:pPr algn="ctr"/>
                <a:r>
                  <a:rPr lang="it-IT" dirty="0" err="1"/>
                  <a:t>LossD</a:t>
                </a:r>
                <a:endParaRPr lang="it-IT" sz="300" dirty="0"/>
              </a:p>
            </p:txBody>
          </p:sp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AC93BEB7-6E41-73BA-D09E-134E71268502}"/>
                  </a:ext>
                </a:extLst>
              </p:cNvPr>
              <p:cNvSpPr txBox="1"/>
              <p:nvPr/>
            </p:nvSpPr>
            <p:spPr>
              <a:xfrm>
                <a:off x="10096662" y="1797270"/>
                <a:ext cx="1762126" cy="646331"/>
              </a:xfrm>
              <a:prstGeom prst="rect">
                <a:avLst/>
              </a:prstGeom>
              <a:noFill/>
              <a:ln w="28575">
                <a:solidFill>
                  <a:srgbClr val="00B05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anchor="ctr">
                <a:spAutoFit/>
              </a:bodyPr>
              <a:lstStyle/>
              <a:p>
                <a:pPr algn="ctr"/>
                <a:r>
                  <a:rPr lang="it-IT" dirty="0"/>
                  <a:t>Weight update (discriminator)</a:t>
                </a:r>
                <a:endParaRPr lang="it-IT" sz="300" dirty="0"/>
              </a:p>
            </p:txBody>
          </p:sp>
          <p:cxnSp>
            <p:nvCxnSpPr>
              <p:cNvPr id="12" name="Connettore 2 11">
                <a:extLst>
                  <a:ext uri="{FF2B5EF4-FFF2-40B4-BE49-F238E27FC236}">
                    <a16:creationId xmlns:a16="http://schemas.microsoft.com/office/drawing/2014/main" id="{246DA053-EB14-08D4-9913-E2DCC9123596}"/>
                  </a:ext>
                </a:extLst>
              </p:cNvPr>
              <p:cNvCxnSpPr>
                <a:cxnSpLocks/>
                <a:stCxn id="10" idx="2"/>
                <a:endCxn id="11" idx="0"/>
              </p:cNvCxnSpPr>
              <p:nvPr/>
            </p:nvCxnSpPr>
            <p:spPr>
              <a:xfrm flipH="1">
                <a:off x="10977725" y="1676396"/>
                <a:ext cx="1" cy="12087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" name="Connettore 2 13">
                <a:extLst>
                  <a:ext uri="{FF2B5EF4-FFF2-40B4-BE49-F238E27FC236}">
                    <a16:creationId xmlns:a16="http://schemas.microsoft.com/office/drawing/2014/main" id="{E790DF2A-A2E2-B581-EDFA-61901B22B531}"/>
                  </a:ext>
                </a:extLst>
              </p:cNvPr>
              <p:cNvCxnSpPr>
                <a:cxnSpLocks/>
                <a:stCxn id="11" idx="1"/>
                <a:endCxn id="9" idx="3"/>
              </p:cNvCxnSpPr>
              <p:nvPr/>
            </p:nvCxnSpPr>
            <p:spPr>
              <a:xfrm flipH="1">
                <a:off x="9444429" y="2120436"/>
                <a:ext cx="652233" cy="17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" name="Connettore diritto 14">
                <a:extLst>
                  <a:ext uri="{FF2B5EF4-FFF2-40B4-BE49-F238E27FC236}">
                    <a16:creationId xmlns:a16="http://schemas.microsoft.com/office/drawing/2014/main" id="{FE7B1C9E-BD2D-8A4B-0114-982DF0D1A6A8}"/>
                  </a:ext>
                </a:extLst>
              </p:cNvPr>
              <p:cNvCxnSpPr>
                <a:cxnSpLocks/>
                <a:stCxn id="8" idx="3"/>
                <a:endCxn id="17" idx="1"/>
              </p:cNvCxnSpPr>
              <p:nvPr/>
            </p:nvCxnSpPr>
            <p:spPr>
              <a:xfrm flipV="1">
                <a:off x="8368104" y="1488393"/>
                <a:ext cx="516832" cy="3337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" name="Connettore a gomito 15">
                <a:extLst>
                  <a:ext uri="{FF2B5EF4-FFF2-40B4-BE49-F238E27FC236}">
                    <a16:creationId xmlns:a16="http://schemas.microsoft.com/office/drawing/2014/main" id="{9377387D-BC0E-3E49-F64C-8B1D2DB81EDF}"/>
                  </a:ext>
                </a:extLst>
              </p:cNvPr>
              <p:cNvCxnSpPr>
                <a:cxnSpLocks/>
                <a:stCxn id="9" idx="0"/>
                <a:endCxn id="17" idx="1"/>
              </p:cNvCxnSpPr>
              <p:nvPr/>
            </p:nvCxnSpPr>
            <p:spPr>
              <a:xfrm rot="5400000" flipH="1" flipV="1">
                <a:off x="8500375" y="1551386"/>
                <a:ext cx="447553" cy="321569"/>
              </a:xfrm>
              <a:prstGeom prst="bentConnector2">
                <a:avLst/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7" name="CasellaDiTesto 16">
                <a:extLst>
                  <a:ext uri="{FF2B5EF4-FFF2-40B4-BE49-F238E27FC236}">
                    <a16:creationId xmlns:a16="http://schemas.microsoft.com/office/drawing/2014/main" id="{C49D72A0-CD9B-5D9E-9771-08F078DC7E2F}"/>
                  </a:ext>
                </a:extLst>
              </p:cNvPr>
              <p:cNvSpPr txBox="1"/>
              <p:nvPr/>
            </p:nvSpPr>
            <p:spPr>
              <a:xfrm>
                <a:off x="8884936" y="1303727"/>
                <a:ext cx="1316208" cy="369332"/>
              </a:xfrm>
              <a:prstGeom prst="rect">
                <a:avLst/>
              </a:prstGeom>
              <a:noFill/>
              <a:ln w="28575">
                <a:solidFill>
                  <a:srgbClr val="00B05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anchor="ctr">
                <a:spAutoFit/>
              </a:bodyPr>
              <a:lstStyle/>
              <a:p>
                <a:pPr algn="ctr"/>
                <a:r>
                  <a:rPr lang="it-IT" dirty="0" err="1"/>
                  <a:t>Predictions</a:t>
                </a:r>
                <a:endParaRPr lang="it-IT" sz="300" dirty="0"/>
              </a:p>
            </p:txBody>
          </p:sp>
          <p:cxnSp>
            <p:nvCxnSpPr>
              <p:cNvPr id="18" name="Connettore 2 17">
                <a:extLst>
                  <a:ext uri="{FF2B5EF4-FFF2-40B4-BE49-F238E27FC236}">
                    <a16:creationId xmlns:a16="http://schemas.microsoft.com/office/drawing/2014/main" id="{08AC33EE-F64D-AE0A-CA7D-7ECA77DAF9E1}"/>
                  </a:ext>
                </a:extLst>
              </p:cNvPr>
              <p:cNvCxnSpPr>
                <a:cxnSpLocks/>
                <a:stCxn id="17" idx="3"/>
                <a:endCxn id="10" idx="1"/>
              </p:cNvCxnSpPr>
              <p:nvPr/>
            </p:nvCxnSpPr>
            <p:spPr>
              <a:xfrm>
                <a:off x="10201144" y="1488393"/>
                <a:ext cx="221449" cy="333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CasellaDiTesto 18">
                  <a:extLst>
                    <a:ext uri="{FF2B5EF4-FFF2-40B4-BE49-F238E27FC236}">
                      <a16:creationId xmlns:a16="http://schemas.microsoft.com/office/drawing/2014/main" id="{9630AF85-F4E8-6999-1E74-730D03D0C0D3}"/>
                    </a:ext>
                  </a:extLst>
                </p:cNvPr>
                <p:cNvSpPr txBox="1"/>
                <p:nvPr/>
              </p:nvSpPr>
              <p:spPr>
                <a:xfrm>
                  <a:off x="11994" y="5313490"/>
                  <a:ext cx="1825371" cy="64722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𝑋</m:t>
                      </m:r>
                    </m:oMath>
                  </a14:m>
                  <a:r>
                    <a:rPr lang="it-IT" b="0" dirty="0"/>
                    <a:t> </a:t>
                  </a:r>
                  <a:r>
                    <a:rPr lang="it-IT" b="0" dirty="0" err="1"/>
                    <a:t>taken</a:t>
                  </a:r>
                  <a:r>
                    <a:rPr lang="it-IT" b="0" dirty="0"/>
                    <a:t> from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𝑟</m:t>
                          </m:r>
                        </m:sup>
                      </m:sSup>
                    </m:oMath>
                  </a14:m>
                  <a:endParaRPr lang="it-IT" b="0" dirty="0"/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m:rPr>
                            <m:nor/>
                          </m:rPr>
                          <a:rPr lang="it-IT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it-IT" dirty="0"/>
                          <m:t>taken</m:t>
                        </m:r>
                        <m:r>
                          <m:rPr>
                            <m:nor/>
                          </m:rPr>
                          <a:rPr lang="it-IT" dirty="0"/>
                          <m:t> </m:t>
                        </m:r>
                        <m:r>
                          <m:rPr>
                            <m:nor/>
                          </m:rPr>
                          <a:rPr lang="it-IT" dirty="0"/>
                          <m:t>from</m:t>
                        </m:r>
                        <m:r>
                          <m:rPr>
                            <m:nor/>
                          </m:rPr>
                          <a:rPr lang="it-IT" dirty="0"/>
                          <m:t> </m:t>
                        </m:r>
                        <m:sSup>
                          <m:sSupPr>
                            <m:ctrlPr>
                              <a:rPr lang="it-IT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p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sup>
                        </m:sSup>
                      </m:oMath>
                    </m:oMathPara>
                  </a14:m>
                  <a:endParaRPr lang="it-IT" b="0" dirty="0"/>
                </a:p>
              </p:txBody>
            </p:sp>
          </mc:Choice>
          <mc:Fallback xmlns="">
            <p:sp>
              <p:nvSpPr>
                <p:cNvPr id="19" name="CasellaDiTesto 18">
                  <a:extLst>
                    <a:ext uri="{FF2B5EF4-FFF2-40B4-BE49-F238E27FC236}">
                      <a16:creationId xmlns:a16="http://schemas.microsoft.com/office/drawing/2014/main" id="{9630AF85-F4E8-6999-1E74-730D03D0C0D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994" y="5313490"/>
                  <a:ext cx="1825371" cy="647228"/>
                </a:xfrm>
                <a:prstGeom prst="rect">
                  <a:avLst/>
                </a:prstGeom>
                <a:blipFill>
                  <a:blip r:embed="rId8"/>
                  <a:stretch>
                    <a:fillRect t="-4673"/>
                  </a:stretch>
                </a:blipFill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CasellaDiTesto 24">
                  <a:extLst>
                    <a:ext uri="{FF2B5EF4-FFF2-40B4-BE49-F238E27FC236}">
                      <a16:creationId xmlns:a16="http://schemas.microsoft.com/office/drawing/2014/main" id="{B5856926-F1C2-E409-1100-5933C6145EEA}"/>
                    </a:ext>
                  </a:extLst>
                </p:cNvPr>
                <p:cNvSpPr txBox="1"/>
                <p:nvPr/>
              </p:nvSpPr>
              <p:spPr>
                <a:xfrm>
                  <a:off x="4805182" y="4016738"/>
                  <a:ext cx="1394281" cy="554639"/>
                </a:xfrm>
                <a:prstGeom prst="rect">
                  <a:avLst/>
                </a:prstGeom>
                <a:noFill/>
                <a:ln>
                  <a:solidFill>
                    <a:srgbClr val="00B050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it-IT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∈</m:t>
                            </m:r>
                            <m:sSup>
                              <m:sSupPr>
                                <m:ctrlP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p>
                                <m: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sup>
                            </m:sSup>
                          </m:e>
                        </m:d>
                      </m:oMath>
                    </m:oMathPara>
                  </a14:m>
                  <a:endParaRPr lang="it-IT" b="0" dirty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it-IT" sz="11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  <m:r>
                          <a:rPr lang="it-IT" sz="1100" i="1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it-IT" sz="11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it-IT" sz="11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it-IT" sz="1100" i="1">
                                <a:latin typeface="Cambria Math" panose="02040503050406030204" pitchFamily="18" charset="0"/>
                              </a:rPr>
                              <m:t>∈</m:t>
                            </m:r>
                            <m:sSup>
                              <m:sSupPr>
                                <m:ctrlPr>
                                  <a:rPr lang="it-IT" sz="11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it-IT" sz="1100" i="1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p>
                                <m:r>
                                  <a:rPr lang="it-IT" sz="1100" b="0" i="1" smtClean="0">
                                    <a:latin typeface="Cambria Math" panose="02040503050406030204" pitchFamily="18" charset="0"/>
                                  </a:rPr>
                                  <m:t>𝐺</m:t>
                                </m:r>
                              </m:sup>
                            </m:sSup>
                          </m:e>
                        </m:d>
                        <m:r>
                          <a:rPr lang="it-IT" sz="11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oMath>
                    </m:oMathPara>
                  </a14:m>
                  <a:endParaRPr lang="it-IT" sz="1100" dirty="0"/>
                </a:p>
              </p:txBody>
            </p:sp>
          </mc:Choice>
          <mc:Fallback xmlns="">
            <p:sp>
              <p:nvSpPr>
                <p:cNvPr id="25" name="CasellaDiTesto 24">
                  <a:extLst>
                    <a:ext uri="{FF2B5EF4-FFF2-40B4-BE49-F238E27FC236}">
                      <a16:creationId xmlns:a16="http://schemas.microsoft.com/office/drawing/2014/main" id="{B5856926-F1C2-E409-1100-5933C6145E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05182" y="4016738"/>
                  <a:ext cx="1394281" cy="554639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>
                  <a:solidFill>
                    <a:srgbClr val="00B050"/>
                  </a:solidFill>
                </a:ln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5" name="CasellaDiTesto 44">
                <a:extLst>
                  <a:ext uri="{FF2B5EF4-FFF2-40B4-BE49-F238E27FC236}">
                    <a16:creationId xmlns:a16="http://schemas.microsoft.com/office/drawing/2014/main" id="{9AA43EE8-B3D0-2238-D6D0-A1D33CDFD945}"/>
                  </a:ext>
                </a:extLst>
              </p:cNvPr>
              <p:cNvSpPr txBox="1"/>
              <p:nvPr/>
            </p:nvSpPr>
            <p:spPr>
              <a:xfrm>
                <a:off x="7429194" y="5616756"/>
                <a:ext cx="3703258" cy="8115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it-IT" dirty="0" err="1">
                    <a:latin typeface="Bookman Old Style" panose="02050604050505020204" pitchFamily="18" charset="0"/>
                  </a:rPr>
                  <a:t>Interpretable</a:t>
                </a:r>
                <a:r>
                  <a:rPr lang="it-IT" dirty="0">
                    <a:latin typeface="Bookman Old Style" panose="02050604050505020204" pitchFamily="18" charset="0"/>
                  </a:rPr>
                  <a:t> </a:t>
                </a:r>
                <a:r>
                  <a:rPr lang="it-IT" dirty="0" err="1">
                    <a:latin typeface="Bookman Old Style" panose="02050604050505020204" pitchFamily="18" charset="0"/>
                  </a:rPr>
                  <a:t>as</a:t>
                </a:r>
                <a:endParaRPr lang="it-IT" dirty="0">
                  <a:latin typeface="Bookman Old Style" panose="0205060405050502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m:rPr>
                          <m:nor/>
                        </m:rPr>
                        <a:rPr lang="it-IT" b="0" i="0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it-IT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it-IT" dirty="0">
                              <a:latin typeface="Bookman Old Style" panose="02050604050505020204" pitchFamily="18" charset="0"/>
                            </a:rPr>
                            <m:t>D</m:t>
                          </m:r>
                          <m:r>
                            <m:rPr>
                              <m:nor/>
                            </m:rPr>
                            <a:rPr lang="it-IT" b="0" i="0" dirty="0" smtClean="0">
                              <a:latin typeface="Bookman Old Style" panose="02050604050505020204" pitchFamily="18" charset="0"/>
                            </a:rPr>
                            <m:t>ivergence</m:t>
                          </m:r>
                        </m:e>
                        <m:sub>
                          <m:r>
                            <a:rPr lang="it-IT" b="0" i="1" dirty="0" smtClean="0">
                              <a:latin typeface="Cambria Math" panose="02040503050406030204" pitchFamily="18" charset="0"/>
                            </a:rPr>
                            <m:t>𝐽𝑆</m:t>
                          </m:r>
                        </m:sub>
                      </m:sSub>
                      <m:r>
                        <m:rPr>
                          <m:nor/>
                        </m:rPr>
                        <a:rPr lang="it-IT" dirty="0">
                          <a:latin typeface="Bookman Old Style" panose="0205060405050502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it-IT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it-IT" dirty="0"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it-IT" dirty="0">
                              <a:latin typeface="Cambria Math" panose="02040503050406030204" pitchFamily="18" charset="0"/>
                            </a:rPr>
                            <m:t>r</m:t>
                          </m:r>
                        </m:sup>
                      </m:sSup>
                      <m:r>
                        <a:rPr lang="it-IT" i="1" dirty="0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it-IT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it-IT" i="1" dirty="0">
                              <a:latin typeface="Cambria Math" panose="02040503050406030204" pitchFamily="18" charset="0"/>
                            </a:rPr>
                            <m:t>𝐺</m:t>
                          </m:r>
                        </m:sup>
                      </m:sSup>
                      <m:r>
                        <m:rPr>
                          <m:nor/>
                        </m:rPr>
                        <a:rPr lang="it-IT" dirty="0">
                          <a:latin typeface="Bookman Old Style" panose="02050604050505020204" pitchFamily="18" charset="0"/>
                        </a:rPr>
                        <m:t>)</m:t>
                      </m:r>
                    </m:oMath>
                  </m:oMathPara>
                </a14:m>
                <a:endParaRPr lang="it-IT" dirty="0">
                  <a:latin typeface="Bookman Old Style" panose="02050604050505020204" pitchFamily="18" charset="0"/>
                </a:endParaRPr>
              </a:p>
              <a:p>
                <a:pPr algn="ctr"/>
                <a:r>
                  <a:rPr lang="it-IT" sz="900" i="1" dirty="0">
                    <a:latin typeface="Verdana" panose="020B0604030504040204" pitchFamily="34" charset="0"/>
                    <a:ea typeface="Verdana" panose="020B0604030504040204" pitchFamily="34" charset="0"/>
                  </a:rPr>
                  <a:t>Jensen Shannon </a:t>
                </a:r>
                <a:r>
                  <a:rPr lang="it-IT" sz="900" i="1" dirty="0" err="1">
                    <a:latin typeface="Verdana" panose="020B0604030504040204" pitchFamily="34" charset="0"/>
                    <a:ea typeface="Verdana" panose="020B0604030504040204" pitchFamily="34" charset="0"/>
                  </a:rPr>
                  <a:t>divergence</a:t>
                </a:r>
                <a:r>
                  <a:rPr lang="it-IT" sz="900" i="1" dirty="0">
                    <a:latin typeface="Verdana" panose="020B0604030504040204" pitchFamily="34" charset="0"/>
                    <a:ea typeface="Verdana" panose="020B0604030504040204" pitchFamily="34" charset="0"/>
                  </a:rPr>
                  <a:t> (</a:t>
                </a:r>
                <a:r>
                  <a:rPr lang="it-IT" sz="900" i="1" dirty="0" err="1">
                    <a:latin typeface="Verdana" panose="020B0604030504040204" pitchFamily="34" charset="0"/>
                    <a:ea typeface="Verdana" panose="020B0604030504040204" pitchFamily="34" charset="0"/>
                  </a:rPr>
                  <a:t>distance</a:t>
                </a:r>
                <a:r>
                  <a:rPr lang="it-IT" sz="900" i="1" dirty="0"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it-IT" sz="900" i="1" dirty="0" err="1">
                    <a:latin typeface="Verdana" panose="020B0604030504040204" pitchFamily="34" charset="0"/>
                    <a:ea typeface="Verdana" panose="020B0604030504040204" pitchFamily="34" charset="0"/>
                  </a:rPr>
                  <a:t>between</a:t>
                </a:r>
                <a:r>
                  <a:rPr lang="it-IT" sz="900" i="1" dirty="0"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it-IT" sz="900" i="1" dirty="0" err="1">
                    <a:latin typeface="Verdana" panose="020B0604030504040204" pitchFamily="34" charset="0"/>
                    <a:ea typeface="Verdana" panose="020B0604030504040204" pitchFamily="34" charset="0"/>
                  </a:rPr>
                  <a:t>distributions</a:t>
                </a:r>
                <a:r>
                  <a:rPr lang="it-IT" sz="900" i="1" dirty="0">
                    <a:latin typeface="Verdana" panose="020B0604030504040204" pitchFamily="34" charset="0"/>
                    <a:ea typeface="Verdana" panose="020B0604030504040204" pitchFamily="34" charset="0"/>
                  </a:rPr>
                  <a:t>)</a:t>
                </a:r>
              </a:p>
            </p:txBody>
          </p:sp>
        </mc:Choice>
        <mc:Fallback>
          <p:sp>
            <p:nvSpPr>
              <p:cNvPr id="45" name="CasellaDiTesto 44">
                <a:extLst>
                  <a:ext uri="{FF2B5EF4-FFF2-40B4-BE49-F238E27FC236}">
                    <a16:creationId xmlns:a16="http://schemas.microsoft.com/office/drawing/2014/main" id="{9AA43EE8-B3D0-2238-D6D0-A1D33CDFD9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9194" y="5616756"/>
                <a:ext cx="3703258" cy="811504"/>
              </a:xfrm>
              <a:prstGeom prst="rect">
                <a:avLst/>
              </a:prstGeom>
              <a:blipFill>
                <a:blip r:embed="rId11"/>
                <a:stretch>
                  <a:fillRect t="-2985" b="-223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uppo 3">
            <a:extLst>
              <a:ext uri="{FF2B5EF4-FFF2-40B4-BE49-F238E27FC236}">
                <a16:creationId xmlns:a16="http://schemas.microsoft.com/office/drawing/2014/main" id="{7322E8C1-5355-6EB2-3A15-753BCE33F517}"/>
              </a:ext>
            </a:extLst>
          </p:cNvPr>
          <p:cNvGrpSpPr/>
          <p:nvPr/>
        </p:nvGrpSpPr>
        <p:grpSpPr>
          <a:xfrm>
            <a:off x="1137929" y="5974709"/>
            <a:ext cx="2543711" cy="765860"/>
            <a:chOff x="7505274" y="1338610"/>
            <a:chExt cx="4353514" cy="931785"/>
          </a:xfrm>
        </p:grpSpPr>
        <p:sp>
          <p:nvSpPr>
            <p:cNvPr id="22" name="CasellaDiTesto 21">
              <a:extLst>
                <a:ext uri="{FF2B5EF4-FFF2-40B4-BE49-F238E27FC236}">
                  <a16:creationId xmlns:a16="http://schemas.microsoft.com/office/drawing/2014/main" id="{3CD2CC69-3829-36DC-8D4F-4DCFB9214D1D}"/>
                </a:ext>
              </a:extLst>
            </p:cNvPr>
            <p:cNvSpPr txBox="1"/>
            <p:nvPr/>
          </p:nvSpPr>
          <p:spPr>
            <a:xfrm>
              <a:off x="7505274" y="1341834"/>
              <a:ext cx="862831" cy="299565"/>
            </a:xfrm>
            <a:prstGeom prst="rect">
              <a:avLst/>
            </a:prstGeom>
            <a:noFill/>
            <a:ln w="28575">
              <a:solidFill>
                <a:srgbClr val="00B05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it-IT" sz="1000" dirty="0"/>
                <a:t>Data</a:t>
              </a:r>
              <a:endParaRPr lang="it-IT" sz="1200" dirty="0"/>
            </a:p>
          </p:txBody>
        </p:sp>
        <p:sp>
          <p:nvSpPr>
            <p:cNvPr id="23" name="CasellaDiTesto 22">
              <a:extLst>
                <a:ext uri="{FF2B5EF4-FFF2-40B4-BE49-F238E27FC236}">
                  <a16:creationId xmlns:a16="http://schemas.microsoft.com/office/drawing/2014/main" id="{CEFFC24C-0859-F686-77FF-341ADA74ECB3}"/>
                </a:ext>
              </a:extLst>
            </p:cNvPr>
            <p:cNvSpPr txBox="1"/>
            <p:nvPr/>
          </p:nvSpPr>
          <p:spPr>
            <a:xfrm>
              <a:off x="8334163" y="1970830"/>
              <a:ext cx="1110264" cy="299565"/>
            </a:xfrm>
            <a:prstGeom prst="rect">
              <a:avLst/>
            </a:prstGeom>
            <a:noFill/>
            <a:ln w="28575">
              <a:solidFill>
                <a:srgbClr val="00B05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anchor="ctr">
              <a:spAutoFit/>
            </a:bodyPr>
            <a:lstStyle/>
            <a:p>
              <a:pPr algn="ctr"/>
              <a:r>
                <a:rPr lang="it-IT" sz="1000" dirty="0"/>
                <a:t>Model</a:t>
              </a:r>
              <a:endParaRPr lang="it-IT" sz="100" dirty="0"/>
            </a:p>
          </p:txBody>
        </p:sp>
        <p:sp>
          <p:nvSpPr>
            <p:cNvPr id="24" name="CasellaDiTesto 23">
              <a:extLst>
                <a:ext uri="{FF2B5EF4-FFF2-40B4-BE49-F238E27FC236}">
                  <a16:creationId xmlns:a16="http://schemas.microsoft.com/office/drawing/2014/main" id="{57567FAA-773A-F8F4-B991-7777FAF8D5F3}"/>
                </a:ext>
              </a:extLst>
            </p:cNvPr>
            <p:cNvSpPr txBox="1"/>
            <p:nvPr/>
          </p:nvSpPr>
          <p:spPr>
            <a:xfrm>
              <a:off x="10422593" y="1346822"/>
              <a:ext cx="1110264" cy="289814"/>
            </a:xfrm>
            <a:prstGeom prst="rect">
              <a:avLst/>
            </a:prstGeom>
            <a:noFill/>
            <a:ln w="28575">
              <a:solidFill>
                <a:srgbClr val="00B05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anchor="ctr">
              <a:spAutoFit/>
            </a:bodyPr>
            <a:lstStyle/>
            <a:p>
              <a:pPr algn="ctr"/>
              <a:r>
                <a:rPr lang="it-IT" sz="1000" dirty="0"/>
                <a:t>Loss</a:t>
              </a:r>
              <a:endParaRPr lang="it-IT" sz="100" dirty="0"/>
            </a:p>
          </p:txBody>
        </p:sp>
        <p:sp>
          <p:nvSpPr>
            <p:cNvPr id="26" name="CasellaDiTesto 25">
              <a:extLst>
                <a:ext uri="{FF2B5EF4-FFF2-40B4-BE49-F238E27FC236}">
                  <a16:creationId xmlns:a16="http://schemas.microsoft.com/office/drawing/2014/main" id="{41898F74-73D6-A961-7A30-6E00B20AD848}"/>
                </a:ext>
              </a:extLst>
            </p:cNvPr>
            <p:cNvSpPr txBox="1"/>
            <p:nvPr/>
          </p:nvSpPr>
          <p:spPr>
            <a:xfrm>
              <a:off x="10096660" y="1970652"/>
              <a:ext cx="1762128" cy="299565"/>
            </a:xfrm>
            <a:prstGeom prst="rect">
              <a:avLst/>
            </a:prstGeom>
            <a:noFill/>
            <a:ln w="28575">
              <a:solidFill>
                <a:srgbClr val="00B05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anchor="ctr">
              <a:spAutoFit/>
            </a:bodyPr>
            <a:lstStyle/>
            <a:p>
              <a:pPr algn="ctr"/>
              <a:r>
                <a:rPr lang="it-IT" sz="1000" dirty="0"/>
                <a:t>Weight update</a:t>
              </a:r>
              <a:endParaRPr lang="it-IT" sz="100" dirty="0"/>
            </a:p>
          </p:txBody>
        </p:sp>
        <p:cxnSp>
          <p:nvCxnSpPr>
            <p:cNvPr id="27" name="Connettore 2 26">
              <a:extLst>
                <a:ext uri="{FF2B5EF4-FFF2-40B4-BE49-F238E27FC236}">
                  <a16:creationId xmlns:a16="http://schemas.microsoft.com/office/drawing/2014/main" id="{63772EA2-6A14-3E4E-512C-0A2B43EE8430}"/>
                </a:ext>
              </a:extLst>
            </p:cNvPr>
            <p:cNvCxnSpPr>
              <a:cxnSpLocks/>
              <a:stCxn id="24" idx="2"/>
              <a:endCxn id="26" idx="0"/>
            </p:cNvCxnSpPr>
            <p:nvPr/>
          </p:nvCxnSpPr>
          <p:spPr>
            <a:xfrm flipH="1">
              <a:off x="10977724" y="1636636"/>
              <a:ext cx="2" cy="334016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Connettore 2 27">
              <a:extLst>
                <a:ext uri="{FF2B5EF4-FFF2-40B4-BE49-F238E27FC236}">
                  <a16:creationId xmlns:a16="http://schemas.microsoft.com/office/drawing/2014/main" id="{D5BE7E6E-DB77-FC4E-A5C1-38F041E4F2A2}"/>
                </a:ext>
              </a:extLst>
            </p:cNvPr>
            <p:cNvCxnSpPr>
              <a:cxnSpLocks/>
              <a:stCxn id="26" idx="1"/>
              <a:endCxn id="23" idx="3"/>
            </p:cNvCxnSpPr>
            <p:nvPr/>
          </p:nvCxnSpPr>
          <p:spPr>
            <a:xfrm flipH="1">
              <a:off x="9444427" y="2120435"/>
              <a:ext cx="652234" cy="178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Connettore diritto 28">
              <a:extLst>
                <a:ext uri="{FF2B5EF4-FFF2-40B4-BE49-F238E27FC236}">
                  <a16:creationId xmlns:a16="http://schemas.microsoft.com/office/drawing/2014/main" id="{58D55DD6-3377-C2AF-0ED4-E5C303476168}"/>
                </a:ext>
              </a:extLst>
            </p:cNvPr>
            <p:cNvCxnSpPr>
              <a:cxnSpLocks/>
              <a:stCxn id="22" idx="3"/>
            </p:cNvCxnSpPr>
            <p:nvPr/>
          </p:nvCxnSpPr>
          <p:spPr>
            <a:xfrm flipV="1">
              <a:off x="8368105" y="1486741"/>
              <a:ext cx="400601" cy="4876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Connettore a gomito 29">
              <a:extLst>
                <a:ext uri="{FF2B5EF4-FFF2-40B4-BE49-F238E27FC236}">
                  <a16:creationId xmlns:a16="http://schemas.microsoft.com/office/drawing/2014/main" id="{6177D17A-F6F9-FC14-BF67-8AD558681A92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8619012" y="1729869"/>
              <a:ext cx="487312" cy="4361"/>
            </a:xfrm>
            <a:prstGeom prst="bentConnector4">
              <a:avLst>
                <a:gd name="adj1" fmla="val 25025"/>
                <a:gd name="adj2" fmla="val 9079474"/>
              </a:avLst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31" name="CasellaDiTesto 30">
              <a:extLst>
                <a:ext uri="{FF2B5EF4-FFF2-40B4-BE49-F238E27FC236}">
                  <a16:creationId xmlns:a16="http://schemas.microsoft.com/office/drawing/2014/main" id="{C5DFD7DF-7573-E877-0392-D892ED04B63F}"/>
                </a:ext>
              </a:extLst>
            </p:cNvPr>
            <p:cNvSpPr txBox="1"/>
            <p:nvPr/>
          </p:nvSpPr>
          <p:spPr>
            <a:xfrm>
              <a:off x="8884937" y="1338610"/>
              <a:ext cx="1316208" cy="299565"/>
            </a:xfrm>
            <a:prstGeom prst="rect">
              <a:avLst/>
            </a:prstGeom>
            <a:noFill/>
            <a:ln w="28575">
              <a:solidFill>
                <a:srgbClr val="00B05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anchor="ctr">
              <a:spAutoFit/>
            </a:bodyPr>
            <a:lstStyle/>
            <a:p>
              <a:pPr algn="ctr"/>
              <a:r>
                <a:rPr lang="it-IT" sz="1000" dirty="0" err="1"/>
                <a:t>Prediction</a:t>
              </a:r>
              <a:endParaRPr lang="it-IT" sz="100" dirty="0"/>
            </a:p>
          </p:txBody>
        </p:sp>
        <p:cxnSp>
          <p:nvCxnSpPr>
            <p:cNvPr id="33" name="Connettore 2 32">
              <a:extLst>
                <a:ext uri="{FF2B5EF4-FFF2-40B4-BE49-F238E27FC236}">
                  <a16:creationId xmlns:a16="http://schemas.microsoft.com/office/drawing/2014/main" id="{3D9DE5C1-D015-996B-C7E4-19D99EF972CE}"/>
                </a:ext>
              </a:extLst>
            </p:cNvPr>
            <p:cNvCxnSpPr>
              <a:cxnSpLocks/>
              <a:stCxn id="31" idx="3"/>
              <a:endCxn id="24" idx="1"/>
            </p:cNvCxnSpPr>
            <p:nvPr/>
          </p:nvCxnSpPr>
          <p:spPr>
            <a:xfrm>
              <a:off x="10201145" y="1488393"/>
              <a:ext cx="221449" cy="3336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9" name="CasellaDiTesto 38">
            <a:extLst>
              <a:ext uri="{FF2B5EF4-FFF2-40B4-BE49-F238E27FC236}">
                <a16:creationId xmlns:a16="http://schemas.microsoft.com/office/drawing/2014/main" id="{172EE0D3-0AD1-65EB-4207-474F585B9520}"/>
              </a:ext>
            </a:extLst>
          </p:cNvPr>
          <p:cNvSpPr txBox="1"/>
          <p:nvPr/>
        </p:nvSpPr>
        <p:spPr>
          <a:xfrm>
            <a:off x="7014136" y="3441819"/>
            <a:ext cx="4446158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it-IT" sz="300" dirty="0">
              <a:solidFill>
                <a:schemeClr val="tx1"/>
              </a:solidFill>
            </a:endParaRPr>
          </a:p>
          <a:p>
            <a:pPr algn="ctr"/>
            <a:endParaRPr lang="it-IT" sz="300" dirty="0">
              <a:solidFill>
                <a:schemeClr val="tx1"/>
              </a:solidFill>
            </a:endParaRPr>
          </a:p>
          <a:p>
            <a:pPr algn="ctr"/>
            <a:endParaRPr lang="it-IT" sz="300" dirty="0">
              <a:solidFill>
                <a:schemeClr val="tx1"/>
              </a:solidFill>
            </a:endParaRPr>
          </a:p>
          <a:p>
            <a:pPr algn="ctr"/>
            <a:r>
              <a:rPr lang="it-IT" b="1" dirty="0">
                <a:solidFill>
                  <a:schemeClr val="tx1"/>
                </a:solidFill>
              </a:rPr>
              <a:t>Cross </a:t>
            </a:r>
            <a:r>
              <a:rPr lang="it-IT" b="1" dirty="0" err="1">
                <a:solidFill>
                  <a:schemeClr val="tx1"/>
                </a:solidFill>
              </a:rPr>
              <a:t>Entropy</a:t>
            </a:r>
            <a:endParaRPr lang="it-IT" b="1" dirty="0">
              <a:solidFill>
                <a:schemeClr val="tx1"/>
              </a:solidFill>
            </a:endParaRPr>
          </a:p>
          <a:p>
            <a:pPr algn="ctr"/>
            <a:r>
              <a:rPr lang="it-IT" dirty="0">
                <a:solidFill>
                  <a:schemeClr val="tx1"/>
                </a:solidFill>
              </a:rPr>
              <a:t>(Like a </a:t>
            </a:r>
            <a:r>
              <a:rPr lang="it-IT" dirty="0" err="1">
                <a:solidFill>
                  <a:schemeClr val="tx1"/>
                </a:solidFill>
              </a:rPr>
              <a:t>classification</a:t>
            </a:r>
            <a:r>
              <a:rPr lang="it-IT" dirty="0">
                <a:solidFill>
                  <a:schemeClr val="tx1"/>
                </a:solidFill>
              </a:rPr>
              <a:t> </a:t>
            </a:r>
            <a:r>
              <a:rPr lang="it-IT" dirty="0" err="1">
                <a:solidFill>
                  <a:schemeClr val="tx1"/>
                </a:solidFill>
              </a:rPr>
              <a:t>problem</a:t>
            </a:r>
            <a:r>
              <a:rPr lang="it-IT" dirty="0">
                <a:solidFill>
                  <a:schemeClr val="tx1"/>
                </a:solidFill>
              </a:rPr>
              <a:t>)</a:t>
            </a:r>
            <a:endParaRPr lang="it-IT" sz="3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CasellaDiTesto 33">
                <a:extLst>
                  <a:ext uri="{FF2B5EF4-FFF2-40B4-BE49-F238E27FC236}">
                    <a16:creationId xmlns:a16="http://schemas.microsoft.com/office/drawing/2014/main" id="{8815D260-921A-0A5E-CD51-463BC6C12A7E}"/>
                  </a:ext>
                </a:extLst>
              </p:cNvPr>
              <p:cNvSpPr txBox="1"/>
              <p:nvPr/>
            </p:nvSpPr>
            <p:spPr>
              <a:xfrm>
                <a:off x="214199" y="1447399"/>
                <a:ext cx="10759677" cy="9251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it-IT" dirty="0"/>
                  <a:t>We </a:t>
                </a:r>
                <a:r>
                  <a:rPr lang="it-IT" dirty="0" err="1"/>
                  <a:t>need</a:t>
                </a:r>
                <a:r>
                  <a:rPr lang="it-IT" dirty="0"/>
                  <a:t> to: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it-IT" dirty="0"/>
                  <a:t>Be </a:t>
                </a:r>
                <a:r>
                  <a:rPr lang="it-IT" dirty="0" err="1"/>
                  <a:t>able</a:t>
                </a:r>
                <a:r>
                  <a:rPr lang="it-IT" dirty="0"/>
                  <a:t> to ‘discriminare </a:t>
                </a:r>
                <a:r>
                  <a:rPr lang="it-IT" dirty="0" err="1"/>
                  <a:t>if</a:t>
                </a:r>
                <a:r>
                  <a:rPr lang="it-IT" dirty="0"/>
                  <a:t> X </a:t>
                </a:r>
                <a:r>
                  <a:rPr lang="it-IT" dirty="0" err="1"/>
                  <a:t>belongs</a:t>
                </a:r>
                <a:r>
                  <a:rPr lang="it-IT" dirty="0"/>
                  <a:t>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𝐺</m:t>
                        </m:r>
                      </m:sup>
                    </m:sSup>
                    <m:d>
                      <m:dPr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r>
                  <a:rPr lang="it-IT" dirty="0"/>
                  <a:t> 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it-IT" b="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  <m:d>
                      <m:dPr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r>
                  <a:rPr lang="it-IT" dirty="0"/>
                  <a:t>’			(</a:t>
                </a:r>
                <a:r>
                  <a:rPr lang="it-IT" dirty="0" err="1"/>
                  <a:t>Evaluate</a:t>
                </a:r>
                <a:r>
                  <a:rPr lang="it-IT" dirty="0"/>
                  <a:t> </a:t>
                </a:r>
                <a:r>
                  <a:rPr lang="it-IT" dirty="0" err="1"/>
                  <a:t>separation</a:t>
                </a:r>
                <a:r>
                  <a:rPr lang="it-IT" dirty="0"/>
                  <a:t> </a:t>
                </a:r>
                <a:r>
                  <a:rPr lang="it-IT" dirty="0" err="1"/>
                  <a:t>between</a:t>
                </a:r>
                <a:r>
                  <a:rPr lang="it-IT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𝐺</m:t>
                        </m:r>
                      </m:sup>
                    </m:sSup>
                  </m:oMath>
                </a14:m>
                <a:r>
                  <a:rPr lang="it-IT" dirty="0"/>
                  <a:t> 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</m:oMath>
                </a14:m>
                <a:r>
                  <a:rPr lang="it-IT" dirty="0"/>
                  <a:t>)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it-IT" dirty="0"/>
                  <a:t>Be </a:t>
                </a:r>
                <a:r>
                  <a:rPr lang="it-IT" dirty="0" err="1"/>
                  <a:t>able</a:t>
                </a:r>
                <a:r>
                  <a:rPr lang="it-IT" dirty="0"/>
                  <a:t> to </a:t>
                </a:r>
                <a:r>
                  <a:rPr lang="it-IT" dirty="0" err="1"/>
                  <a:t>train</a:t>
                </a:r>
                <a:r>
                  <a:rPr lang="it-IT" dirty="0"/>
                  <a:t> G to generate </a:t>
                </a:r>
                <a:r>
                  <a:rPr lang="it-IT" dirty="0" err="1"/>
                  <a:t>imeges</a:t>
                </a:r>
                <a:r>
                  <a:rPr lang="it-IT" dirty="0"/>
                  <a:t> </a:t>
                </a:r>
                <a:r>
                  <a:rPr lang="it-IT" dirty="0" err="1"/>
                  <a:t>that</a:t>
                </a:r>
                <a:r>
                  <a:rPr lang="it-IT" dirty="0"/>
                  <a:t> are </a:t>
                </a:r>
                <a:r>
                  <a:rPr lang="it-IT" dirty="0" err="1"/>
                  <a:t>similar</a:t>
                </a:r>
                <a:r>
                  <a:rPr lang="it-IT" dirty="0"/>
                  <a:t>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it-IT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it-IT" b="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  <m:d>
                      <m:dPr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r>
                  <a:rPr lang="it-IT" dirty="0"/>
                  <a:t> 		(Minimize distance between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𝐺</m:t>
                        </m:r>
                      </m:sup>
                    </m:sSup>
                  </m:oMath>
                </a14:m>
                <a:r>
                  <a:rPr lang="it-IT" dirty="0"/>
                  <a:t> 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</m:oMath>
                </a14:m>
                <a:r>
                  <a:rPr lang="it-IT" dirty="0"/>
                  <a:t>)</a:t>
                </a:r>
              </a:p>
            </p:txBody>
          </p:sp>
        </mc:Choice>
        <mc:Fallback xmlns="">
          <p:sp>
            <p:nvSpPr>
              <p:cNvPr id="34" name="CasellaDiTesto 33">
                <a:extLst>
                  <a:ext uri="{FF2B5EF4-FFF2-40B4-BE49-F238E27FC236}">
                    <a16:creationId xmlns:a16="http://schemas.microsoft.com/office/drawing/2014/main" id="{8815D260-921A-0A5E-CD51-463BC6C12A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199" y="1447399"/>
                <a:ext cx="10759677" cy="925125"/>
              </a:xfrm>
              <a:prstGeom prst="rect">
                <a:avLst/>
              </a:prstGeom>
              <a:blipFill>
                <a:blip r:embed="rId12"/>
                <a:stretch>
                  <a:fillRect l="-453" t="-3289" b="-921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Connettore a gomito 37">
            <a:extLst>
              <a:ext uri="{FF2B5EF4-FFF2-40B4-BE49-F238E27FC236}">
                <a16:creationId xmlns:a16="http://schemas.microsoft.com/office/drawing/2014/main" id="{24F73554-8517-C930-6D42-12CAA9FDF72B}"/>
              </a:ext>
            </a:extLst>
          </p:cNvPr>
          <p:cNvCxnSpPr>
            <a:stCxn id="19" idx="0"/>
            <a:endCxn id="8" idx="1"/>
          </p:cNvCxnSpPr>
          <p:nvPr/>
        </p:nvCxnSpPr>
        <p:spPr>
          <a:xfrm rot="5400000" flipH="1" flipV="1">
            <a:off x="1287858" y="4502955"/>
            <a:ext cx="220854" cy="947210"/>
          </a:xfrm>
          <a:prstGeom prst="bentConnector2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19DEEEA4-0DD2-6FE6-3918-F3EDF92D36CB}"/>
              </a:ext>
            </a:extLst>
          </p:cNvPr>
          <p:cNvSpPr txBox="1"/>
          <p:nvPr/>
        </p:nvSpPr>
        <p:spPr>
          <a:xfrm>
            <a:off x="9041639" y="2513056"/>
            <a:ext cx="30477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Book</a:t>
            </a:r>
          </a:p>
          <a:p>
            <a:r>
              <a:rPr lang="it-IT" dirty="0">
                <a:solidFill>
                  <a:srgbClr val="00B050"/>
                </a:solidFill>
                <a:hlinkClick r:id="rId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Deep Learning, Bishop 2024</a:t>
            </a:r>
            <a:r>
              <a:rPr lang="it-IT" dirty="0">
                <a:solidFill>
                  <a:srgbClr val="00B050"/>
                </a:solidFill>
              </a:rPr>
              <a:t>,</a:t>
            </a:r>
          </a:p>
          <a:p>
            <a:r>
              <a:rPr lang="it-IT" dirty="0" err="1"/>
              <a:t>Chapter</a:t>
            </a:r>
            <a:r>
              <a:rPr lang="it-IT" dirty="0"/>
              <a:t> 17</a:t>
            </a:r>
          </a:p>
        </p:txBody>
      </p:sp>
    </p:spTree>
    <p:extLst>
      <p:ext uri="{BB962C8B-B14F-4D97-AF65-F5344CB8AC3E}">
        <p14:creationId xmlns:p14="http://schemas.microsoft.com/office/powerpoint/2010/main" val="3451495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44" grpId="0" animBg="1"/>
      <p:bldP spid="2" grpId="0"/>
      <p:bldP spid="45" grpId="0"/>
      <p:bldP spid="3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60CAC3-78DB-D847-7F01-E441FB32D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1" name="CasellaDiTesto 30">
                <a:extLst>
                  <a:ext uri="{FF2B5EF4-FFF2-40B4-BE49-F238E27FC236}">
                    <a16:creationId xmlns:a16="http://schemas.microsoft.com/office/drawing/2014/main" id="{8753B2B8-33C2-DAE7-87EE-33EB1B513A8C}"/>
                  </a:ext>
                </a:extLst>
              </p:cNvPr>
              <p:cNvSpPr txBox="1"/>
              <p:nvPr/>
            </p:nvSpPr>
            <p:spPr>
              <a:xfrm>
                <a:off x="7299188" y="1594378"/>
                <a:ext cx="3392807" cy="6492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it-IT" dirty="0" err="1">
                    <a:latin typeface="Bookman Old Style" panose="02050604050505020204" pitchFamily="18" charset="0"/>
                  </a:rPr>
                  <a:t>Minimize</a:t>
                </a:r>
                <a:endParaRPr lang="it-IT" dirty="0">
                  <a:latin typeface="Bookman Old Style" panose="0205060405050502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it-IT" dirty="0" smtClean="0">
                          <a:latin typeface="Bookman Old Style" panose="02050604050505020204" pitchFamily="18" charset="0"/>
                        </a:rPr>
                        <m:t>Distan</m:t>
                      </m:r>
                      <m:r>
                        <m:rPr>
                          <m:nor/>
                        </m:rPr>
                        <a:rPr lang="it-IT" b="0" i="0" dirty="0" smtClean="0">
                          <a:latin typeface="Bookman Old Style" panose="02050604050505020204" pitchFamily="18" charset="0"/>
                        </a:rPr>
                        <m:t>ce</m:t>
                      </m:r>
                      <m:r>
                        <m:rPr>
                          <m:nor/>
                        </m:rPr>
                        <a:rPr lang="it-IT" dirty="0" smtClean="0">
                          <a:latin typeface="Bookman Old Style" panose="02050604050505020204" pitchFamily="18" charset="0"/>
                        </a:rPr>
                        <m:t> (</m:t>
                      </m:r>
                      <m:sSup>
                        <m:sSupPr>
                          <m:ctrlPr>
                            <a:rPr lang="it-IT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it-IT" dirty="0"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it-IT" dirty="0">
                              <a:latin typeface="Cambria Math" panose="02040503050406030204" pitchFamily="18" charset="0"/>
                            </a:rPr>
                            <m:t>r</m:t>
                          </m:r>
                        </m:sup>
                      </m:sSup>
                      <m:r>
                        <a:rPr lang="it-IT" i="1" dirty="0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it-IT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it-IT" i="1" dirty="0">
                              <a:latin typeface="Cambria Math" panose="02040503050406030204" pitchFamily="18" charset="0"/>
                            </a:rPr>
                            <m:t>𝐺</m:t>
                          </m:r>
                        </m:sup>
                      </m:sSup>
                      <m:r>
                        <m:rPr>
                          <m:nor/>
                        </m:rPr>
                        <a:rPr lang="it-IT" dirty="0">
                          <a:latin typeface="Bookman Old Style" panose="02050604050505020204" pitchFamily="18" charset="0"/>
                        </a:rPr>
                        <m:t>)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31" name="CasellaDiTesto 30">
                <a:extLst>
                  <a:ext uri="{FF2B5EF4-FFF2-40B4-BE49-F238E27FC236}">
                    <a16:creationId xmlns:a16="http://schemas.microsoft.com/office/drawing/2014/main" id="{8753B2B8-33C2-DAE7-87EE-33EB1B513A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9188" y="1594378"/>
                <a:ext cx="3392807" cy="649280"/>
              </a:xfrm>
              <a:prstGeom prst="rect">
                <a:avLst/>
              </a:prstGeom>
              <a:blipFill>
                <a:blip r:embed="rId2"/>
                <a:stretch>
                  <a:fillRect t="-4717" b="-1037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asellaDiTesto 14">
                <a:extLst>
                  <a:ext uri="{FF2B5EF4-FFF2-40B4-BE49-F238E27FC236}">
                    <a16:creationId xmlns:a16="http://schemas.microsoft.com/office/drawing/2014/main" id="{AF14F365-7DD2-70C4-B985-3AAB3A7BE0E9}"/>
                  </a:ext>
                </a:extLst>
              </p:cNvPr>
              <p:cNvSpPr txBox="1"/>
              <p:nvPr/>
            </p:nvSpPr>
            <p:spPr>
              <a:xfrm>
                <a:off x="7687808" y="1382104"/>
                <a:ext cx="2853510" cy="100251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sub>
                      </m:sSub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it-IT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it-IT" dirty="0">
                          <a:latin typeface="Bookman Old Style" panose="02050604050505020204" pitchFamily="18" charset="0"/>
                        </a:rPr>
                        <m:t>Distan</m:t>
                      </m:r>
                      <m:r>
                        <m:rPr>
                          <m:nor/>
                        </m:rPr>
                        <a:rPr lang="it-IT" b="0" i="0" dirty="0" smtClean="0">
                          <a:latin typeface="Bookman Old Style" panose="02050604050505020204" pitchFamily="18" charset="0"/>
                        </a:rPr>
                        <m:t>ce</m:t>
                      </m:r>
                      <m:r>
                        <m:rPr>
                          <m:nor/>
                        </m:rPr>
                        <a:rPr lang="it-IT" dirty="0">
                          <a:latin typeface="Bookman Old Style" panose="0205060405050502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it-IT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it-IT" dirty="0"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it-IT" dirty="0">
                              <a:latin typeface="Cambria Math" panose="02040503050406030204" pitchFamily="18" charset="0"/>
                            </a:rPr>
                            <m:t>r</m:t>
                          </m:r>
                        </m:sup>
                      </m:sSup>
                      <m:r>
                        <a:rPr lang="it-IT" i="1" dirty="0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it-IT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it-IT" i="1" dirty="0">
                              <a:latin typeface="Cambria Math" panose="02040503050406030204" pitchFamily="18" charset="0"/>
                            </a:rPr>
                            <m:t>𝐺</m:t>
                          </m:r>
                        </m:sup>
                      </m:sSup>
                      <m:r>
                        <m:rPr>
                          <m:nor/>
                        </m:rPr>
                        <a:rPr lang="it-IT" dirty="0">
                          <a:latin typeface="Bookman Old Style" panose="02050604050505020204" pitchFamily="18" charset="0"/>
                        </a:rPr>
                        <m:t>)</m:t>
                      </m:r>
                      <m:r>
                        <m:rPr>
                          <m:nor/>
                        </m:rPr>
                        <a:rPr lang="it-IT" b="0" i="0" dirty="0" smtClean="0">
                          <a:latin typeface="Bookman Old Style" panose="02050604050505020204" pitchFamily="18" charset="0"/>
                        </a:rPr>
                        <m:t>=</m:t>
                      </m:r>
                      <m:r>
                        <a:rPr lang="it-IT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it-IT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it-IT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r>
                        <a:rPr lang="it-IT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it-IT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it-IT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b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∼</m:t>
                          </m:r>
                          <m:sSub>
                            <m:sSubPr>
                              <m:ctrlPr>
                                <a:rPr lang="it-IT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it-IT" i="1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it-IT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it-IT" i="1">
                          <a:latin typeface="Cambria Math" panose="02040503050406030204" pitchFamily="18" charset="0"/>
                        </a:rPr>
                        <m:t>𝑙𝑜𝑔</m:t>
                      </m:r>
                      <m:r>
                        <a:rPr lang="it-IT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it-IT">
                              <a:latin typeface="Cambria Math" panose="02040503050406030204" pitchFamily="18" charset="0"/>
                            </a:rPr>
                            <m:t> −</m:t>
                          </m:r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𝐷</m:t>
                          </m:r>
                          <m:d>
                            <m:dPr>
                              <m:ctrlPr>
                                <a:rPr lang="it-IT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e>
                      </m:d>
                      <m:r>
                        <a:rPr lang="it-IT" i="1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15" name="CasellaDiTesto 14">
                <a:extLst>
                  <a:ext uri="{FF2B5EF4-FFF2-40B4-BE49-F238E27FC236}">
                    <a16:creationId xmlns:a16="http://schemas.microsoft.com/office/drawing/2014/main" id="{AF14F365-7DD2-70C4-B985-3AAB3A7BE0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7808" y="1382104"/>
                <a:ext cx="2853510" cy="1002519"/>
              </a:xfrm>
              <a:prstGeom prst="rect">
                <a:avLst/>
              </a:prstGeom>
              <a:blipFill>
                <a:blip r:embed="rId3"/>
                <a:stretch>
                  <a:fillRect r="-42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Immagine 2">
            <a:extLst>
              <a:ext uri="{FF2B5EF4-FFF2-40B4-BE49-F238E27FC236}">
                <a16:creationId xmlns:a16="http://schemas.microsoft.com/office/drawing/2014/main" id="{5051D4F5-8BCD-2514-7921-8262F7B627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959" y="1594378"/>
            <a:ext cx="3038099" cy="65294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CasellaDiTesto 1">
                <a:extLst>
                  <a:ext uri="{FF2B5EF4-FFF2-40B4-BE49-F238E27FC236}">
                    <a16:creationId xmlns:a16="http://schemas.microsoft.com/office/drawing/2014/main" id="{B6AFB741-7E8E-3F25-432E-B7097D910D0C}"/>
                  </a:ext>
                </a:extLst>
              </p:cNvPr>
              <p:cNvSpPr txBox="1"/>
              <p:nvPr/>
            </p:nvSpPr>
            <p:spPr>
              <a:xfrm>
                <a:off x="506790" y="668308"/>
                <a:ext cx="8494633" cy="6481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+mj-lt"/>
                  <a:buAutoNum type="arabicPeriod"/>
                </a:pPr>
                <a:r>
                  <a:rPr lang="it-IT" dirty="0"/>
                  <a:t>Evaluate difference between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𝐺</m:t>
                        </m:r>
                      </m:sup>
                    </m:sSup>
                  </m:oMath>
                </a14:m>
                <a:r>
                  <a:rPr lang="it-IT" dirty="0"/>
                  <a:t> &amp;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</m:oMath>
                </a14:m>
                <a:r>
                  <a:rPr lang="it-IT" dirty="0"/>
                  <a:t>	→  	Train discriminator network			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it-IT" dirty="0" err="1"/>
                  <a:t>Minimize</a:t>
                </a:r>
                <a:r>
                  <a:rPr lang="it-IT" dirty="0"/>
                  <a:t> </a:t>
                </a:r>
                <a:r>
                  <a:rPr lang="it-IT" dirty="0" err="1"/>
                  <a:t>distance</a:t>
                </a:r>
                <a:r>
                  <a:rPr lang="it-IT" dirty="0"/>
                  <a:t> </a:t>
                </a:r>
                <a:r>
                  <a:rPr lang="it-IT" dirty="0" err="1"/>
                  <a:t>between</a:t>
                </a:r>
                <a:r>
                  <a:rPr lang="it-IT" dirty="0"/>
                  <a:t>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𝐺</m:t>
                        </m:r>
                      </m:sup>
                    </m:sSup>
                  </m:oMath>
                </a14:m>
                <a:r>
                  <a:rPr lang="it-IT" dirty="0"/>
                  <a:t> &amp;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  <m:r>
                      <a:rPr lang="it-IT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it-IT" dirty="0"/>
                  <a:t> 	→	Train generator network</a:t>
                </a:r>
              </a:p>
            </p:txBody>
          </p:sp>
        </mc:Choice>
        <mc:Fallback xmlns="">
          <p:sp>
            <p:nvSpPr>
              <p:cNvPr id="2" name="CasellaDiTesto 1">
                <a:extLst>
                  <a:ext uri="{FF2B5EF4-FFF2-40B4-BE49-F238E27FC236}">
                    <a16:creationId xmlns:a16="http://schemas.microsoft.com/office/drawing/2014/main" id="{B6AFB741-7E8E-3F25-432E-B7097D910D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790" y="668308"/>
                <a:ext cx="8494633" cy="648126"/>
              </a:xfrm>
              <a:prstGeom prst="rect">
                <a:avLst/>
              </a:prstGeom>
              <a:blipFill>
                <a:blip r:embed="rId5"/>
                <a:stretch>
                  <a:fillRect l="-502" t="-5660" b="-1415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Connettore 2 28">
            <a:extLst>
              <a:ext uri="{FF2B5EF4-FFF2-40B4-BE49-F238E27FC236}">
                <a16:creationId xmlns:a16="http://schemas.microsoft.com/office/drawing/2014/main" id="{84175FBC-51EA-248B-2E05-35FC36D58D22}"/>
              </a:ext>
            </a:extLst>
          </p:cNvPr>
          <p:cNvCxnSpPr>
            <a:cxnSpLocks/>
            <a:stCxn id="3" idx="3"/>
          </p:cNvCxnSpPr>
          <p:nvPr/>
        </p:nvCxnSpPr>
        <p:spPr>
          <a:xfrm>
            <a:off x="3721058" y="1920852"/>
            <a:ext cx="572903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sellaDiTesto 3">
                <a:extLst>
                  <a:ext uri="{FF2B5EF4-FFF2-40B4-BE49-F238E27FC236}">
                    <a16:creationId xmlns:a16="http://schemas.microsoft.com/office/drawing/2014/main" id="{7ECD7414-EAE2-9484-413B-5AAE3A198F7C}"/>
                  </a:ext>
                </a:extLst>
              </p:cNvPr>
              <p:cNvSpPr txBox="1"/>
              <p:nvPr/>
            </p:nvSpPr>
            <p:spPr>
              <a:xfrm>
                <a:off x="4025858" y="1606802"/>
                <a:ext cx="3392807" cy="6492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it-IT" dirty="0">
                    <a:latin typeface="Bookman Old Style" panose="02050604050505020204" pitchFamily="18" charset="0"/>
                  </a:rPr>
                  <a:t>Valutare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it-IT" dirty="0" smtClean="0">
                          <a:latin typeface="Bookman Old Style" panose="02050604050505020204" pitchFamily="18" charset="0"/>
                        </a:rPr>
                        <m:t>Distanza</m:t>
                      </m:r>
                      <m:r>
                        <m:rPr>
                          <m:nor/>
                        </m:rPr>
                        <a:rPr lang="it-IT" dirty="0" smtClean="0">
                          <a:latin typeface="Bookman Old Style" panose="02050604050505020204" pitchFamily="18" charset="0"/>
                        </a:rPr>
                        <m:t> (</m:t>
                      </m:r>
                      <m:sSup>
                        <m:sSupPr>
                          <m:ctrlPr>
                            <a:rPr lang="it-IT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it-IT" dirty="0"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it-IT" dirty="0">
                              <a:latin typeface="Cambria Math" panose="02040503050406030204" pitchFamily="18" charset="0"/>
                            </a:rPr>
                            <m:t>r</m:t>
                          </m:r>
                        </m:sup>
                      </m:sSup>
                      <m:r>
                        <a:rPr lang="it-IT" i="1" dirty="0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it-IT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it-IT" i="1" dirty="0">
                              <a:latin typeface="Cambria Math" panose="02040503050406030204" pitchFamily="18" charset="0"/>
                            </a:rPr>
                            <m:t>𝐺</m:t>
                          </m:r>
                        </m:sup>
                      </m:sSup>
                      <m:r>
                        <m:rPr>
                          <m:nor/>
                        </m:rPr>
                        <a:rPr lang="it-IT" dirty="0">
                          <a:latin typeface="Bookman Old Style" panose="02050604050505020204" pitchFamily="18" charset="0"/>
                        </a:rPr>
                        <m:t>)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4" name="CasellaDiTesto 3">
                <a:extLst>
                  <a:ext uri="{FF2B5EF4-FFF2-40B4-BE49-F238E27FC236}">
                    <a16:creationId xmlns:a16="http://schemas.microsoft.com/office/drawing/2014/main" id="{7ECD7414-EAE2-9484-413B-5AAE3A198F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5858" y="1606802"/>
                <a:ext cx="3392807" cy="649280"/>
              </a:xfrm>
              <a:prstGeom prst="rect">
                <a:avLst/>
              </a:prstGeom>
              <a:blipFill>
                <a:blip r:embed="rId6"/>
                <a:stretch>
                  <a:fillRect t="-4717" b="-1037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Immagine 5">
            <a:extLst>
              <a:ext uri="{FF2B5EF4-FFF2-40B4-BE49-F238E27FC236}">
                <a16:creationId xmlns:a16="http://schemas.microsoft.com/office/drawing/2014/main" id="{B9F05FC7-1B6F-BD31-DF43-FC86FD0C8D5E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07784" y="2477075"/>
            <a:ext cx="2247000" cy="1110028"/>
          </a:xfrm>
          <a:prstGeom prst="rect">
            <a:avLst/>
          </a:prstGeom>
        </p:spPr>
      </p:pic>
      <p:cxnSp>
        <p:nvCxnSpPr>
          <p:cNvPr id="8" name="Connettore 2 7">
            <a:extLst>
              <a:ext uri="{FF2B5EF4-FFF2-40B4-BE49-F238E27FC236}">
                <a16:creationId xmlns:a16="http://schemas.microsoft.com/office/drawing/2014/main" id="{9F5974E1-9381-2213-465B-D343A1BD9168}"/>
              </a:ext>
            </a:extLst>
          </p:cNvPr>
          <p:cNvCxnSpPr>
            <a:cxnSpLocks/>
            <a:stCxn id="6" idx="3"/>
            <a:endCxn id="14" idx="1"/>
          </p:cNvCxnSpPr>
          <p:nvPr/>
        </p:nvCxnSpPr>
        <p:spPr>
          <a:xfrm flipV="1">
            <a:off x="2954784" y="3018625"/>
            <a:ext cx="2339438" cy="1346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Connettore 2 8">
            <a:extLst>
              <a:ext uri="{FF2B5EF4-FFF2-40B4-BE49-F238E27FC236}">
                <a16:creationId xmlns:a16="http://schemas.microsoft.com/office/drawing/2014/main" id="{5108CEAD-7900-0F23-68AB-E8CD0141AB27}"/>
              </a:ext>
            </a:extLst>
          </p:cNvPr>
          <p:cNvCxnSpPr>
            <a:cxnSpLocks/>
          </p:cNvCxnSpPr>
          <p:nvPr/>
        </p:nvCxnSpPr>
        <p:spPr>
          <a:xfrm>
            <a:off x="7030045" y="1883364"/>
            <a:ext cx="572903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" name="Immagine 6">
            <a:extLst>
              <a:ext uri="{FF2B5EF4-FFF2-40B4-BE49-F238E27FC236}">
                <a16:creationId xmlns:a16="http://schemas.microsoft.com/office/drawing/2014/main" id="{EBFD2AE3-8010-B28E-781F-FDE441A5BB6F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598761" y="1364004"/>
            <a:ext cx="2247000" cy="111002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asellaDiTesto 11">
                <a:extLst>
                  <a:ext uri="{FF2B5EF4-FFF2-40B4-BE49-F238E27FC236}">
                    <a16:creationId xmlns:a16="http://schemas.microsoft.com/office/drawing/2014/main" id="{E4DC4083-FA7F-3E22-C638-D47E5D06DC51}"/>
                  </a:ext>
                </a:extLst>
              </p:cNvPr>
              <p:cNvSpPr txBox="1"/>
              <p:nvPr/>
            </p:nvSpPr>
            <p:spPr>
              <a:xfrm>
                <a:off x="2202008" y="3354894"/>
                <a:ext cx="5697275" cy="9634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it-IT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it-IT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it-IT" dirty="0">
                          <a:latin typeface="Bookman Old Style" panose="02050604050505020204" pitchFamily="18" charset="0"/>
                        </a:rPr>
                        <m:t>Distan</m:t>
                      </m:r>
                      <m:r>
                        <m:rPr>
                          <m:nor/>
                        </m:rPr>
                        <a:rPr lang="it-IT" b="0" i="0" dirty="0" smtClean="0">
                          <a:latin typeface="Bookman Old Style" panose="02050604050505020204" pitchFamily="18" charset="0"/>
                        </a:rPr>
                        <m:t>ce</m:t>
                      </m:r>
                      <m:r>
                        <m:rPr>
                          <m:nor/>
                        </m:rPr>
                        <a:rPr lang="it-IT" dirty="0">
                          <a:latin typeface="Bookman Old Style" panose="02050604050505020204" pitchFamily="18" charset="0"/>
                        </a:rPr>
                        <m:t> (</m:t>
                      </m:r>
                      <m:sSup>
                        <m:sSupPr>
                          <m:ctrlPr>
                            <a:rPr lang="it-IT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it-IT" dirty="0"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it-IT" dirty="0">
                              <a:latin typeface="Cambria Math" panose="02040503050406030204" pitchFamily="18" charset="0"/>
                            </a:rPr>
                            <m:t>r</m:t>
                          </m:r>
                        </m:sup>
                      </m:sSup>
                      <m:r>
                        <a:rPr lang="it-IT" i="1" dirty="0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it-IT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it-IT" i="1" dirty="0">
                              <a:latin typeface="Cambria Math" panose="02040503050406030204" pitchFamily="18" charset="0"/>
                            </a:rPr>
                            <m:t>𝐺</m:t>
                          </m:r>
                        </m:sup>
                      </m:sSup>
                      <m:r>
                        <m:rPr>
                          <m:nor/>
                        </m:rPr>
                        <a:rPr lang="it-IT" dirty="0">
                          <a:latin typeface="Bookman Old Style" panose="02050604050505020204" pitchFamily="18" charset="0"/>
                        </a:rPr>
                        <m:t>)</m:t>
                      </m:r>
                      <m:r>
                        <m:rPr>
                          <m:nor/>
                        </m:rPr>
                        <a:rPr lang="it-IT" b="0" i="0" dirty="0" smtClean="0">
                          <a:latin typeface="Bookman Old Style" panose="0205060405050502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it-IT" b="0" i="0" dirty="0" smtClean="0">
                          <a:latin typeface="Bookman Old Style" panose="02050604050505020204" pitchFamily="18" charset="0"/>
                        </a:rPr>
                        <m:t>Cross</m:t>
                      </m:r>
                      <m:r>
                        <m:rPr>
                          <m:nor/>
                        </m:rPr>
                        <a:rPr lang="it-IT" b="0" i="0" dirty="0" smtClean="0">
                          <a:latin typeface="Bookman Old Style" panose="0205060405050502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it-IT" b="0" i="0" dirty="0" smtClean="0">
                          <a:latin typeface="Bookman Old Style" panose="02050604050505020204" pitchFamily="18" charset="0"/>
                        </a:rPr>
                        <m:t>Entropy</m:t>
                      </m:r>
                      <m:r>
                        <m:rPr>
                          <m:nor/>
                        </m:rPr>
                        <a:rPr lang="it-IT" b="0" i="0" dirty="0" smtClean="0">
                          <a:latin typeface="Bookman Old Style" panose="02050604050505020204" pitchFamily="18" charset="0"/>
                        </a:rPr>
                        <m:t>=</m:t>
                      </m:r>
                      <m:r>
                        <a:rPr lang="it-IT" i="1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it-IT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∼</m:t>
                              </m:r>
                              <m:sSup>
                                <m:sSupPr>
                                  <m:ctrlPr>
                                    <a:rPr lang="it-IT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it-IT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p>
                                  <m:r>
                                    <a:rPr lang="it-IT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sup>
                              </m:sSup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it-IT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𝑙𝑜𝑔</m:t>
                              </m:r>
                              <m:r>
                                <a:rPr lang="it-IT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ctrlPr>
                                    <a:rPr lang="it-IT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it-IT" i="1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  <m:d>
                                    <m:dPr>
                                      <m:ctrlPr>
                                        <a:rPr lang="it-IT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it-IT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e>
                              </m:d>
                            </m:e>
                          </m:d>
                          <m:r>
                            <a:rPr lang="it-IT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it-IT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it-IT"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b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∼</m:t>
                              </m:r>
                              <m:sSub>
                                <m:sSubPr>
                                  <m:ctrlPr>
                                    <a:rPr lang="it-IT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it-IT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sub>
                              </m:sSub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it-IT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𝑙𝑜𝑔</m:t>
                          </m:r>
                          <m:r>
                            <a:rPr lang="it-IT"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it-IT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it-IT">
                                  <a:latin typeface="Cambria Math" panose="02040503050406030204" pitchFamily="18" charset="0"/>
                                </a:rPr>
                                <m:t> −</m:t>
                              </m:r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d>
                                <m:dPr>
                                  <m:ctrlPr>
                                    <a:rPr lang="it-IT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it-IT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  <m:r>
                                    <a:rPr lang="it-IT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it-IT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  <m:r>
                                    <a:rPr lang="it-IT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e>
                          </m:d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d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12" name="CasellaDiTesto 11">
                <a:extLst>
                  <a:ext uri="{FF2B5EF4-FFF2-40B4-BE49-F238E27FC236}">
                    <a16:creationId xmlns:a16="http://schemas.microsoft.com/office/drawing/2014/main" id="{E4DC4083-FA7F-3E22-C638-D47E5D06DC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2008" y="3354894"/>
                <a:ext cx="5697275" cy="963469"/>
              </a:xfrm>
              <a:prstGeom prst="rect">
                <a:avLst/>
              </a:prstGeom>
              <a:blipFill>
                <a:blip r:embed="rId8"/>
                <a:stretch>
                  <a:fillRect b="-379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asellaDiTesto 13">
                <a:extLst>
                  <a:ext uri="{FF2B5EF4-FFF2-40B4-BE49-F238E27FC236}">
                    <a16:creationId xmlns:a16="http://schemas.microsoft.com/office/drawing/2014/main" id="{87DC5F37-C327-1245-BA77-8010350CBDAF}"/>
                  </a:ext>
                </a:extLst>
              </p:cNvPr>
              <p:cNvSpPr txBox="1"/>
              <p:nvPr/>
            </p:nvSpPr>
            <p:spPr>
              <a:xfrm>
                <a:off x="5294222" y="2693985"/>
                <a:ext cx="3392807" cy="6492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it-IT" dirty="0">
                    <a:latin typeface="Bookman Old Style" panose="02050604050505020204" pitchFamily="18" charset="0"/>
                  </a:rPr>
                  <a:t>Minimize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</m:oMath>
                </a14:m>
                <a:r>
                  <a:rPr lang="it-IT" b="0" dirty="0">
                    <a:latin typeface="Bookman Old Style" panose="02050604050505020204" pitchFamily="18" charset="0"/>
                  </a:rPr>
                  <a:t>, in </a:t>
                </a:r>
                <a:r>
                  <a:rPr lang="it-IT" b="0" dirty="0" err="1">
                    <a:latin typeface="Bookman Old Style" panose="02050604050505020204" pitchFamily="18" charset="0"/>
                  </a:rPr>
                  <a:t>other</a:t>
                </a:r>
                <a:r>
                  <a:rPr lang="it-IT" b="0" dirty="0">
                    <a:latin typeface="Bookman Old Style" panose="02050604050505020204" pitchFamily="18" charset="0"/>
                  </a:rPr>
                  <a:t> words</a:t>
                </a:r>
              </a:p>
              <a:p>
                <a:pPr algn="ctr"/>
                <a:r>
                  <a:rPr lang="it-IT" dirty="0">
                    <a:latin typeface="Bookman Old Style" panose="02050604050505020204" pitchFamily="18" charset="0"/>
                  </a:rPr>
                  <a:t>M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it-IT" b="0" i="0" dirty="0" smtClean="0">
                        <a:latin typeface="Cambria Math" panose="02040503050406030204" pitchFamily="18" charset="0"/>
                      </a:rPr>
                      <m:t>aximize</m:t>
                    </m:r>
                    <m:r>
                      <a:rPr lang="it-IT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it-IT" b="0" i="0" dirty="0" smtClean="0">
                        <a:latin typeface="Cambria Math" panose="02040503050406030204" pitchFamily="18" charset="0"/>
                      </a:rPr>
                      <m:t>′</m:t>
                    </m:r>
                    <m:r>
                      <m:rPr>
                        <m:nor/>
                      </m:rPr>
                      <a:rPr lang="it-IT" dirty="0" smtClean="0">
                        <a:latin typeface="Bookman Old Style" panose="02050604050505020204" pitchFamily="18" charset="0"/>
                      </a:rPr>
                      <m:t>Distan</m:t>
                    </m:r>
                    <m:r>
                      <m:rPr>
                        <m:nor/>
                      </m:rPr>
                      <a:rPr lang="it-IT" b="0" i="0" dirty="0" smtClean="0">
                        <a:latin typeface="Bookman Old Style" panose="02050604050505020204" pitchFamily="18" charset="0"/>
                      </a:rPr>
                      <m:t>ce</m:t>
                    </m:r>
                    <m:r>
                      <m:rPr>
                        <m:nor/>
                      </m:rPr>
                      <a:rPr lang="it-IT" b="0" i="0" dirty="0" smtClean="0">
                        <a:latin typeface="Bookman Old Style" panose="02050604050505020204" pitchFamily="18" charset="0"/>
                      </a:rPr>
                      <m:t>′ (</m:t>
                    </m:r>
                    <m:sSup>
                      <m:sSupPr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it-IT" dirty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it-IT" dirty="0">
                            <a:latin typeface="Cambria Math" panose="02040503050406030204" pitchFamily="18" charset="0"/>
                          </a:rPr>
                          <m:t>r</m:t>
                        </m:r>
                      </m:sup>
                    </m:sSup>
                    <m:r>
                      <a:rPr lang="it-IT" i="1" dirty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𝐺</m:t>
                        </m:r>
                      </m:sup>
                    </m:sSup>
                    <m:r>
                      <m:rPr>
                        <m:nor/>
                      </m:rPr>
                      <a:rPr lang="it-IT" dirty="0">
                        <a:latin typeface="Bookman Old Style" panose="02050604050505020204" pitchFamily="18" charset="0"/>
                      </a:rPr>
                      <m:t>)</m:t>
                    </m:r>
                  </m:oMath>
                </a14:m>
                <a:endParaRPr lang="it-IT" dirty="0"/>
              </a:p>
            </p:txBody>
          </p:sp>
        </mc:Choice>
        <mc:Fallback xmlns="">
          <p:sp>
            <p:nvSpPr>
              <p:cNvPr id="14" name="CasellaDiTesto 13">
                <a:extLst>
                  <a:ext uri="{FF2B5EF4-FFF2-40B4-BE49-F238E27FC236}">
                    <a16:creationId xmlns:a16="http://schemas.microsoft.com/office/drawing/2014/main" id="{87DC5F37-C327-1245-BA77-8010350CBD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4222" y="2693985"/>
                <a:ext cx="3392807" cy="649280"/>
              </a:xfrm>
              <a:prstGeom prst="rect">
                <a:avLst/>
              </a:prstGeom>
              <a:blipFill>
                <a:blip r:embed="rId9"/>
                <a:stretch>
                  <a:fillRect t="-4717" r="-180" b="-15094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2" name="Gruppo 111">
            <a:extLst>
              <a:ext uri="{FF2B5EF4-FFF2-40B4-BE49-F238E27FC236}">
                <a16:creationId xmlns:a16="http://schemas.microsoft.com/office/drawing/2014/main" id="{FC848991-3FDD-BE09-937D-0A3C2B9AF758}"/>
              </a:ext>
            </a:extLst>
          </p:cNvPr>
          <p:cNvGrpSpPr/>
          <p:nvPr/>
        </p:nvGrpSpPr>
        <p:grpSpPr>
          <a:xfrm>
            <a:off x="181120" y="4829661"/>
            <a:ext cx="7467545" cy="1958372"/>
            <a:chOff x="181120" y="4829661"/>
            <a:chExt cx="7467545" cy="1958372"/>
          </a:xfrm>
        </p:grpSpPr>
        <p:cxnSp>
          <p:nvCxnSpPr>
            <p:cNvPr id="101" name="Connettore a gomito 100">
              <a:extLst>
                <a:ext uri="{FF2B5EF4-FFF2-40B4-BE49-F238E27FC236}">
                  <a16:creationId xmlns:a16="http://schemas.microsoft.com/office/drawing/2014/main" id="{1EEA61C9-A762-A58D-28C1-D1AABF8631DC}"/>
                </a:ext>
              </a:extLst>
            </p:cNvPr>
            <p:cNvCxnSpPr>
              <a:cxnSpLocks/>
              <a:stCxn id="23" idx="2"/>
              <a:endCxn id="65" idx="2"/>
            </p:cNvCxnSpPr>
            <p:nvPr/>
          </p:nvCxnSpPr>
          <p:spPr>
            <a:xfrm rot="5400000" flipH="1">
              <a:off x="4560725" y="4244492"/>
              <a:ext cx="452188" cy="4140546"/>
            </a:xfrm>
            <a:prstGeom prst="bentConnector3">
              <a:avLst>
                <a:gd name="adj1" fmla="val -50554"/>
              </a:avLst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grpSp>
          <p:nvGrpSpPr>
            <p:cNvPr id="110" name="Gruppo 109">
              <a:extLst>
                <a:ext uri="{FF2B5EF4-FFF2-40B4-BE49-F238E27FC236}">
                  <a16:creationId xmlns:a16="http://schemas.microsoft.com/office/drawing/2014/main" id="{5F6F9003-518A-F1DB-28D5-4CDEF3DBE7F5}"/>
                </a:ext>
              </a:extLst>
            </p:cNvPr>
            <p:cNvGrpSpPr/>
            <p:nvPr/>
          </p:nvGrpSpPr>
          <p:grpSpPr>
            <a:xfrm>
              <a:off x="181120" y="4829661"/>
              <a:ext cx="7467545" cy="1958372"/>
              <a:chOff x="4667685" y="4651480"/>
              <a:chExt cx="7467545" cy="1958372"/>
            </a:xfrm>
          </p:grpSpPr>
          <p:grpSp>
            <p:nvGrpSpPr>
              <p:cNvPr id="98" name="Gruppo 97">
                <a:extLst>
                  <a:ext uri="{FF2B5EF4-FFF2-40B4-BE49-F238E27FC236}">
                    <a16:creationId xmlns:a16="http://schemas.microsoft.com/office/drawing/2014/main" id="{F9ED15F6-122D-891C-FF83-CE90C5F16020}"/>
                  </a:ext>
                </a:extLst>
              </p:cNvPr>
              <p:cNvGrpSpPr/>
              <p:nvPr/>
            </p:nvGrpSpPr>
            <p:grpSpPr>
              <a:xfrm>
                <a:off x="4667685" y="4793567"/>
                <a:ext cx="7467545" cy="1816285"/>
                <a:chOff x="4545033" y="4641167"/>
                <a:chExt cx="7467545" cy="1816285"/>
              </a:xfrm>
            </p:grpSpPr>
            <p:grpSp>
              <p:nvGrpSpPr>
                <p:cNvPr id="77" name="Gruppo 76">
                  <a:extLst>
                    <a:ext uri="{FF2B5EF4-FFF2-40B4-BE49-F238E27FC236}">
                      <a16:creationId xmlns:a16="http://schemas.microsoft.com/office/drawing/2014/main" id="{E656626C-1B0D-7769-3E1B-E45D9C02E3DC}"/>
                    </a:ext>
                  </a:extLst>
                </p:cNvPr>
                <p:cNvGrpSpPr/>
                <p:nvPr/>
              </p:nvGrpSpPr>
              <p:grpSpPr>
                <a:xfrm>
                  <a:off x="4545033" y="4641167"/>
                  <a:ext cx="7467545" cy="1816285"/>
                  <a:chOff x="4280595" y="4596436"/>
                  <a:chExt cx="7467545" cy="1816285"/>
                </a:xfrm>
              </p:grpSpPr>
              <p:grpSp>
                <p:nvGrpSpPr>
                  <p:cNvPr id="76" name="Gruppo 75">
                    <a:extLst>
                      <a:ext uri="{FF2B5EF4-FFF2-40B4-BE49-F238E27FC236}">
                        <a16:creationId xmlns:a16="http://schemas.microsoft.com/office/drawing/2014/main" id="{7162C12C-5EB9-5BAF-8E8C-AB80ADB29B04}"/>
                      </a:ext>
                    </a:extLst>
                  </p:cNvPr>
                  <p:cNvGrpSpPr/>
                  <p:nvPr/>
                </p:nvGrpSpPr>
                <p:grpSpPr>
                  <a:xfrm>
                    <a:off x="4280595" y="4596436"/>
                    <a:ext cx="7467545" cy="1816285"/>
                    <a:chOff x="4364920" y="4576214"/>
                    <a:chExt cx="7467545" cy="1816285"/>
                  </a:xfrm>
                </p:grpSpPr>
                <p:grpSp>
                  <p:nvGrpSpPr>
                    <p:cNvPr id="5" name="Gruppo 4">
                      <a:extLst>
                        <a:ext uri="{FF2B5EF4-FFF2-40B4-BE49-F238E27FC236}">
                          <a16:creationId xmlns:a16="http://schemas.microsoft.com/office/drawing/2014/main" id="{DED10CB9-9701-8750-16D7-E47A647BFF3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64920" y="4676241"/>
                      <a:ext cx="7467545" cy="1716258"/>
                      <a:chOff x="-2591721" y="4120755"/>
                      <a:chExt cx="8741237" cy="1891315"/>
                    </a:xfrm>
                  </p:grpSpPr>
                  <p:cxnSp>
                    <p:nvCxnSpPr>
                      <p:cNvPr id="10" name="Connettore 2 9">
                        <a:extLst>
                          <a:ext uri="{FF2B5EF4-FFF2-40B4-BE49-F238E27FC236}">
                            <a16:creationId xmlns:a16="http://schemas.microsoft.com/office/drawing/2014/main" id="{2C739B16-8985-1D47-A6F0-B14325F0729E}"/>
                          </a:ext>
                        </a:extLst>
                      </p:cNvPr>
                      <p:cNvCxnSpPr>
                        <a:cxnSpLocks/>
                        <a:stCxn id="65" idx="1"/>
                      </p:cNvCxnSpPr>
                      <p:nvPr/>
                    </p:nvCxnSpPr>
                    <p:spPr>
                      <a:xfrm flipH="1">
                        <a:off x="-919789" y="5080268"/>
                        <a:ext cx="414883" cy="369347"/>
                      </a:xfrm>
                      <a:prstGeom prst="straightConnector1">
                        <a:avLst/>
                      </a:prstGeom>
                      <a:ln>
                        <a:tailEnd type="triangle"/>
                      </a:ln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grpSp>
                    <p:nvGrpSpPr>
                      <p:cNvPr id="16" name="Gruppo 15">
                        <a:extLst>
                          <a:ext uri="{FF2B5EF4-FFF2-40B4-BE49-F238E27FC236}">
                            <a16:creationId xmlns:a16="http://schemas.microsoft.com/office/drawing/2014/main" id="{C683C3D5-7316-C827-2E76-AA3C0FECD902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525167" y="4120755"/>
                        <a:ext cx="4624349" cy="1618933"/>
                        <a:chOff x="7287956" y="519849"/>
                        <a:chExt cx="4624349" cy="1618933"/>
                      </a:xfrm>
                    </p:grpSpPr>
                    <p:sp>
                      <p:nvSpPr>
                        <p:cNvPr id="20" name="CasellaDiTesto 19">
                          <a:extLst>
                            <a:ext uri="{FF2B5EF4-FFF2-40B4-BE49-F238E27FC236}">
                              <a16:creationId xmlns:a16="http://schemas.microsoft.com/office/drawing/2014/main" id="{C3E98A63-4D00-E9E5-3C66-5FB40850DEF0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7287956" y="1317295"/>
                          <a:ext cx="915004" cy="322211"/>
                        </a:xfrm>
                        <a:prstGeom prst="rect">
                          <a:avLst/>
                        </a:prstGeom>
                        <a:noFill/>
                        <a:ln w="28575">
                          <a:solidFill>
                            <a:srgbClr val="00B050"/>
                          </a:solidFill>
                        </a:ln>
                      </p:spPr>
                      <p:style>
                        <a:lnRef idx="2">
                          <a:schemeClr val="accent6"/>
                        </a:lnRef>
                        <a:fillRef idx="1">
                          <a:schemeClr val="lt1"/>
                        </a:fillRef>
                        <a:effectRef idx="0">
                          <a:schemeClr val="accent6"/>
                        </a:effectRef>
                        <a:fontRef idx="minor">
                          <a:schemeClr val="dk1"/>
                        </a:fontRef>
                      </p:style>
                      <p:txBody>
                        <a:bodyPr wrap="square">
                          <a:spAutoFit/>
                        </a:bodyPr>
                        <a:lstStyle/>
                        <a:p>
                          <a:pPr algn="ctr"/>
                          <a:r>
                            <a:rPr lang="it-IT" sz="1300" dirty="0"/>
                            <a:t>Images</a:t>
                          </a:r>
                        </a:p>
                      </p:txBody>
                    </p:sp>
                    <p:sp>
                      <p:nvSpPr>
                        <p:cNvPr id="21" name="CasellaDiTesto 20">
                          <a:extLst>
                            <a:ext uri="{FF2B5EF4-FFF2-40B4-BE49-F238E27FC236}">
                              <a16:creationId xmlns:a16="http://schemas.microsoft.com/office/drawing/2014/main" id="{4554E67F-47DD-15F1-5BF9-39710CB56A6D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7780915" y="519849"/>
                          <a:ext cx="1762124" cy="322211"/>
                        </a:xfrm>
                        <a:prstGeom prst="rect">
                          <a:avLst/>
                        </a:prstGeom>
                        <a:noFill/>
                        <a:ln w="28575">
                          <a:solidFill>
                            <a:srgbClr val="00B050"/>
                          </a:solidFill>
                        </a:ln>
                      </p:spPr>
                      <p:style>
                        <a:lnRef idx="2">
                          <a:schemeClr val="accent6"/>
                        </a:lnRef>
                        <a:fillRef idx="1">
                          <a:schemeClr val="lt1"/>
                        </a:fillRef>
                        <a:effectRef idx="0">
                          <a:schemeClr val="accent6"/>
                        </a:effectRef>
                        <a:fontRef idx="minor">
                          <a:schemeClr val="dk1"/>
                        </a:fontRef>
                      </p:style>
                      <p:txBody>
                        <a:bodyPr wrap="square" anchor="ctr">
                          <a:spAutoFit/>
                        </a:bodyPr>
                        <a:lstStyle/>
                        <a:p>
                          <a:pPr algn="ctr"/>
                          <a:r>
                            <a:rPr lang="it-IT" sz="1300" dirty="0"/>
                            <a:t>Discriminator</a:t>
                          </a:r>
                        </a:p>
                      </p:txBody>
                    </p:sp>
                    <p:sp>
                      <p:nvSpPr>
                        <p:cNvPr id="22" name="CasellaDiTesto 21">
                          <a:extLst>
                            <a:ext uri="{FF2B5EF4-FFF2-40B4-BE49-F238E27FC236}">
                              <a16:creationId xmlns:a16="http://schemas.microsoft.com/office/drawing/2014/main" id="{F2580FF5-3F45-7B86-3D51-6A4B0938159D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10422593" y="1187867"/>
                          <a:ext cx="1110264" cy="322211"/>
                        </a:xfrm>
                        <a:prstGeom prst="rect">
                          <a:avLst/>
                        </a:prstGeom>
                        <a:noFill/>
                        <a:ln w="28575">
                          <a:solidFill>
                            <a:srgbClr val="00B050"/>
                          </a:solidFill>
                        </a:ln>
                      </p:spPr>
                      <p:style>
                        <a:lnRef idx="2">
                          <a:schemeClr val="accent6"/>
                        </a:lnRef>
                        <a:fillRef idx="1">
                          <a:schemeClr val="lt1"/>
                        </a:fillRef>
                        <a:effectRef idx="0">
                          <a:schemeClr val="accent6"/>
                        </a:effectRef>
                        <a:fontRef idx="minor">
                          <a:schemeClr val="dk1"/>
                        </a:fontRef>
                      </p:style>
                      <p:txBody>
                        <a:bodyPr wrap="square" anchor="ctr">
                          <a:spAutoFit/>
                        </a:bodyPr>
                        <a:lstStyle/>
                        <a:p>
                          <a:pPr algn="ctr"/>
                          <a:r>
                            <a:rPr lang="it-IT" sz="1300" dirty="0" err="1"/>
                            <a:t>LossG</a:t>
                          </a:r>
                          <a:endParaRPr lang="it-IT" sz="1300" dirty="0"/>
                        </a:p>
                      </p:txBody>
                    </p:sp>
                    <p:sp>
                      <p:nvSpPr>
                        <p:cNvPr id="23" name="CasellaDiTesto 22">
                          <a:extLst>
                            <a:ext uri="{FF2B5EF4-FFF2-40B4-BE49-F238E27FC236}">
                              <a16:creationId xmlns:a16="http://schemas.microsoft.com/office/drawing/2014/main" id="{AAEB9885-794A-E100-836A-C1C4B50EEF76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10059131" y="1816570"/>
                          <a:ext cx="1853174" cy="322212"/>
                        </a:xfrm>
                        <a:prstGeom prst="rect">
                          <a:avLst/>
                        </a:prstGeom>
                        <a:noFill/>
                        <a:ln w="28575">
                          <a:solidFill>
                            <a:srgbClr val="00B050"/>
                          </a:solidFill>
                        </a:ln>
                      </p:spPr>
                      <p:style>
                        <a:lnRef idx="2">
                          <a:schemeClr val="accent6"/>
                        </a:lnRef>
                        <a:fillRef idx="1">
                          <a:schemeClr val="lt1"/>
                        </a:fillRef>
                        <a:effectRef idx="0">
                          <a:schemeClr val="accent6"/>
                        </a:effectRef>
                        <a:fontRef idx="minor">
                          <a:schemeClr val="dk1"/>
                        </a:fontRef>
                      </p:style>
                      <p:txBody>
                        <a:bodyPr wrap="square" anchor="ctr">
                          <a:spAutoFit/>
                        </a:bodyPr>
                        <a:lstStyle/>
                        <a:p>
                          <a:pPr algn="ctr"/>
                          <a:r>
                            <a:rPr lang="it-IT" sz="1300" dirty="0"/>
                            <a:t>Weight update (G!)</a:t>
                          </a:r>
                        </a:p>
                      </p:txBody>
                    </p:sp>
                    <p:cxnSp>
                      <p:nvCxnSpPr>
                        <p:cNvPr id="24" name="Connettore 2 23">
                          <a:extLst>
                            <a:ext uri="{FF2B5EF4-FFF2-40B4-BE49-F238E27FC236}">
                              <a16:creationId xmlns:a16="http://schemas.microsoft.com/office/drawing/2014/main" id="{F1A9049E-F46D-5A3C-164E-FECCC7410EB6}"/>
                            </a:ext>
                          </a:extLst>
                        </p:cNvPr>
                        <p:cNvCxnSpPr>
                          <a:cxnSpLocks/>
                          <a:stCxn id="22" idx="2"/>
                          <a:endCxn id="23" idx="0"/>
                        </p:cNvCxnSpPr>
                        <p:nvPr/>
                      </p:nvCxnSpPr>
                      <p:spPr>
                        <a:xfrm>
                          <a:off x="10977726" y="1510078"/>
                          <a:ext cx="7993" cy="306493"/>
                        </a:xfrm>
                        <a:prstGeom prst="straightConnector1">
                          <a:avLst/>
                        </a:prstGeom>
                        <a:ln>
                          <a:tailEnd type="triangle"/>
                        </a:ln>
                      </p:spPr>
                      <p:style>
                        <a:lnRef idx="3">
                          <a:schemeClr val="dk1"/>
                        </a:lnRef>
                        <a:fillRef idx="0">
                          <a:schemeClr val="dk1"/>
                        </a:fillRef>
                        <a:effectRef idx="2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27" name="Connettore a gomito 26">
                          <a:extLst>
                            <a:ext uri="{FF2B5EF4-FFF2-40B4-BE49-F238E27FC236}">
                              <a16:creationId xmlns:a16="http://schemas.microsoft.com/office/drawing/2014/main" id="{7C1A20C3-8F65-F253-5856-527910F6653D}"/>
                            </a:ext>
                          </a:extLst>
                        </p:cNvPr>
                        <p:cNvCxnSpPr>
                          <a:cxnSpLocks/>
                          <a:stCxn id="21" idx="2"/>
                          <a:endCxn id="28" idx="1"/>
                        </p:cNvCxnSpPr>
                        <p:nvPr/>
                      </p:nvCxnSpPr>
                      <p:spPr>
                        <a:xfrm rot="16200000" flipH="1">
                          <a:off x="8521666" y="982371"/>
                          <a:ext cx="503581" cy="222958"/>
                        </a:xfrm>
                        <a:prstGeom prst="bentConnector2">
                          <a:avLst/>
                        </a:prstGeom>
                        <a:ln>
                          <a:tailEnd type="triangle"/>
                        </a:ln>
                      </p:spPr>
                      <p:style>
                        <a:lnRef idx="3">
                          <a:schemeClr val="dk1"/>
                        </a:lnRef>
                        <a:fillRef idx="0">
                          <a:schemeClr val="dk1"/>
                        </a:fillRef>
                        <a:effectRef idx="2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sp>
                      <p:nvSpPr>
                        <p:cNvPr id="28" name="CasellaDiTesto 27">
                          <a:extLst>
                            <a:ext uri="{FF2B5EF4-FFF2-40B4-BE49-F238E27FC236}">
                              <a16:creationId xmlns:a16="http://schemas.microsoft.com/office/drawing/2014/main" id="{FB2E6D99-8FC7-A04C-9AAC-04210949BA29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8884936" y="1184535"/>
                          <a:ext cx="1316207" cy="322211"/>
                        </a:xfrm>
                        <a:prstGeom prst="rect">
                          <a:avLst/>
                        </a:prstGeom>
                        <a:noFill/>
                        <a:ln w="28575">
                          <a:solidFill>
                            <a:srgbClr val="00B050"/>
                          </a:solidFill>
                        </a:ln>
                      </p:spPr>
                      <p:style>
                        <a:lnRef idx="2">
                          <a:schemeClr val="accent6"/>
                        </a:lnRef>
                        <a:fillRef idx="1">
                          <a:schemeClr val="lt1"/>
                        </a:fillRef>
                        <a:effectRef idx="0">
                          <a:schemeClr val="accent6"/>
                        </a:effectRef>
                        <a:fontRef idx="minor">
                          <a:schemeClr val="dk1"/>
                        </a:fontRef>
                      </p:style>
                      <p:txBody>
                        <a:bodyPr wrap="square" anchor="ctr">
                          <a:spAutoFit/>
                        </a:bodyPr>
                        <a:lstStyle/>
                        <a:p>
                          <a:pPr algn="ctr"/>
                          <a:r>
                            <a:rPr lang="it-IT" sz="1300" dirty="0" err="1"/>
                            <a:t>Predictions</a:t>
                          </a:r>
                          <a:endParaRPr lang="it-IT" sz="1300" dirty="0"/>
                        </a:p>
                      </p:txBody>
                    </p:sp>
                    <p:cxnSp>
                      <p:nvCxnSpPr>
                        <p:cNvPr id="30" name="Connettore 2 29">
                          <a:extLst>
                            <a:ext uri="{FF2B5EF4-FFF2-40B4-BE49-F238E27FC236}">
                              <a16:creationId xmlns:a16="http://schemas.microsoft.com/office/drawing/2014/main" id="{3AE633CE-865A-0FFB-C784-D48546DB55B7}"/>
                            </a:ext>
                          </a:extLst>
                        </p:cNvPr>
                        <p:cNvCxnSpPr>
                          <a:cxnSpLocks/>
                          <a:stCxn id="28" idx="3"/>
                          <a:endCxn id="22" idx="1"/>
                        </p:cNvCxnSpPr>
                        <p:nvPr/>
                      </p:nvCxnSpPr>
                      <p:spPr>
                        <a:xfrm>
                          <a:off x="10201144" y="1345641"/>
                          <a:ext cx="221450" cy="3331"/>
                        </a:xfrm>
                        <a:prstGeom prst="straightConnector1">
                          <a:avLst/>
                        </a:prstGeom>
                        <a:ln>
                          <a:tailEnd type="triangle"/>
                        </a:ln>
                      </p:spPr>
                      <p:style>
                        <a:lnRef idx="3">
                          <a:schemeClr val="dk1"/>
                        </a:lnRef>
                        <a:fillRef idx="0">
                          <a:schemeClr val="dk1"/>
                        </a:fillRef>
                        <a:effectRef idx="2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  <mc:AlternateContent xmlns:mc="http://schemas.openxmlformats.org/markup-compatibility/2006" xmlns:a14="http://schemas.microsoft.com/office/drawing/2010/main">
                    <mc:Choice Requires="a14">
                      <p:sp>
                        <p:nvSpPr>
                          <p:cNvPr id="19" name="CasellaDiTesto 18">
                            <a:extLst>
                              <a:ext uri="{FF2B5EF4-FFF2-40B4-BE49-F238E27FC236}">
                                <a16:creationId xmlns:a16="http://schemas.microsoft.com/office/drawing/2014/main" id="{61B5D9DF-8E5E-51BC-45FE-BD24611A1F82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-2591721" y="5449614"/>
                            <a:ext cx="1671933" cy="562456"/>
                          </a:xfrm>
                          <a:prstGeom prst="rect">
                            <a:avLst/>
                          </a:prstGeom>
                          <a:noFill/>
                          <a:ln>
                            <a:solidFill>
                              <a:srgbClr val="00B050"/>
                            </a:solidFill>
                          </a:ln>
                        </p:spPr>
                        <p:txBody>
                          <a:bodyPr wrap="square">
                            <a:spAutoFit/>
                          </a:bodyPr>
                          <a:lstStyle/>
                          <a:p>
                            <a:r>
                              <a:rPr lang="it-IT" sz="1300" dirty="0"/>
                              <a:t>‘Sampling’ X from</a:t>
                            </a:r>
                          </a:p>
                          <a:p>
                            <a:pPr/>
                            <a14:m>
                              <m:oMathPara xmlns:m="http://schemas.openxmlformats.org/officeDocument/2006/math">
                                <m:oMathParaPr>
                                  <m:jc m:val="centerGroup"/>
                                </m:oMathParaPr>
                                <m:oMath xmlns:m="http://schemas.openxmlformats.org/officeDocument/2006/math">
                                  <m:r>
                                    <a:rPr lang="it-IT" sz="130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  <m:r>
                                    <a:rPr lang="it-IT" sz="1300" b="0" i="1" smtClean="0">
                                      <a:latin typeface="Cambria Math" panose="02040503050406030204" pitchFamily="18" charset="0"/>
                                    </a:rPr>
                                    <m:t>~</m:t>
                                  </m:r>
                                  <m:sSub>
                                    <m:sSubPr>
                                      <m:ctrlPr>
                                        <a:rPr lang="it-IT" sz="13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it-IT" sz="1300" b="0" i="1" smtClean="0"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  <m:sub>
                                      <m:r>
                                        <a:rPr lang="it-IT" sz="1300" b="0" i="1" smtClean="0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sub>
                                  </m:sSub>
                                </m:oMath>
                              </m:oMathPara>
                            </a14:m>
                            <a:endParaRPr lang="it-IT" sz="1300" dirty="0"/>
                          </a:p>
                        </p:txBody>
                      </p:sp>
                    </mc:Choice>
                    <mc:Fallback xmlns="">
                      <p:sp>
                        <p:nvSpPr>
                          <p:cNvPr id="19" name="CasellaDiTesto 18">
                            <a:extLst>
                              <a:ext uri="{FF2B5EF4-FFF2-40B4-BE49-F238E27FC236}">
                                <a16:creationId xmlns:a16="http://schemas.microsoft.com/office/drawing/2014/main" id="{61B5D9DF-8E5E-51BC-45FE-BD24611A1F82}"/>
                              </a:ext>
                            </a:extLst>
                          </p:cNvPr>
                          <p:cNvSpPr txBox="1">
                            <a:spLocks noRot="1" noChangeAspect="1" noMove="1" noResize="1" noEditPoints="1" noAdjustHandles="1" noChangeArrowheads="1" noChangeShapeType="1" noTextEdit="1"/>
                          </p:cNvSpPr>
                          <p:nvPr/>
                        </p:nvSpPr>
                        <p:spPr>
                          <a:xfrm>
                            <a:off x="-2591721" y="5449614"/>
                            <a:ext cx="1671933" cy="562456"/>
                          </a:xfrm>
                          <a:prstGeom prst="rect">
                            <a:avLst/>
                          </a:prstGeom>
                          <a:blipFill>
                            <a:blip r:embed="rId10"/>
                            <a:stretch>
                              <a:fillRect l="-424"/>
                            </a:stretch>
                          </a:blipFill>
                          <a:ln>
                            <a:solidFill>
                              <a:srgbClr val="00B050"/>
                            </a:solidFill>
                          </a:ln>
                        </p:spPr>
                        <p:txBody>
                          <a:bodyPr/>
                          <a:lstStyle/>
                          <a:p>
                            <a:r>
                              <a:rPr lang="it-IT">
                                <a:noFill/>
                              </a:rPr>
                              <a:t> </a:t>
                            </a:r>
                          </a:p>
                        </p:txBody>
                      </p:sp>
                    </mc:Fallback>
                  </mc:AlternateContent>
                </p:grpSp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63" name="CasellaDiTesto 62">
                          <a:extLst>
                            <a:ext uri="{FF2B5EF4-FFF2-40B4-BE49-F238E27FC236}">
                              <a16:creationId xmlns:a16="http://schemas.microsoft.com/office/drawing/2014/main" id="{90E17879-9546-1417-333F-6BABD55C461B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6082151" y="4576214"/>
                          <a:ext cx="1124422" cy="492443"/>
                        </a:xfrm>
                        <a:prstGeom prst="rect">
                          <a:avLst/>
                        </a:prstGeom>
                        <a:noFill/>
                        <a:ln w="28575">
                          <a:solidFill>
                            <a:srgbClr val="00B050"/>
                          </a:solidFill>
                        </a:ln>
                      </p:spPr>
                      <p:style>
                        <a:lnRef idx="2">
                          <a:schemeClr val="accent6"/>
                        </a:lnRef>
                        <a:fillRef idx="1">
                          <a:schemeClr val="lt1"/>
                        </a:fillRef>
                        <a:effectRef idx="0">
                          <a:schemeClr val="accent6"/>
                        </a:effectRef>
                        <a:fontRef idx="minor">
                          <a:schemeClr val="dk1"/>
                        </a:fontRef>
                      </p:style>
                      <p:txBody>
                        <a:bodyPr wrap="square">
                          <a:spAutoFit/>
                        </a:bodyPr>
                        <a:lstStyle/>
                        <a:p>
                          <a:pPr algn="ctr"/>
                          <a:r>
                            <a:rPr lang="it-IT" sz="1300" dirty="0" err="1"/>
                            <a:t>Noise</a:t>
                          </a:r>
                          <a:endParaRPr lang="it-IT" sz="1300" dirty="0"/>
                        </a:p>
                        <a:p>
                          <a:pPr algn="ctr"/>
                          <a:r>
                            <a:rPr lang="it-IT" sz="1300" dirty="0"/>
                            <a:t>sampling </a:t>
                          </a:r>
                          <a14:m>
                            <m:oMath xmlns:m="http://schemas.openxmlformats.org/officeDocument/2006/math">
                              <m:r>
                                <a:rPr lang="it-IT" sz="1300" i="1" dirty="0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r>
                                <a:rPr lang="it-IT" sz="1300" i="1" dirty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it-IT" sz="1300" i="1" dirty="0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it-IT" sz="1300" i="1" dirty="0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it-IT" sz="1300" dirty="0"/>
                        </a:p>
                      </p:txBody>
                    </p:sp>
                  </mc:Choice>
                  <mc:Fallback xmlns="">
                    <p:sp>
                      <p:nvSpPr>
                        <p:cNvPr id="63" name="CasellaDiTesto 62">
                          <a:extLst>
                            <a:ext uri="{FF2B5EF4-FFF2-40B4-BE49-F238E27FC236}">
                              <a16:creationId xmlns:a16="http://schemas.microsoft.com/office/drawing/2014/main" id="{90E17879-9546-1417-333F-6BABD55C461B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6082151" y="4576214"/>
                          <a:ext cx="1124422" cy="492443"/>
                        </a:xfrm>
                        <a:prstGeom prst="rect">
                          <a:avLst/>
                        </a:prstGeom>
                        <a:blipFill>
                          <a:blip r:embed="rId12"/>
                          <a:stretch>
                            <a:fillRect b="-7059"/>
                          </a:stretch>
                        </a:blipFill>
                        <a:ln w="28575">
                          <a:solidFill>
                            <a:srgbClr val="00B050"/>
                          </a:solidFill>
                        </a:ln>
                      </p:spPr>
                      <p:txBody>
                        <a:bodyPr/>
                        <a:lstStyle/>
                        <a:p>
                          <a:r>
                            <a:rPr lang="it-IT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p:cxnSp>
                  <p:nvCxnSpPr>
                    <p:cNvPr id="64" name="Connettore 2 63">
                      <a:extLst>
                        <a:ext uri="{FF2B5EF4-FFF2-40B4-BE49-F238E27FC236}">
                          <a16:creationId xmlns:a16="http://schemas.microsoft.com/office/drawing/2014/main" id="{1DDFCB36-96CF-8B44-B077-DE029F868C6D}"/>
                        </a:ext>
                      </a:extLst>
                    </p:cNvPr>
                    <p:cNvCxnSpPr>
                      <a:cxnSpLocks/>
                      <a:stCxn id="63" idx="2"/>
                      <a:endCxn id="65" idx="0"/>
                    </p:cNvCxnSpPr>
                    <p:nvPr/>
                  </p:nvCxnSpPr>
                  <p:spPr>
                    <a:xfrm>
                      <a:off x="6644362" y="5068657"/>
                      <a:ext cx="255984" cy="332092"/>
                    </a:xfrm>
                    <a:prstGeom prst="straightConnector1">
                      <a:avLst/>
                    </a:prstGeom>
                    <a:ln>
                      <a:tailEnd type="triangle"/>
                    </a:ln>
                  </p:spPr>
                  <p:style>
                    <a:lnRef idx="3">
                      <a:schemeClr val="dk1"/>
                    </a:lnRef>
                    <a:fillRef idx="0">
                      <a:schemeClr val="dk1"/>
                    </a:fillRef>
                    <a:effectRef idx="2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65" name="CasellaDiTesto 64">
                      <a:extLst>
                        <a:ext uri="{FF2B5EF4-FFF2-40B4-BE49-F238E27FC236}">
                          <a16:creationId xmlns:a16="http://schemas.microsoft.com/office/drawing/2014/main" id="{7D9E7AF6-75DD-40DC-C959-525CC52BEF9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147664" y="5400749"/>
                      <a:ext cx="1505364" cy="292388"/>
                    </a:xfrm>
                    <a:prstGeom prst="rect">
                      <a:avLst/>
                    </a:prstGeom>
                    <a:noFill/>
                    <a:ln w="28575">
                      <a:solidFill>
                        <a:srgbClr val="00B050"/>
                      </a:solidFill>
                    </a:ln>
                  </p:spPr>
                  <p:style>
                    <a:lnRef idx="2">
                      <a:schemeClr val="accent6"/>
                    </a:lnRef>
                    <a:fillRef idx="1">
                      <a:schemeClr val="lt1"/>
                    </a:fillRef>
                    <a:effectRef idx="0">
                      <a:schemeClr val="accent6"/>
                    </a:effectRef>
                    <a:fontRef idx="minor">
                      <a:schemeClr val="dk1"/>
                    </a:fontRef>
                  </p:style>
                  <p:txBody>
                    <a:bodyPr wrap="square" anchor="ctr">
                      <a:spAutoFit/>
                    </a:bodyPr>
                    <a:lstStyle/>
                    <a:p>
                      <a:pPr algn="ctr"/>
                      <a:r>
                        <a:rPr lang="it-IT" sz="1300" dirty="0"/>
                        <a:t>Generator</a:t>
                      </a:r>
                    </a:p>
                  </p:txBody>
                </p:sp>
              </p:grpSp>
              <p:cxnSp>
                <p:nvCxnSpPr>
                  <p:cNvPr id="68" name="Connettore 2 67">
                    <a:extLst>
                      <a:ext uri="{FF2B5EF4-FFF2-40B4-BE49-F238E27FC236}">
                        <a16:creationId xmlns:a16="http://schemas.microsoft.com/office/drawing/2014/main" id="{B65B01DC-CE41-9E52-B345-401A502FC651}"/>
                      </a:ext>
                    </a:extLst>
                  </p:cNvPr>
                  <p:cNvCxnSpPr>
                    <a:cxnSpLocks/>
                    <a:stCxn id="65" idx="3"/>
                    <a:endCxn id="20" idx="1"/>
                  </p:cNvCxnSpPr>
                  <p:nvPr/>
                </p:nvCxnSpPr>
                <p:spPr>
                  <a:xfrm flipV="1">
                    <a:off x="7568703" y="5566293"/>
                    <a:ext cx="228906" cy="872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85" name="Connettore 2 84">
                  <a:extLst>
                    <a:ext uri="{FF2B5EF4-FFF2-40B4-BE49-F238E27FC236}">
                      <a16:creationId xmlns:a16="http://schemas.microsoft.com/office/drawing/2014/main" id="{9D5AE400-28CE-C794-7E48-72EC4DC9C4C9}"/>
                    </a:ext>
                  </a:extLst>
                </p:cNvPr>
                <p:cNvCxnSpPr>
                  <a:cxnSpLocks/>
                  <a:stCxn id="20" idx="0"/>
                  <a:endCxn id="21" idx="2"/>
                </p:cNvCxnSpPr>
                <p:nvPr/>
              </p:nvCxnSpPr>
              <p:spPr>
                <a:xfrm flipV="1">
                  <a:off x="8452885" y="5033583"/>
                  <a:ext cx="782973" cy="431248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07" name="Connettore 2 106">
                <a:extLst>
                  <a:ext uri="{FF2B5EF4-FFF2-40B4-BE49-F238E27FC236}">
                    <a16:creationId xmlns:a16="http://schemas.microsoft.com/office/drawing/2014/main" id="{E762EBBD-726F-9456-CD1D-9EA5037411D4}"/>
                  </a:ext>
                </a:extLst>
              </p:cNvPr>
              <p:cNvCxnSpPr>
                <a:cxnSpLocks/>
                <a:stCxn id="28" idx="0"/>
                <a:endCxn id="108" idx="2"/>
              </p:cNvCxnSpPr>
              <p:nvPr/>
            </p:nvCxnSpPr>
            <p:spPr>
              <a:xfrm flipV="1">
                <a:off x="10111192" y="5098334"/>
                <a:ext cx="942747" cy="39842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8" name="CasellaDiTesto 107">
                    <a:extLst>
                      <a:ext uri="{FF2B5EF4-FFF2-40B4-BE49-F238E27FC236}">
                        <a16:creationId xmlns:a16="http://schemas.microsoft.com/office/drawing/2014/main" id="{3DCB7E12-C416-70D8-8507-9D471618D2E9}"/>
                      </a:ext>
                    </a:extLst>
                  </p:cNvPr>
                  <p:cNvSpPr txBox="1"/>
                  <p:nvPr/>
                </p:nvSpPr>
                <p:spPr>
                  <a:xfrm>
                    <a:off x="10356798" y="4651480"/>
                    <a:ext cx="1394281" cy="446854"/>
                  </a:xfrm>
                  <a:prstGeom prst="rect">
                    <a:avLst/>
                  </a:prstGeom>
                  <a:noFill/>
                  <a:ln>
                    <a:solidFill>
                      <a:srgbClr val="00B050"/>
                    </a:solidFill>
                  </a:ln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it-IT" sz="12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it-IT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t-IT" sz="12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it-IT" sz="1200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sSup>
                                <m:sSupPr>
                                  <m:ctrlPr>
                                    <a:rPr lang="it-IT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it-IT" sz="1200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p>
                                  <m:r>
                                    <a:rPr lang="it-IT" sz="1200" b="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sup>
                              </m:sSup>
                            </m:e>
                          </m:d>
                        </m:oMath>
                      </m:oMathPara>
                    </a14:m>
                    <a:endParaRPr lang="it-IT" b="0" dirty="0"/>
                  </a:p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it-IT" sz="1100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it-IT" sz="11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t-IT" sz="11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it-IT" sz="1100" i="1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sSup>
                                <m:sSupPr>
                                  <m:ctrlPr>
                                    <a:rPr lang="it-IT" sz="11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it-IT" sz="1100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p>
                                  <m:r>
                                    <a:rPr lang="it-IT" sz="1100" b="0" i="1" smtClean="0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sup>
                              </m:sSup>
                            </m:e>
                          </m:d>
                        </m:oMath>
                      </m:oMathPara>
                    </a14:m>
                    <a:endParaRPr lang="it-IT" sz="1100" dirty="0"/>
                  </a:p>
                </p:txBody>
              </p:sp>
            </mc:Choice>
            <mc:Fallback xmlns="">
              <p:sp>
                <p:nvSpPr>
                  <p:cNvPr id="108" name="CasellaDiTesto 107">
                    <a:extLst>
                      <a:ext uri="{FF2B5EF4-FFF2-40B4-BE49-F238E27FC236}">
                        <a16:creationId xmlns:a16="http://schemas.microsoft.com/office/drawing/2014/main" id="{3DCB7E12-C416-70D8-8507-9D471618D2E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356798" y="4651480"/>
                    <a:ext cx="1394281" cy="446854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  <a:ln>
                    <a:solidFill>
                      <a:srgbClr val="00B050"/>
                    </a:solidFill>
                  </a:ln>
                </p:spPr>
                <p:txBody>
                  <a:bodyPr/>
                  <a:lstStyle/>
                  <a:p>
                    <a:r>
                      <a:rPr lang="it-IT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132" name="Gruppo 131">
            <a:extLst>
              <a:ext uri="{FF2B5EF4-FFF2-40B4-BE49-F238E27FC236}">
                <a16:creationId xmlns:a16="http://schemas.microsoft.com/office/drawing/2014/main" id="{D3F51F73-169E-F15A-A111-E4812EF62FE9}"/>
              </a:ext>
            </a:extLst>
          </p:cNvPr>
          <p:cNvGrpSpPr/>
          <p:nvPr/>
        </p:nvGrpSpPr>
        <p:grpSpPr>
          <a:xfrm>
            <a:off x="8598257" y="4318363"/>
            <a:ext cx="3479442" cy="2443117"/>
            <a:chOff x="8598257" y="4318363"/>
            <a:chExt cx="3479442" cy="2443117"/>
          </a:xfrm>
        </p:grpSpPr>
        <p:sp>
          <p:nvSpPr>
            <p:cNvPr id="118" name="Trapezio 117">
              <a:extLst>
                <a:ext uri="{FF2B5EF4-FFF2-40B4-BE49-F238E27FC236}">
                  <a16:creationId xmlns:a16="http://schemas.microsoft.com/office/drawing/2014/main" id="{0A96AFC0-EA94-B651-C8FF-AB270C74B81E}"/>
                </a:ext>
              </a:extLst>
            </p:cNvPr>
            <p:cNvSpPr/>
            <p:nvPr/>
          </p:nvSpPr>
          <p:spPr>
            <a:xfrm rot="16200000">
              <a:off x="9587330" y="5770598"/>
              <a:ext cx="1206988" cy="774775"/>
            </a:xfrm>
            <a:prstGeom prst="trapezoid">
              <a:avLst>
                <a:gd name="adj" fmla="val 64189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" rtlCol="0" anchor="ctr"/>
            <a:lstStyle/>
            <a:p>
              <a:pPr algn="ctr"/>
              <a:r>
                <a:rPr lang="it-IT" b="1" dirty="0">
                  <a:solidFill>
                    <a:schemeClr val="tx1"/>
                  </a:solidFill>
                </a:rPr>
                <a:t>G</a:t>
              </a:r>
            </a:p>
          </p:txBody>
        </p:sp>
        <p:grpSp>
          <p:nvGrpSpPr>
            <p:cNvPr id="131" name="Gruppo 130">
              <a:extLst>
                <a:ext uri="{FF2B5EF4-FFF2-40B4-BE49-F238E27FC236}">
                  <a16:creationId xmlns:a16="http://schemas.microsoft.com/office/drawing/2014/main" id="{3D5A9F44-E299-3C97-848D-7BD77626DBB8}"/>
                </a:ext>
              </a:extLst>
            </p:cNvPr>
            <p:cNvGrpSpPr/>
            <p:nvPr/>
          </p:nvGrpSpPr>
          <p:grpSpPr>
            <a:xfrm>
              <a:off x="8598257" y="4318363"/>
              <a:ext cx="3479442" cy="2187571"/>
              <a:chOff x="8598257" y="4318363"/>
              <a:chExt cx="3479442" cy="2187571"/>
            </a:xfrm>
          </p:grpSpPr>
          <p:sp>
            <p:nvSpPr>
              <p:cNvPr id="119" name="Trapezio 118">
                <a:extLst>
                  <a:ext uri="{FF2B5EF4-FFF2-40B4-BE49-F238E27FC236}">
                    <a16:creationId xmlns:a16="http://schemas.microsoft.com/office/drawing/2014/main" id="{187136D0-CC4D-84D0-95D0-72151737B3B5}"/>
                  </a:ext>
                </a:extLst>
              </p:cNvPr>
              <p:cNvSpPr/>
              <p:nvPr/>
            </p:nvSpPr>
            <p:spPr>
              <a:xfrm rot="5400000" flipH="1">
                <a:off x="9587328" y="4534470"/>
                <a:ext cx="1206988" cy="774773"/>
              </a:xfrm>
              <a:prstGeom prst="trapezoid">
                <a:avLst>
                  <a:gd name="adj" fmla="val 64189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it-IT" b="1" dirty="0">
                    <a:solidFill>
                      <a:schemeClr val="tx1"/>
                    </a:solidFill>
                  </a:rPr>
                  <a:t>D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0" name="CasellaDiTesto 119">
                    <a:extLst>
                      <a:ext uri="{FF2B5EF4-FFF2-40B4-BE49-F238E27FC236}">
                        <a16:creationId xmlns:a16="http://schemas.microsoft.com/office/drawing/2014/main" id="{A41F05F8-46DA-CD96-CD90-5063EA721F10}"/>
                      </a:ext>
                    </a:extLst>
                  </p:cNvPr>
                  <p:cNvSpPr txBox="1"/>
                  <p:nvPr/>
                </p:nvSpPr>
                <p:spPr>
                  <a:xfrm>
                    <a:off x="8598257" y="4450256"/>
                    <a:ext cx="1314110" cy="9291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∼</m:t>
                          </m:r>
                          <m:sSup>
                            <m:sSupPr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p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p>
                          </m:sSup>
                        </m:oMath>
                      </m:oMathPara>
                    </a14:m>
                    <a:endParaRPr lang="it-IT" b="0" dirty="0"/>
                  </a:p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∼</m:t>
                          </m:r>
                          <m:sSup>
                            <m:sSupPr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p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sup>
                          </m:sSup>
                        </m:oMath>
                      </m:oMathPara>
                    </a14:m>
                    <a:endParaRPr lang="it-IT" b="0" dirty="0"/>
                  </a:p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sSup>
                            <m:sSupPr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sup>
                          </m:sSup>
                        </m:oMath>
                      </m:oMathPara>
                    </a14:m>
                    <a:endParaRPr lang="it-IT" b="0" dirty="0"/>
                  </a:p>
                </p:txBody>
              </p:sp>
            </mc:Choice>
            <mc:Fallback xmlns="">
              <p:sp>
                <p:nvSpPr>
                  <p:cNvPr id="120" name="CasellaDiTesto 119">
                    <a:extLst>
                      <a:ext uri="{FF2B5EF4-FFF2-40B4-BE49-F238E27FC236}">
                        <a16:creationId xmlns:a16="http://schemas.microsoft.com/office/drawing/2014/main" id="{A41F05F8-46DA-CD96-CD90-5063EA721F1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598257" y="4450256"/>
                    <a:ext cx="1314110" cy="929165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it-IT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21" name="Connettore 2 120">
                <a:extLst>
                  <a:ext uri="{FF2B5EF4-FFF2-40B4-BE49-F238E27FC236}">
                    <a16:creationId xmlns:a16="http://schemas.microsoft.com/office/drawing/2014/main" id="{BD7EEA8E-8C1D-E376-AE7C-1BF65DAD1A1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578209" y="4920112"/>
                <a:ext cx="228906" cy="87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22" name="Ovale 121">
                <a:extLst>
                  <a:ext uri="{FF2B5EF4-FFF2-40B4-BE49-F238E27FC236}">
                    <a16:creationId xmlns:a16="http://schemas.microsoft.com/office/drawing/2014/main" id="{AA5DC83D-DFAC-7971-0346-9E224F8B836C}"/>
                  </a:ext>
                </a:extLst>
              </p:cNvPr>
              <p:cNvSpPr/>
              <p:nvPr/>
            </p:nvSpPr>
            <p:spPr>
              <a:xfrm>
                <a:off x="10807115" y="4812112"/>
                <a:ext cx="216000" cy="216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  <p:sp>
            <p:nvSpPr>
              <p:cNvPr id="123" name="Ovale 122">
                <a:extLst>
                  <a:ext uri="{FF2B5EF4-FFF2-40B4-BE49-F238E27FC236}">
                    <a16:creationId xmlns:a16="http://schemas.microsoft.com/office/drawing/2014/main" id="{658AD50F-F6BF-2A32-1C30-B31A7184961F}"/>
                  </a:ext>
                </a:extLst>
              </p:cNvPr>
              <p:cNvSpPr/>
              <p:nvPr/>
            </p:nvSpPr>
            <p:spPr>
              <a:xfrm>
                <a:off x="9731435" y="6051795"/>
                <a:ext cx="72000" cy="72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  <p:sp>
            <p:nvSpPr>
              <p:cNvPr id="124" name="Ovale 123">
                <a:extLst>
                  <a:ext uri="{FF2B5EF4-FFF2-40B4-BE49-F238E27FC236}">
                    <a16:creationId xmlns:a16="http://schemas.microsoft.com/office/drawing/2014/main" id="{3A2518C7-D204-1A4D-D499-58B716B05754}"/>
                  </a:ext>
                </a:extLst>
              </p:cNvPr>
              <p:cNvSpPr/>
              <p:nvPr/>
            </p:nvSpPr>
            <p:spPr>
              <a:xfrm>
                <a:off x="9729054" y="6132175"/>
                <a:ext cx="72000" cy="72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  <p:sp>
            <p:nvSpPr>
              <p:cNvPr id="125" name="Ovale 124">
                <a:extLst>
                  <a:ext uri="{FF2B5EF4-FFF2-40B4-BE49-F238E27FC236}">
                    <a16:creationId xmlns:a16="http://schemas.microsoft.com/office/drawing/2014/main" id="{A7402C14-926D-AE9A-EC27-5D9F8C2364B7}"/>
                  </a:ext>
                </a:extLst>
              </p:cNvPr>
              <p:cNvSpPr/>
              <p:nvPr/>
            </p:nvSpPr>
            <p:spPr>
              <a:xfrm>
                <a:off x="9729847" y="6211550"/>
                <a:ext cx="72000" cy="72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6" name="CasellaDiTesto 125">
                    <a:extLst>
                      <a:ext uri="{FF2B5EF4-FFF2-40B4-BE49-F238E27FC236}">
                        <a16:creationId xmlns:a16="http://schemas.microsoft.com/office/drawing/2014/main" id="{0E100827-0E10-D861-ED37-51AC5BFD9E54}"/>
                      </a:ext>
                    </a:extLst>
                  </p:cNvPr>
                  <p:cNvSpPr txBox="1"/>
                  <p:nvPr/>
                </p:nvSpPr>
                <p:spPr>
                  <a:xfrm>
                    <a:off x="8800637" y="5854665"/>
                    <a:ext cx="968535" cy="65126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∼</m:t>
                          </m:r>
                          <m:sSub>
                            <m:sSubPr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</m:oMath>
                      </m:oMathPara>
                    </a14:m>
                    <a:endParaRPr lang="it-IT" b="0" dirty="0"/>
                  </a:p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sSup>
                            <m:sSupPr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sub>
                              </m:sSub>
                            </m:sup>
                          </m:sSup>
                        </m:oMath>
                      </m:oMathPara>
                    </a14:m>
                    <a:endParaRPr lang="it-IT" b="0" dirty="0"/>
                  </a:p>
                </p:txBody>
              </p:sp>
            </mc:Choice>
            <mc:Fallback xmlns="">
              <p:sp>
                <p:nvSpPr>
                  <p:cNvPr id="126" name="CasellaDiTesto 125">
                    <a:extLst>
                      <a:ext uri="{FF2B5EF4-FFF2-40B4-BE49-F238E27FC236}">
                        <a16:creationId xmlns:a16="http://schemas.microsoft.com/office/drawing/2014/main" id="{0E100827-0E10-D861-ED37-51AC5BFD9E5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800637" y="5854665"/>
                    <a:ext cx="968535" cy="651269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it-IT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8" name="CasellaDiTesto 127">
                    <a:extLst>
                      <a:ext uri="{FF2B5EF4-FFF2-40B4-BE49-F238E27FC236}">
                        <a16:creationId xmlns:a16="http://schemas.microsoft.com/office/drawing/2014/main" id="{6784C753-D5E2-0A54-E601-9C163CAE4909}"/>
                      </a:ext>
                    </a:extLst>
                  </p:cNvPr>
                  <p:cNvSpPr txBox="1"/>
                  <p:nvPr/>
                </p:nvSpPr>
                <p:spPr>
                  <a:xfrm>
                    <a:off x="11023115" y="5984928"/>
                    <a:ext cx="977858" cy="37023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∼</m:t>
                          </m:r>
                          <m:sSup>
                            <m:sSupPr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p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sup>
                          </m:sSup>
                        </m:oMath>
                      </m:oMathPara>
                    </a14:m>
                    <a:endParaRPr lang="it-IT" dirty="0"/>
                  </a:p>
                </p:txBody>
              </p:sp>
            </mc:Choice>
            <mc:Fallback xmlns="">
              <p:sp>
                <p:nvSpPr>
                  <p:cNvPr id="128" name="CasellaDiTesto 127">
                    <a:extLst>
                      <a:ext uri="{FF2B5EF4-FFF2-40B4-BE49-F238E27FC236}">
                        <a16:creationId xmlns:a16="http://schemas.microsoft.com/office/drawing/2014/main" id="{6784C753-D5E2-0A54-E601-9C163CAE490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023115" y="5984928"/>
                    <a:ext cx="977858" cy="370230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it-IT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29" name="Connettore 2 128">
                <a:extLst>
                  <a:ext uri="{FF2B5EF4-FFF2-40B4-BE49-F238E27FC236}">
                    <a16:creationId xmlns:a16="http://schemas.microsoft.com/office/drawing/2014/main" id="{1A09B6F6-7C15-2BD4-A189-16224A349C1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585992" y="6174495"/>
                <a:ext cx="228906" cy="87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0" name="CasellaDiTesto 129">
                    <a:extLst>
                      <a:ext uri="{FF2B5EF4-FFF2-40B4-BE49-F238E27FC236}">
                        <a16:creationId xmlns:a16="http://schemas.microsoft.com/office/drawing/2014/main" id="{0D1A8D31-B20C-A0F6-F219-BC1CD6AE1DD9}"/>
                      </a:ext>
                    </a:extLst>
                  </p:cNvPr>
                  <p:cNvSpPr txBox="1"/>
                  <p:nvPr/>
                </p:nvSpPr>
                <p:spPr>
                  <a:xfrm>
                    <a:off x="11023114" y="4734997"/>
                    <a:ext cx="1054585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∈[0,1]</m:t>
                          </m:r>
                        </m:oMath>
                      </m:oMathPara>
                    </a14:m>
                    <a:endParaRPr lang="it-IT" dirty="0"/>
                  </a:p>
                </p:txBody>
              </p:sp>
            </mc:Choice>
            <mc:Fallback xmlns="">
              <p:sp>
                <p:nvSpPr>
                  <p:cNvPr id="130" name="CasellaDiTesto 129">
                    <a:extLst>
                      <a:ext uri="{FF2B5EF4-FFF2-40B4-BE49-F238E27FC236}">
                        <a16:creationId xmlns:a16="http://schemas.microsoft.com/office/drawing/2014/main" id="{0D1A8D31-B20C-A0F6-F219-BC1CD6AE1DD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023114" y="4734997"/>
                    <a:ext cx="1054585" cy="369332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 r="-1156" b="-18333"/>
                    </a:stretch>
                  </a:blipFill>
                </p:spPr>
                <p:txBody>
                  <a:bodyPr/>
                  <a:lstStyle/>
                  <a:p>
                    <a:r>
                      <a:rPr lang="it-IT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sp>
        <p:nvSpPr>
          <p:cNvPr id="133" name="CasellaDiTesto 132">
            <a:extLst>
              <a:ext uri="{FF2B5EF4-FFF2-40B4-BE49-F238E27FC236}">
                <a16:creationId xmlns:a16="http://schemas.microsoft.com/office/drawing/2014/main" id="{9D2A760F-23DD-118F-594A-609C183B3184}"/>
              </a:ext>
            </a:extLst>
          </p:cNvPr>
          <p:cNvSpPr txBox="1"/>
          <p:nvPr/>
        </p:nvSpPr>
        <p:spPr>
          <a:xfrm>
            <a:off x="9217776" y="6523856"/>
            <a:ext cx="944489" cy="307777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it-IT" sz="1400" dirty="0">
                <a:latin typeface="Book Antiqua" panose="02040602050305030304" pitchFamily="18" charset="0"/>
                <a:cs typeface="Times New Roman" panose="02020603050405020304" pitchFamily="18" charset="0"/>
              </a:rPr>
              <a:t>Sampling</a:t>
            </a:r>
            <a:endParaRPr lang="it-IT" dirty="0">
              <a:latin typeface="Book Antiqua" panose="0204060205030503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4" name="CasellaDiTesto 133">
            <a:extLst>
              <a:ext uri="{FF2B5EF4-FFF2-40B4-BE49-F238E27FC236}">
                <a16:creationId xmlns:a16="http://schemas.microsoft.com/office/drawing/2014/main" id="{C2250B73-AD1E-3B7A-C024-93C2D41ED5F4}"/>
              </a:ext>
            </a:extLst>
          </p:cNvPr>
          <p:cNvSpPr txBox="1"/>
          <p:nvPr/>
        </p:nvSpPr>
        <p:spPr>
          <a:xfrm>
            <a:off x="11059682" y="5390740"/>
            <a:ext cx="1074333" cy="307777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it-IT" sz="1400" dirty="0" err="1">
                <a:latin typeface="Book Antiqua" panose="02040602050305030304" pitchFamily="18" charset="0"/>
                <a:cs typeface="Times New Roman" panose="02020603050405020304" pitchFamily="18" charset="0"/>
              </a:rPr>
              <a:t>Generating</a:t>
            </a:r>
            <a:endParaRPr lang="it-IT" dirty="0">
              <a:latin typeface="Book Antiqua" panose="0204060205030503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5" name="Connettore a gomito 134">
            <a:extLst>
              <a:ext uri="{FF2B5EF4-FFF2-40B4-BE49-F238E27FC236}">
                <a16:creationId xmlns:a16="http://schemas.microsoft.com/office/drawing/2014/main" id="{92756969-42C1-FDCA-764C-FFA78A3C55A9}"/>
              </a:ext>
            </a:extLst>
          </p:cNvPr>
          <p:cNvCxnSpPr>
            <a:cxnSpLocks/>
            <a:stCxn id="134" idx="1"/>
            <a:endCxn id="118" idx="3"/>
          </p:cNvCxnSpPr>
          <p:nvPr/>
        </p:nvCxnSpPr>
        <p:spPr>
          <a:xfrm rot="10800000" flipV="1">
            <a:off x="10190826" y="5544628"/>
            <a:ext cx="868857" cy="258523"/>
          </a:xfrm>
          <a:prstGeom prst="bentConnector2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Connettore a gomito 138">
            <a:extLst>
              <a:ext uri="{FF2B5EF4-FFF2-40B4-BE49-F238E27FC236}">
                <a16:creationId xmlns:a16="http://schemas.microsoft.com/office/drawing/2014/main" id="{82EA9B3D-2730-A57F-A996-34B95109F5F1}"/>
              </a:ext>
            </a:extLst>
          </p:cNvPr>
          <p:cNvCxnSpPr>
            <a:cxnSpLocks/>
            <a:stCxn id="133" idx="0"/>
            <a:endCxn id="125" idx="4"/>
          </p:cNvCxnSpPr>
          <p:nvPr/>
        </p:nvCxnSpPr>
        <p:spPr>
          <a:xfrm rot="5400000" flipH="1" flipV="1">
            <a:off x="9607781" y="6365790"/>
            <a:ext cx="240306" cy="75826"/>
          </a:xfrm>
          <a:prstGeom prst="bentConnector3">
            <a:avLst>
              <a:gd name="adj1" fmla="val 50000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E65157E1-A72E-1462-ED6F-65E625244002}"/>
                  </a:ext>
                </a:extLst>
              </p:cNvPr>
              <p:cNvSpPr txBox="1"/>
              <p:nvPr/>
            </p:nvSpPr>
            <p:spPr>
              <a:xfrm>
                <a:off x="2954784" y="0"/>
                <a:ext cx="628243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it-IT" sz="2800" b="1" dirty="0">
                    <a:latin typeface="Georgia" panose="02040502050405020303" pitchFamily="18" charset="0"/>
                  </a:rPr>
                  <a:t>GANs</a:t>
                </a:r>
                <a:r>
                  <a:rPr lang="it-IT" sz="2800" dirty="0">
                    <a:latin typeface="Georgia" panose="02040502050405020303" pitchFamily="18" charset="0"/>
                  </a:rPr>
                  <a:t>:</a:t>
                </a:r>
                <a:r>
                  <a:rPr lang="it-IT" sz="2800" b="1" dirty="0">
                    <a:latin typeface="Georgia" panose="02040502050405020303" pitchFamily="18" charset="0"/>
                  </a:rPr>
                  <a:t> </a:t>
                </a:r>
                <a:r>
                  <a:rPr lang="it-IT" sz="2400" dirty="0">
                    <a:latin typeface="Georgia" panose="02040502050405020303" pitchFamily="18" charset="0"/>
                  </a:rPr>
                  <a:t>learning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400" b="0" i="1" dirty="0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it-IT" sz="2400" b="0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r>
                      <a:rPr lang="it-IT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it-IT" sz="2400" i="1" dirty="0" err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it-IT" sz="2400" i="1" dirty="0" err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it-IT" sz="2400" i="1" dirty="0" err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it-IT" sz="2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it-IT" sz="2800" dirty="0">
                  <a:latin typeface="Georgia" panose="02040502050405020303" pitchFamily="18" charset="0"/>
                </a:endParaRPr>
              </a:p>
            </p:txBody>
          </p:sp>
        </mc:Choice>
        <mc:Fallback xmlns=""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E65157E1-A72E-1462-ED6F-65E6252440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4784" y="0"/>
                <a:ext cx="6282431" cy="523220"/>
              </a:xfrm>
              <a:prstGeom prst="rect">
                <a:avLst/>
              </a:prstGeom>
              <a:blipFill>
                <a:blip r:embed="rId18"/>
                <a:stretch>
                  <a:fillRect t="-11628" b="-31395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C6BFB06D-3E46-5B76-0ADE-2E836F3A2F83}"/>
              </a:ext>
            </a:extLst>
          </p:cNvPr>
          <p:cNvSpPr txBox="1"/>
          <p:nvPr/>
        </p:nvSpPr>
        <p:spPr>
          <a:xfrm>
            <a:off x="8349708" y="2684715"/>
            <a:ext cx="384229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dirty="0" err="1">
                <a:latin typeface="Bookman Old Style" panose="02050604050505020204" pitchFamily="18" charset="0"/>
              </a:rPr>
              <a:t>We</a:t>
            </a:r>
            <a:r>
              <a:rPr lang="it-IT" dirty="0">
                <a:latin typeface="Bookman Old Style" panose="02050604050505020204" pitchFamily="18" charset="0"/>
              </a:rPr>
              <a:t> </a:t>
            </a:r>
            <a:r>
              <a:rPr lang="it-IT" dirty="0" err="1">
                <a:latin typeface="Bookman Old Style" panose="02050604050505020204" pitchFamily="18" charset="0"/>
              </a:rPr>
              <a:t>train</a:t>
            </a:r>
            <a:r>
              <a:rPr lang="it-IT" dirty="0">
                <a:latin typeface="Bookman Old Style" panose="02050604050505020204" pitchFamily="18" charset="0"/>
              </a:rPr>
              <a:t> the </a:t>
            </a:r>
            <a:r>
              <a:rPr lang="it-IT" b="1" dirty="0">
                <a:solidFill>
                  <a:srgbClr val="00B0F0"/>
                </a:solidFill>
                <a:latin typeface="Bookman Old Style" panose="02050604050505020204" pitchFamily="18" charset="0"/>
              </a:rPr>
              <a:t>generator</a:t>
            </a:r>
            <a:r>
              <a:rPr lang="it-IT" dirty="0">
                <a:latin typeface="Bookman Old Style" panose="02050604050505020204" pitchFamily="18" charset="0"/>
              </a:rPr>
              <a:t> to</a:t>
            </a:r>
          </a:p>
          <a:p>
            <a:pPr algn="ctr"/>
            <a:r>
              <a:rPr lang="it-IT" dirty="0" err="1">
                <a:latin typeface="Bookman Old Style" panose="02050604050505020204" pitchFamily="18" charset="0"/>
              </a:rPr>
              <a:t>Fool</a:t>
            </a:r>
            <a:r>
              <a:rPr lang="it-IT" dirty="0">
                <a:latin typeface="Bookman Old Style" panose="02050604050505020204" pitchFamily="18" charset="0"/>
              </a:rPr>
              <a:t> (to </a:t>
            </a:r>
            <a:r>
              <a:rPr lang="it-IT" dirty="0" err="1">
                <a:latin typeface="Bookman Old Style" panose="02050604050505020204" pitchFamily="18" charset="0"/>
              </a:rPr>
              <a:t>deceive</a:t>
            </a:r>
            <a:r>
              <a:rPr lang="it-IT" dirty="0">
                <a:latin typeface="Bookman Old Style" panose="02050604050505020204" pitchFamily="18" charset="0"/>
              </a:rPr>
              <a:t>, bluff) the </a:t>
            </a:r>
            <a:r>
              <a:rPr lang="it-IT" b="1" dirty="0">
                <a:solidFill>
                  <a:srgbClr val="00B0F0"/>
                </a:solidFill>
                <a:latin typeface="Bookman Old Style" panose="02050604050505020204" pitchFamily="18" charset="0"/>
              </a:rPr>
              <a:t>discriminator</a:t>
            </a:r>
            <a:r>
              <a:rPr lang="it-IT" dirty="0">
                <a:latin typeface="Bookman Old Style" panose="02050604050505020204" pitchFamily="18" charset="0"/>
              </a:rPr>
              <a:t> 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150825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2" grpId="0"/>
      <p:bldP spid="14" grpId="0"/>
      <p:bldP spid="133" grpId="0" animBg="1"/>
      <p:bldP spid="134" grpId="0" animBg="1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C67D93-ED59-1EC4-9DCF-DD8E7C769D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sellaDiTesto 8">
            <a:extLst>
              <a:ext uri="{FF2B5EF4-FFF2-40B4-BE49-F238E27FC236}">
                <a16:creationId xmlns:a16="http://schemas.microsoft.com/office/drawing/2014/main" id="{CF33F48D-34F5-28DE-CA1E-2FA5574FAC76}"/>
              </a:ext>
            </a:extLst>
          </p:cNvPr>
          <p:cNvSpPr txBox="1"/>
          <p:nvPr/>
        </p:nvSpPr>
        <p:spPr>
          <a:xfrm>
            <a:off x="0" y="-6065"/>
            <a:ext cx="1219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2000" b="1" dirty="0" err="1">
                <a:latin typeface="Georgia" panose="02040502050405020303" pitchFamily="18" charset="0"/>
              </a:rPr>
              <a:t>GANs</a:t>
            </a:r>
            <a:r>
              <a:rPr lang="it-IT" sz="2000" b="1" dirty="0">
                <a:latin typeface="Georgia" panose="02040502050405020303" pitchFamily="18" charset="0"/>
              </a:rPr>
              <a:t> Training </a:t>
            </a:r>
            <a:r>
              <a:rPr lang="it-IT" sz="2000" b="1" dirty="0" err="1">
                <a:latin typeface="Georgia" panose="02040502050405020303" pitchFamily="18" charset="0"/>
              </a:rPr>
              <a:t>diagrams</a:t>
            </a:r>
            <a:endParaRPr lang="it-IT" sz="2000" b="1" dirty="0">
              <a:latin typeface="Georgia" panose="02040502050405020303" pitchFamily="18" charset="0"/>
            </a:endParaRPr>
          </a:p>
        </p:txBody>
      </p:sp>
      <p:grpSp>
        <p:nvGrpSpPr>
          <p:cNvPr id="2" name="Gruppo 1">
            <a:extLst>
              <a:ext uri="{FF2B5EF4-FFF2-40B4-BE49-F238E27FC236}">
                <a16:creationId xmlns:a16="http://schemas.microsoft.com/office/drawing/2014/main" id="{4B9455DE-DA5F-8E4B-A64C-261F73C28779}"/>
              </a:ext>
            </a:extLst>
          </p:cNvPr>
          <p:cNvGrpSpPr/>
          <p:nvPr/>
        </p:nvGrpSpPr>
        <p:grpSpPr>
          <a:xfrm>
            <a:off x="5367920" y="2356693"/>
            <a:ext cx="6275414" cy="1789129"/>
            <a:chOff x="107175" y="4255378"/>
            <a:chExt cx="6275414" cy="1789129"/>
          </a:xfrm>
        </p:grpSpPr>
        <p:cxnSp>
          <p:nvCxnSpPr>
            <p:cNvPr id="11" name="Connettore 2 10">
              <a:extLst>
                <a:ext uri="{FF2B5EF4-FFF2-40B4-BE49-F238E27FC236}">
                  <a16:creationId xmlns:a16="http://schemas.microsoft.com/office/drawing/2014/main" id="{29FF9BAC-6E67-DEF5-7132-504BC902FD40}"/>
                </a:ext>
              </a:extLst>
            </p:cNvPr>
            <p:cNvCxnSpPr>
              <a:cxnSpLocks/>
              <a:stCxn id="40" idx="0"/>
              <a:endCxn id="19" idx="1"/>
            </p:cNvCxnSpPr>
            <p:nvPr/>
          </p:nvCxnSpPr>
          <p:spPr>
            <a:xfrm flipV="1">
              <a:off x="3780251" y="4478805"/>
              <a:ext cx="1101693" cy="42582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" name="CasellaDiTesto 11">
              <a:extLst>
                <a:ext uri="{FF2B5EF4-FFF2-40B4-BE49-F238E27FC236}">
                  <a16:creationId xmlns:a16="http://schemas.microsoft.com/office/drawing/2014/main" id="{E7C61F5C-F25B-3274-1601-4590634FB0E5}"/>
                </a:ext>
              </a:extLst>
            </p:cNvPr>
            <p:cNvSpPr txBox="1"/>
            <p:nvPr/>
          </p:nvSpPr>
          <p:spPr>
            <a:xfrm>
              <a:off x="107175" y="4302895"/>
              <a:ext cx="627541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it-IT" dirty="0">
                  <a:solidFill>
                    <a:srgbClr val="7E44A9"/>
                  </a:solidFill>
                </a:rPr>
                <a:t>Discriminator Training			</a:t>
              </a:r>
            </a:p>
          </p:txBody>
        </p:sp>
        <p:grpSp>
          <p:nvGrpSpPr>
            <p:cNvPr id="13" name="Gruppo 12">
              <a:extLst>
                <a:ext uri="{FF2B5EF4-FFF2-40B4-BE49-F238E27FC236}">
                  <a16:creationId xmlns:a16="http://schemas.microsoft.com/office/drawing/2014/main" id="{D1D5D1BF-ED17-3023-FAD6-AC5E3E906CED}"/>
                </a:ext>
              </a:extLst>
            </p:cNvPr>
            <p:cNvGrpSpPr/>
            <p:nvPr/>
          </p:nvGrpSpPr>
          <p:grpSpPr>
            <a:xfrm>
              <a:off x="1871890" y="4904633"/>
              <a:ext cx="4224109" cy="1139874"/>
              <a:chOff x="7634679" y="1303727"/>
              <a:chExt cx="4224109" cy="1139874"/>
            </a:xfrm>
          </p:grpSpPr>
          <p:sp>
            <p:nvSpPr>
              <p:cNvPr id="20" name="CasellaDiTesto 19">
                <a:extLst>
                  <a:ext uri="{FF2B5EF4-FFF2-40B4-BE49-F238E27FC236}">
                    <a16:creationId xmlns:a16="http://schemas.microsoft.com/office/drawing/2014/main" id="{DD9FD1EC-269F-D9D6-F74A-D010FB111228}"/>
                  </a:ext>
                </a:extLst>
              </p:cNvPr>
              <p:cNvSpPr txBox="1"/>
              <p:nvPr/>
            </p:nvSpPr>
            <p:spPr>
              <a:xfrm>
                <a:off x="7634679" y="1307064"/>
                <a:ext cx="733425" cy="369332"/>
              </a:xfrm>
              <a:prstGeom prst="rect">
                <a:avLst/>
              </a:prstGeom>
              <a:noFill/>
              <a:ln w="28575">
                <a:solidFill>
                  <a:srgbClr val="00B05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/>
                <a:r>
                  <a:rPr lang="it-IT" dirty="0"/>
                  <a:t>Data</a:t>
                </a:r>
              </a:p>
            </p:txBody>
          </p:sp>
          <p:sp>
            <p:nvSpPr>
              <p:cNvPr id="22" name="CasellaDiTesto 21">
                <a:extLst>
                  <a:ext uri="{FF2B5EF4-FFF2-40B4-BE49-F238E27FC236}">
                    <a16:creationId xmlns:a16="http://schemas.microsoft.com/office/drawing/2014/main" id="{AFBF69FC-C56D-7D7F-30B2-01DD96C0DAAE}"/>
                  </a:ext>
                </a:extLst>
              </p:cNvPr>
              <p:cNvSpPr txBox="1"/>
              <p:nvPr/>
            </p:nvSpPr>
            <p:spPr>
              <a:xfrm>
                <a:off x="7682304" y="1935946"/>
                <a:ext cx="1762125" cy="369332"/>
              </a:xfrm>
              <a:prstGeom prst="rect">
                <a:avLst/>
              </a:prstGeom>
              <a:noFill/>
              <a:ln w="28575">
                <a:solidFill>
                  <a:srgbClr val="00B05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anchor="ctr">
                <a:spAutoFit/>
              </a:bodyPr>
              <a:lstStyle/>
              <a:p>
                <a:pPr algn="ctr"/>
                <a:r>
                  <a:rPr lang="it-IT" dirty="0"/>
                  <a:t>Discriminator</a:t>
                </a:r>
                <a:endParaRPr lang="it-IT" sz="300" dirty="0"/>
              </a:p>
            </p:txBody>
          </p:sp>
          <p:sp>
            <p:nvSpPr>
              <p:cNvPr id="23" name="CasellaDiTesto 22">
                <a:extLst>
                  <a:ext uri="{FF2B5EF4-FFF2-40B4-BE49-F238E27FC236}">
                    <a16:creationId xmlns:a16="http://schemas.microsoft.com/office/drawing/2014/main" id="{71FF9992-A05D-5B51-55EB-BB01EBB5BE13}"/>
                  </a:ext>
                </a:extLst>
              </p:cNvPr>
              <p:cNvSpPr txBox="1"/>
              <p:nvPr/>
            </p:nvSpPr>
            <p:spPr>
              <a:xfrm>
                <a:off x="10422593" y="1307064"/>
                <a:ext cx="1110265" cy="369332"/>
              </a:xfrm>
              <a:prstGeom prst="rect">
                <a:avLst/>
              </a:prstGeom>
              <a:noFill/>
              <a:ln w="28575">
                <a:solidFill>
                  <a:srgbClr val="00B05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anchor="ctr">
                <a:spAutoFit/>
              </a:bodyPr>
              <a:lstStyle/>
              <a:p>
                <a:pPr algn="ctr"/>
                <a:r>
                  <a:rPr lang="it-IT" dirty="0" err="1"/>
                  <a:t>LossD</a:t>
                </a:r>
                <a:endParaRPr lang="it-IT" sz="300" dirty="0"/>
              </a:p>
            </p:txBody>
          </p:sp>
          <p:sp>
            <p:nvSpPr>
              <p:cNvPr id="24" name="CasellaDiTesto 23">
                <a:extLst>
                  <a:ext uri="{FF2B5EF4-FFF2-40B4-BE49-F238E27FC236}">
                    <a16:creationId xmlns:a16="http://schemas.microsoft.com/office/drawing/2014/main" id="{7DD84DC4-F0C2-F701-F70E-AB48A6EBE1A1}"/>
                  </a:ext>
                </a:extLst>
              </p:cNvPr>
              <p:cNvSpPr txBox="1"/>
              <p:nvPr/>
            </p:nvSpPr>
            <p:spPr>
              <a:xfrm>
                <a:off x="10096662" y="1797270"/>
                <a:ext cx="1762126" cy="646331"/>
              </a:xfrm>
              <a:prstGeom prst="rect">
                <a:avLst/>
              </a:prstGeom>
              <a:noFill/>
              <a:ln w="28575">
                <a:solidFill>
                  <a:srgbClr val="00B05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anchor="ctr">
                <a:spAutoFit/>
              </a:bodyPr>
              <a:lstStyle/>
              <a:p>
                <a:pPr algn="ctr"/>
                <a:r>
                  <a:rPr lang="it-IT" dirty="0"/>
                  <a:t>Weight update (discriminator)</a:t>
                </a:r>
                <a:endParaRPr lang="it-IT" sz="300" dirty="0"/>
              </a:p>
            </p:txBody>
          </p:sp>
          <p:cxnSp>
            <p:nvCxnSpPr>
              <p:cNvPr id="25" name="Connettore 2 24">
                <a:extLst>
                  <a:ext uri="{FF2B5EF4-FFF2-40B4-BE49-F238E27FC236}">
                    <a16:creationId xmlns:a16="http://schemas.microsoft.com/office/drawing/2014/main" id="{B57576F1-549C-A0E9-D1EE-F1DC97B30C16}"/>
                  </a:ext>
                </a:extLst>
              </p:cNvPr>
              <p:cNvCxnSpPr>
                <a:cxnSpLocks/>
                <a:stCxn id="23" idx="2"/>
                <a:endCxn id="24" idx="0"/>
              </p:cNvCxnSpPr>
              <p:nvPr/>
            </p:nvCxnSpPr>
            <p:spPr>
              <a:xfrm flipH="1">
                <a:off x="10977725" y="1676396"/>
                <a:ext cx="1" cy="12087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9" name="Connettore 2 28">
                <a:extLst>
                  <a:ext uri="{FF2B5EF4-FFF2-40B4-BE49-F238E27FC236}">
                    <a16:creationId xmlns:a16="http://schemas.microsoft.com/office/drawing/2014/main" id="{A3F91D9D-1602-5428-B3A2-1D7DB3A55AA3}"/>
                  </a:ext>
                </a:extLst>
              </p:cNvPr>
              <p:cNvCxnSpPr>
                <a:cxnSpLocks/>
                <a:stCxn id="24" idx="1"/>
                <a:endCxn id="22" idx="3"/>
              </p:cNvCxnSpPr>
              <p:nvPr/>
            </p:nvCxnSpPr>
            <p:spPr>
              <a:xfrm flipH="1">
                <a:off x="9444429" y="2120436"/>
                <a:ext cx="652233" cy="17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0" name="Connettore diritto 29">
                <a:extLst>
                  <a:ext uri="{FF2B5EF4-FFF2-40B4-BE49-F238E27FC236}">
                    <a16:creationId xmlns:a16="http://schemas.microsoft.com/office/drawing/2014/main" id="{5B7BA79B-8A10-95F8-0010-28B527928285}"/>
                  </a:ext>
                </a:extLst>
              </p:cNvPr>
              <p:cNvCxnSpPr>
                <a:cxnSpLocks/>
                <a:stCxn id="20" idx="3"/>
                <a:endCxn id="40" idx="1"/>
              </p:cNvCxnSpPr>
              <p:nvPr/>
            </p:nvCxnSpPr>
            <p:spPr>
              <a:xfrm flipV="1">
                <a:off x="8368104" y="1488393"/>
                <a:ext cx="516832" cy="3337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9" name="Connettore a gomito 38">
                <a:extLst>
                  <a:ext uri="{FF2B5EF4-FFF2-40B4-BE49-F238E27FC236}">
                    <a16:creationId xmlns:a16="http://schemas.microsoft.com/office/drawing/2014/main" id="{D5458F03-7A88-3103-231A-E81E83D43F08}"/>
                  </a:ext>
                </a:extLst>
              </p:cNvPr>
              <p:cNvCxnSpPr>
                <a:cxnSpLocks/>
                <a:stCxn id="22" idx="0"/>
                <a:endCxn id="40" idx="1"/>
              </p:cNvCxnSpPr>
              <p:nvPr/>
            </p:nvCxnSpPr>
            <p:spPr>
              <a:xfrm rot="5400000" flipH="1" flipV="1">
                <a:off x="8500375" y="1551386"/>
                <a:ext cx="447553" cy="321569"/>
              </a:xfrm>
              <a:prstGeom prst="bentConnector2">
                <a:avLst/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0" name="CasellaDiTesto 39">
                <a:extLst>
                  <a:ext uri="{FF2B5EF4-FFF2-40B4-BE49-F238E27FC236}">
                    <a16:creationId xmlns:a16="http://schemas.microsoft.com/office/drawing/2014/main" id="{21960662-ECEE-8F28-81A7-02EFCDD15C50}"/>
                  </a:ext>
                </a:extLst>
              </p:cNvPr>
              <p:cNvSpPr txBox="1"/>
              <p:nvPr/>
            </p:nvSpPr>
            <p:spPr>
              <a:xfrm>
                <a:off x="8884936" y="1303727"/>
                <a:ext cx="1316208" cy="369332"/>
              </a:xfrm>
              <a:prstGeom prst="rect">
                <a:avLst/>
              </a:prstGeom>
              <a:noFill/>
              <a:ln w="28575">
                <a:solidFill>
                  <a:srgbClr val="00B05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anchor="ctr">
                <a:spAutoFit/>
              </a:bodyPr>
              <a:lstStyle/>
              <a:p>
                <a:pPr algn="ctr"/>
                <a:r>
                  <a:rPr lang="it-IT" dirty="0" err="1"/>
                  <a:t>Predictions</a:t>
                </a:r>
                <a:endParaRPr lang="it-IT" sz="300" dirty="0"/>
              </a:p>
            </p:txBody>
          </p:sp>
          <p:cxnSp>
            <p:nvCxnSpPr>
              <p:cNvPr id="41" name="Connettore 2 40">
                <a:extLst>
                  <a:ext uri="{FF2B5EF4-FFF2-40B4-BE49-F238E27FC236}">
                    <a16:creationId xmlns:a16="http://schemas.microsoft.com/office/drawing/2014/main" id="{5280304F-FA53-008F-0A91-F1FA76F181EC}"/>
                  </a:ext>
                </a:extLst>
              </p:cNvPr>
              <p:cNvCxnSpPr>
                <a:cxnSpLocks/>
                <a:stCxn id="40" idx="3"/>
                <a:endCxn id="23" idx="1"/>
              </p:cNvCxnSpPr>
              <p:nvPr/>
            </p:nvCxnSpPr>
            <p:spPr>
              <a:xfrm>
                <a:off x="10201144" y="1488393"/>
                <a:ext cx="221449" cy="333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CasellaDiTesto 13">
                  <a:extLst>
                    <a:ext uri="{FF2B5EF4-FFF2-40B4-BE49-F238E27FC236}">
                      <a16:creationId xmlns:a16="http://schemas.microsoft.com/office/drawing/2014/main" id="{C9998A70-B9F9-D237-6197-EA4187F09B33}"/>
                    </a:ext>
                  </a:extLst>
                </p:cNvPr>
                <p:cNvSpPr txBox="1"/>
                <p:nvPr/>
              </p:nvSpPr>
              <p:spPr>
                <a:xfrm>
                  <a:off x="519266" y="4754302"/>
                  <a:ext cx="985911" cy="66999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∼</m:t>
                        </m:r>
                        <m:sSup>
                          <m:sSupPr>
                            <m:ctrlPr>
                              <a:rPr lang="it-IT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p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p>
                        </m:sSup>
                      </m:oMath>
                    </m:oMathPara>
                  </a14:m>
                  <a:endParaRPr lang="it-IT" b="0" dirty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∼</m:t>
                        </m:r>
                        <m:sSup>
                          <m:sSupPr>
                            <m:ctrlPr>
                              <a:rPr lang="it-IT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p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sup>
                        </m:sSup>
                      </m:oMath>
                    </m:oMathPara>
                  </a14:m>
                  <a:endParaRPr lang="it-IT" b="0" dirty="0"/>
                </a:p>
              </p:txBody>
            </p:sp>
          </mc:Choice>
          <mc:Fallback xmlns="">
            <p:sp>
              <p:nvSpPr>
                <p:cNvPr id="14" name="CasellaDiTesto 13">
                  <a:extLst>
                    <a:ext uri="{FF2B5EF4-FFF2-40B4-BE49-F238E27FC236}">
                      <a16:creationId xmlns:a16="http://schemas.microsoft.com/office/drawing/2014/main" id="{C9998A70-B9F9-D237-6197-EA4187F09B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9266" y="4754302"/>
                  <a:ext cx="985911" cy="66999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6" name="Connettore 2 15">
              <a:extLst>
                <a:ext uri="{FF2B5EF4-FFF2-40B4-BE49-F238E27FC236}">
                  <a16:creationId xmlns:a16="http://schemas.microsoft.com/office/drawing/2014/main" id="{2B3BC2F6-27DC-7C0F-F24F-964F8036AE38}"/>
                </a:ext>
              </a:extLst>
            </p:cNvPr>
            <p:cNvCxnSpPr/>
            <p:nvPr/>
          </p:nvCxnSpPr>
          <p:spPr>
            <a:xfrm>
              <a:off x="1505177" y="5079365"/>
              <a:ext cx="22767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CasellaDiTesto 18">
                  <a:extLst>
                    <a:ext uri="{FF2B5EF4-FFF2-40B4-BE49-F238E27FC236}">
                      <a16:creationId xmlns:a16="http://schemas.microsoft.com/office/drawing/2014/main" id="{D1829874-5D04-2064-D649-7E4E042C51B5}"/>
                    </a:ext>
                  </a:extLst>
                </p:cNvPr>
                <p:cNvSpPr txBox="1"/>
                <p:nvPr/>
              </p:nvSpPr>
              <p:spPr>
                <a:xfrm>
                  <a:off x="4881944" y="4255378"/>
                  <a:ext cx="1394281" cy="446854"/>
                </a:xfrm>
                <a:prstGeom prst="rect">
                  <a:avLst/>
                </a:prstGeom>
                <a:noFill/>
                <a:ln>
                  <a:solidFill>
                    <a:srgbClr val="00B050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it-IT" sz="12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it-IT" sz="1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it-IT" sz="12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it-IT" sz="1200" b="0" i="1" smtClean="0">
                                <a:latin typeface="Cambria Math" panose="02040503050406030204" pitchFamily="18" charset="0"/>
                              </a:rPr>
                              <m:t>∈</m:t>
                            </m:r>
                            <m:sSup>
                              <m:sSupPr>
                                <m:ctrlPr>
                                  <a:rPr lang="it-IT" sz="1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it-IT" sz="1200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p>
                                <m:r>
                                  <a:rPr lang="it-IT" sz="1200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sup>
                            </m:sSup>
                          </m:e>
                        </m:d>
                      </m:oMath>
                    </m:oMathPara>
                  </a14:m>
                  <a:endParaRPr lang="it-IT" sz="1200" b="0" dirty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it-IT" sz="11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  <m:r>
                          <a:rPr lang="it-IT" sz="1100" i="1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it-IT" sz="11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it-IT" sz="11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it-IT" sz="1100" i="1">
                                <a:latin typeface="Cambria Math" panose="02040503050406030204" pitchFamily="18" charset="0"/>
                              </a:rPr>
                              <m:t>∈</m:t>
                            </m:r>
                            <m:sSup>
                              <m:sSupPr>
                                <m:ctrlPr>
                                  <a:rPr lang="it-IT" sz="11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it-IT" sz="1100" i="1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p>
                                <m:r>
                                  <a:rPr lang="it-IT" sz="1100" b="0" i="1" smtClean="0">
                                    <a:latin typeface="Cambria Math" panose="02040503050406030204" pitchFamily="18" charset="0"/>
                                  </a:rPr>
                                  <m:t>𝐺</m:t>
                                </m:r>
                              </m:sup>
                            </m:sSup>
                          </m:e>
                        </m:d>
                        <m:r>
                          <a:rPr lang="it-IT" sz="11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oMath>
                    </m:oMathPara>
                  </a14:m>
                  <a:endParaRPr lang="it-IT" sz="1100" dirty="0"/>
                </a:p>
              </p:txBody>
            </p:sp>
          </mc:Choice>
          <mc:Fallback xmlns="">
            <p:sp>
              <p:nvSpPr>
                <p:cNvPr id="19" name="CasellaDiTesto 18">
                  <a:extLst>
                    <a:ext uri="{FF2B5EF4-FFF2-40B4-BE49-F238E27FC236}">
                      <a16:creationId xmlns:a16="http://schemas.microsoft.com/office/drawing/2014/main" id="{D1829874-5D04-2064-D649-7E4E042C51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81944" y="4255378"/>
                  <a:ext cx="1394281" cy="446854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solidFill>
                    <a:srgbClr val="00B050"/>
                  </a:solidFill>
                </a:ln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2" name="Gruppo 141">
            <a:extLst>
              <a:ext uri="{FF2B5EF4-FFF2-40B4-BE49-F238E27FC236}">
                <a16:creationId xmlns:a16="http://schemas.microsoft.com/office/drawing/2014/main" id="{6B3050C7-967F-9EE2-07C8-5AFD1807A1A2}"/>
              </a:ext>
            </a:extLst>
          </p:cNvPr>
          <p:cNvGrpSpPr/>
          <p:nvPr/>
        </p:nvGrpSpPr>
        <p:grpSpPr>
          <a:xfrm>
            <a:off x="5367920" y="4438237"/>
            <a:ext cx="6443398" cy="2323589"/>
            <a:chOff x="5527301" y="4396201"/>
            <a:chExt cx="6443398" cy="2323589"/>
          </a:xfrm>
        </p:grpSpPr>
        <p:cxnSp>
          <p:nvCxnSpPr>
            <p:cNvPr id="74" name="Connettore a gomito 73">
              <a:extLst>
                <a:ext uri="{FF2B5EF4-FFF2-40B4-BE49-F238E27FC236}">
                  <a16:creationId xmlns:a16="http://schemas.microsoft.com/office/drawing/2014/main" id="{EA1CD685-6F80-E935-B257-66FEDD2A67BF}"/>
                </a:ext>
              </a:extLst>
            </p:cNvPr>
            <p:cNvCxnSpPr>
              <a:cxnSpLocks/>
              <a:stCxn id="56" idx="1"/>
              <a:endCxn id="59" idx="0"/>
            </p:cNvCxnSpPr>
            <p:nvPr/>
          </p:nvCxnSpPr>
          <p:spPr>
            <a:xfrm rot="10800000" flipV="1">
              <a:off x="6162172" y="5810039"/>
              <a:ext cx="288822" cy="478286"/>
            </a:xfrm>
            <a:prstGeom prst="bentConnector2">
              <a:avLst/>
            </a:prstGeom>
            <a:ln w="19050">
              <a:solidFill>
                <a:schemeClr val="tx1"/>
              </a:solidFill>
              <a:headEnd type="arrow"/>
              <a:tailEnd type="non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grpSp>
          <p:nvGrpSpPr>
            <p:cNvPr id="85" name="Gruppo 84">
              <a:extLst>
                <a:ext uri="{FF2B5EF4-FFF2-40B4-BE49-F238E27FC236}">
                  <a16:creationId xmlns:a16="http://schemas.microsoft.com/office/drawing/2014/main" id="{77A6FB66-A983-6C66-D6B6-67C2EE248F99}"/>
                </a:ext>
              </a:extLst>
            </p:cNvPr>
            <p:cNvGrpSpPr/>
            <p:nvPr/>
          </p:nvGrpSpPr>
          <p:grpSpPr>
            <a:xfrm>
              <a:off x="5527301" y="4396201"/>
              <a:ext cx="6443398" cy="2323589"/>
              <a:chOff x="5678303" y="2750244"/>
              <a:chExt cx="6443398" cy="2323589"/>
            </a:xfrm>
          </p:grpSpPr>
          <p:grpSp>
            <p:nvGrpSpPr>
              <p:cNvPr id="43" name="Gruppo 42">
                <a:extLst>
                  <a:ext uri="{FF2B5EF4-FFF2-40B4-BE49-F238E27FC236}">
                    <a16:creationId xmlns:a16="http://schemas.microsoft.com/office/drawing/2014/main" id="{A636C0AB-048A-FF94-BA8E-F5688C28AC17}"/>
                  </a:ext>
                </a:extLst>
              </p:cNvPr>
              <p:cNvGrpSpPr/>
              <p:nvPr/>
            </p:nvGrpSpPr>
            <p:grpSpPr>
              <a:xfrm>
                <a:off x="5678303" y="3051266"/>
                <a:ext cx="6388724" cy="2022567"/>
                <a:chOff x="1130515" y="4829661"/>
                <a:chExt cx="6518150" cy="2022567"/>
              </a:xfrm>
            </p:grpSpPr>
            <p:cxnSp>
              <p:nvCxnSpPr>
                <p:cNvPr id="44" name="Connettore a gomito 43">
                  <a:extLst>
                    <a:ext uri="{FF2B5EF4-FFF2-40B4-BE49-F238E27FC236}">
                      <a16:creationId xmlns:a16="http://schemas.microsoft.com/office/drawing/2014/main" id="{CC9FF101-EEA5-F5A5-17D1-4EA6EE38ECBE}"/>
                    </a:ext>
                  </a:extLst>
                </p:cNvPr>
                <p:cNvCxnSpPr>
                  <a:cxnSpLocks/>
                  <a:stCxn id="63" idx="2"/>
                  <a:endCxn id="56" idx="2"/>
                </p:cNvCxnSpPr>
                <p:nvPr/>
              </p:nvCxnSpPr>
              <p:spPr>
                <a:xfrm rot="5400000" flipH="1">
                  <a:off x="4611406" y="4302869"/>
                  <a:ext cx="459883" cy="4031489"/>
                </a:xfrm>
                <a:prstGeom prst="bentConnector3">
                  <a:avLst>
                    <a:gd name="adj1" fmla="val -49708"/>
                  </a:avLst>
                </a:prstGeom>
                <a:ln>
                  <a:tailEnd type="triangle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45" name="Gruppo 44">
                  <a:extLst>
                    <a:ext uri="{FF2B5EF4-FFF2-40B4-BE49-F238E27FC236}">
                      <a16:creationId xmlns:a16="http://schemas.microsoft.com/office/drawing/2014/main" id="{BEF150F1-6C0C-FCB1-7250-7E417E0B8222}"/>
                    </a:ext>
                  </a:extLst>
                </p:cNvPr>
                <p:cNvGrpSpPr/>
                <p:nvPr/>
              </p:nvGrpSpPr>
              <p:grpSpPr>
                <a:xfrm>
                  <a:off x="1130515" y="4829661"/>
                  <a:ext cx="6518150" cy="2022567"/>
                  <a:chOff x="5617080" y="4651480"/>
                  <a:chExt cx="6518150" cy="2022567"/>
                </a:xfrm>
              </p:grpSpPr>
              <p:grpSp>
                <p:nvGrpSpPr>
                  <p:cNvPr id="46" name="Gruppo 45">
                    <a:extLst>
                      <a:ext uri="{FF2B5EF4-FFF2-40B4-BE49-F238E27FC236}">
                        <a16:creationId xmlns:a16="http://schemas.microsoft.com/office/drawing/2014/main" id="{243D458A-1D26-D5DD-BC4F-8D29C3C97F03}"/>
                      </a:ext>
                    </a:extLst>
                  </p:cNvPr>
                  <p:cNvGrpSpPr/>
                  <p:nvPr/>
                </p:nvGrpSpPr>
                <p:grpSpPr>
                  <a:xfrm>
                    <a:off x="5617080" y="4793567"/>
                    <a:ext cx="6518150" cy="1880480"/>
                    <a:chOff x="5494428" y="4641167"/>
                    <a:chExt cx="6518150" cy="1880480"/>
                  </a:xfrm>
                </p:grpSpPr>
                <p:grpSp>
                  <p:nvGrpSpPr>
                    <p:cNvPr id="49" name="Gruppo 48">
                      <a:extLst>
                        <a:ext uri="{FF2B5EF4-FFF2-40B4-BE49-F238E27FC236}">
                          <a16:creationId xmlns:a16="http://schemas.microsoft.com/office/drawing/2014/main" id="{91BF0C8F-3D9A-7798-5E21-D8E611BB9E6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494428" y="4641167"/>
                      <a:ext cx="6518150" cy="1880480"/>
                      <a:chOff x="5229990" y="4596436"/>
                      <a:chExt cx="6518150" cy="1880480"/>
                    </a:xfrm>
                  </p:grpSpPr>
                  <p:grpSp>
                    <p:nvGrpSpPr>
                      <p:cNvPr id="51" name="Gruppo 50">
                        <a:extLst>
                          <a:ext uri="{FF2B5EF4-FFF2-40B4-BE49-F238E27FC236}">
                            <a16:creationId xmlns:a16="http://schemas.microsoft.com/office/drawing/2014/main" id="{2586C503-AEE3-870D-3643-54931F16D07A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229990" y="4596436"/>
                        <a:ext cx="6518150" cy="1880480"/>
                        <a:chOff x="5314315" y="4576214"/>
                        <a:chExt cx="6518150" cy="1880480"/>
                      </a:xfrm>
                    </p:grpSpPr>
                    <p:grpSp>
                      <p:nvGrpSpPr>
                        <p:cNvPr id="53" name="Gruppo 52">
                          <a:extLst>
                            <a:ext uri="{FF2B5EF4-FFF2-40B4-BE49-F238E27FC236}">
                              <a16:creationId xmlns:a16="http://schemas.microsoft.com/office/drawing/2014/main" id="{3395496A-7494-7340-3865-7DE641D66719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314315" y="4676239"/>
                          <a:ext cx="6518150" cy="1780455"/>
                          <a:chOff x="-1480392" y="4120755"/>
                          <a:chExt cx="7629908" cy="1962061"/>
                        </a:xfrm>
                      </p:grpSpPr>
                      <p:grpSp>
                        <p:nvGrpSpPr>
                          <p:cNvPr id="58" name="Gruppo 57">
                            <a:extLst>
                              <a:ext uri="{FF2B5EF4-FFF2-40B4-BE49-F238E27FC236}">
                                <a16:creationId xmlns:a16="http://schemas.microsoft.com/office/drawing/2014/main" id="{151BB10E-533A-F871-DC25-946B4F700F27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652827" y="4120755"/>
                            <a:ext cx="4496689" cy="1627412"/>
                            <a:chOff x="7415616" y="519849"/>
                            <a:chExt cx="4496689" cy="1627412"/>
                          </a:xfrm>
                        </p:grpSpPr>
                        <p:sp>
                          <p:nvSpPr>
                            <p:cNvPr id="60" name="CasellaDiTesto 59">
                              <a:extLst>
                                <a:ext uri="{FF2B5EF4-FFF2-40B4-BE49-F238E27FC236}">
                                  <a16:creationId xmlns:a16="http://schemas.microsoft.com/office/drawing/2014/main" id="{589E30F6-F460-AB90-0CA8-932DAC51693D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7415616" y="1317295"/>
                              <a:ext cx="956056" cy="322211"/>
                            </a:xfrm>
                            <a:prstGeom prst="rect">
                              <a:avLst/>
                            </a:prstGeom>
                            <a:noFill/>
                            <a:ln w="28575">
                              <a:solidFill>
                                <a:srgbClr val="00B050"/>
                              </a:solidFill>
                            </a:ln>
                          </p:spPr>
                          <p:style>
                            <a:lnRef idx="2">
                              <a:schemeClr val="accent6"/>
                            </a:lnRef>
                            <a:fillRef idx="1">
                              <a:schemeClr val="lt1"/>
                            </a:fillRef>
                            <a:effectRef idx="0">
                              <a:schemeClr val="accent6"/>
                            </a:effectRef>
                            <a:fontRef idx="minor">
                              <a:schemeClr val="dk1"/>
                            </a:fontRef>
                          </p:style>
                          <p:txBody>
                            <a:bodyPr wrap="square">
                              <a:spAutoFit/>
                            </a:bodyPr>
                            <a:lstStyle/>
                            <a:p>
                              <a:pPr algn="ctr"/>
                              <a:r>
                                <a:rPr lang="it-IT" sz="1300" dirty="0"/>
                                <a:t>Images</a:t>
                              </a:r>
                            </a:p>
                          </p:txBody>
                        </p:sp>
                        <p:sp>
                          <p:nvSpPr>
                            <p:cNvPr id="61" name="CasellaDiTesto 60">
                              <a:extLst>
                                <a:ext uri="{FF2B5EF4-FFF2-40B4-BE49-F238E27FC236}">
                                  <a16:creationId xmlns:a16="http://schemas.microsoft.com/office/drawing/2014/main" id="{445AE572-4AAC-3352-9648-81CDCD09312C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7780915" y="519849"/>
                              <a:ext cx="1762124" cy="322211"/>
                            </a:xfrm>
                            <a:prstGeom prst="rect">
                              <a:avLst/>
                            </a:prstGeom>
                            <a:noFill/>
                            <a:ln w="28575">
                              <a:solidFill>
                                <a:srgbClr val="00B050"/>
                              </a:solidFill>
                            </a:ln>
                          </p:spPr>
                          <p:style>
                            <a:lnRef idx="2">
                              <a:schemeClr val="accent6"/>
                            </a:lnRef>
                            <a:fillRef idx="1">
                              <a:schemeClr val="lt1"/>
                            </a:fillRef>
                            <a:effectRef idx="0">
                              <a:schemeClr val="accent6"/>
                            </a:effectRef>
                            <a:fontRef idx="minor">
                              <a:schemeClr val="dk1"/>
                            </a:fontRef>
                          </p:style>
                          <p:txBody>
                            <a:bodyPr wrap="square" anchor="ctr">
                              <a:spAutoFit/>
                            </a:bodyPr>
                            <a:lstStyle/>
                            <a:p>
                              <a:pPr algn="ctr"/>
                              <a:r>
                                <a:rPr lang="it-IT" sz="1300" dirty="0"/>
                                <a:t>Discriminator</a:t>
                              </a:r>
                            </a:p>
                          </p:txBody>
                        </p:sp>
                        <p:sp>
                          <p:nvSpPr>
                            <p:cNvPr id="62" name="CasellaDiTesto 61">
                              <a:extLst>
                                <a:ext uri="{FF2B5EF4-FFF2-40B4-BE49-F238E27FC236}">
                                  <a16:creationId xmlns:a16="http://schemas.microsoft.com/office/drawing/2014/main" id="{74FD91F8-4962-A53B-6D5B-B45AE69A8554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10422593" y="1187867"/>
                              <a:ext cx="1110264" cy="322211"/>
                            </a:xfrm>
                            <a:prstGeom prst="rect">
                              <a:avLst/>
                            </a:prstGeom>
                            <a:noFill/>
                            <a:ln w="28575">
                              <a:solidFill>
                                <a:srgbClr val="00B050"/>
                              </a:solidFill>
                            </a:ln>
                          </p:spPr>
                          <p:style>
                            <a:lnRef idx="2">
                              <a:schemeClr val="accent6"/>
                            </a:lnRef>
                            <a:fillRef idx="1">
                              <a:schemeClr val="lt1"/>
                            </a:fillRef>
                            <a:effectRef idx="0">
                              <a:schemeClr val="accent6"/>
                            </a:effectRef>
                            <a:fontRef idx="minor">
                              <a:schemeClr val="dk1"/>
                            </a:fontRef>
                          </p:style>
                          <p:txBody>
                            <a:bodyPr wrap="square" anchor="ctr">
                              <a:spAutoFit/>
                            </a:bodyPr>
                            <a:lstStyle/>
                            <a:p>
                              <a:pPr algn="ctr"/>
                              <a:r>
                                <a:rPr lang="it-IT" sz="1300" dirty="0" err="1"/>
                                <a:t>LossG</a:t>
                              </a:r>
                              <a:endParaRPr lang="it-IT" sz="1300" dirty="0"/>
                            </a:p>
                          </p:txBody>
                        </p:sp>
                        <p:sp>
                          <p:nvSpPr>
                            <p:cNvPr id="63" name="CasellaDiTesto 62">
                              <a:extLst>
                                <a:ext uri="{FF2B5EF4-FFF2-40B4-BE49-F238E27FC236}">
                                  <a16:creationId xmlns:a16="http://schemas.microsoft.com/office/drawing/2014/main" id="{D9B3625D-DB47-6FA8-825D-150499916B63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10059131" y="1808091"/>
                              <a:ext cx="1853174" cy="339170"/>
                            </a:xfrm>
                            <a:prstGeom prst="rect">
                              <a:avLst/>
                            </a:prstGeom>
                            <a:noFill/>
                            <a:ln w="28575">
                              <a:solidFill>
                                <a:srgbClr val="00B050"/>
                              </a:solidFill>
                            </a:ln>
                          </p:spPr>
                          <p:style>
                            <a:lnRef idx="2">
                              <a:schemeClr val="accent6"/>
                            </a:lnRef>
                            <a:fillRef idx="1">
                              <a:schemeClr val="lt1"/>
                            </a:fillRef>
                            <a:effectRef idx="0">
                              <a:schemeClr val="accent6"/>
                            </a:effectRef>
                            <a:fontRef idx="minor">
                              <a:schemeClr val="dk1"/>
                            </a:fontRef>
                          </p:style>
                          <p:txBody>
                            <a:bodyPr wrap="square" anchor="ctr">
                              <a:spAutoFit/>
                            </a:bodyPr>
                            <a:lstStyle/>
                            <a:p>
                              <a:pPr algn="ctr"/>
                              <a:r>
                                <a:rPr lang="it-IT" sz="1400" dirty="0"/>
                                <a:t>Weight update</a:t>
                              </a:r>
                              <a:r>
                                <a:rPr lang="it-IT" sz="1300" dirty="0"/>
                                <a:t> (G)</a:t>
                              </a:r>
                            </a:p>
                          </p:txBody>
                        </p:sp>
                        <p:cxnSp>
                          <p:nvCxnSpPr>
                            <p:cNvPr id="64" name="Connettore 2 63">
                              <a:extLst>
                                <a:ext uri="{FF2B5EF4-FFF2-40B4-BE49-F238E27FC236}">
                                  <a16:creationId xmlns:a16="http://schemas.microsoft.com/office/drawing/2014/main" id="{4A022546-D911-5A47-B087-89CA878D7E21}"/>
                                </a:ext>
                              </a:extLst>
                            </p:cNvPr>
                            <p:cNvCxnSpPr>
                              <a:cxnSpLocks/>
                              <a:stCxn id="62" idx="2"/>
                              <a:endCxn id="63" idx="0"/>
                            </p:cNvCxnSpPr>
                            <p:nvPr/>
                          </p:nvCxnSpPr>
                          <p:spPr>
                            <a:xfrm>
                              <a:off x="10977725" y="1510078"/>
                              <a:ext cx="7993" cy="298013"/>
                            </a:xfrm>
                            <a:prstGeom prst="straightConnector1">
                              <a:avLst/>
                            </a:prstGeom>
                            <a:ln>
                              <a:tailEnd type="triangle"/>
                            </a:ln>
                          </p:spPr>
                          <p:style>
                            <a:lnRef idx="3">
                              <a:schemeClr val="dk1"/>
                            </a:lnRef>
                            <a:fillRef idx="0">
                              <a:schemeClr val="dk1"/>
                            </a:fillRef>
                            <a:effectRef idx="2">
                              <a:schemeClr val="dk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cxnSp>
                          <p:nvCxnSpPr>
                            <p:cNvPr id="65" name="Connettore a gomito 64">
                              <a:extLst>
                                <a:ext uri="{FF2B5EF4-FFF2-40B4-BE49-F238E27FC236}">
                                  <a16:creationId xmlns:a16="http://schemas.microsoft.com/office/drawing/2014/main" id="{0843A97D-0839-4E69-02AC-2D01189BCED6}"/>
                                </a:ext>
                              </a:extLst>
                            </p:cNvPr>
                            <p:cNvCxnSpPr>
                              <a:cxnSpLocks/>
                              <a:stCxn id="61" idx="2"/>
                              <a:endCxn id="66" idx="1"/>
                            </p:cNvCxnSpPr>
                            <p:nvPr/>
                          </p:nvCxnSpPr>
                          <p:spPr>
                            <a:xfrm rot="16200000" flipH="1">
                              <a:off x="8521666" y="982371"/>
                              <a:ext cx="503581" cy="222960"/>
                            </a:xfrm>
                            <a:prstGeom prst="bentConnector2">
                              <a:avLst/>
                            </a:prstGeom>
                            <a:ln>
                              <a:tailEnd type="triangle"/>
                            </a:ln>
                          </p:spPr>
                          <p:style>
                            <a:lnRef idx="3">
                              <a:schemeClr val="dk1"/>
                            </a:lnRef>
                            <a:fillRef idx="0">
                              <a:schemeClr val="dk1"/>
                            </a:fillRef>
                            <a:effectRef idx="2">
                              <a:schemeClr val="dk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sp>
                          <p:nvSpPr>
                            <p:cNvPr id="66" name="CasellaDiTesto 65">
                              <a:extLst>
                                <a:ext uri="{FF2B5EF4-FFF2-40B4-BE49-F238E27FC236}">
                                  <a16:creationId xmlns:a16="http://schemas.microsoft.com/office/drawing/2014/main" id="{0CF75B12-876B-C476-4B5C-C770C1596AE4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8884936" y="1184535"/>
                              <a:ext cx="1316208" cy="322211"/>
                            </a:xfrm>
                            <a:prstGeom prst="rect">
                              <a:avLst/>
                            </a:prstGeom>
                            <a:noFill/>
                            <a:ln w="28575">
                              <a:solidFill>
                                <a:srgbClr val="00B050"/>
                              </a:solidFill>
                            </a:ln>
                          </p:spPr>
                          <p:style>
                            <a:lnRef idx="2">
                              <a:schemeClr val="accent6"/>
                            </a:lnRef>
                            <a:fillRef idx="1">
                              <a:schemeClr val="lt1"/>
                            </a:fillRef>
                            <a:effectRef idx="0">
                              <a:schemeClr val="accent6"/>
                            </a:effectRef>
                            <a:fontRef idx="minor">
                              <a:schemeClr val="dk1"/>
                            </a:fontRef>
                          </p:style>
                          <p:txBody>
                            <a:bodyPr wrap="square" anchor="ctr">
                              <a:spAutoFit/>
                            </a:bodyPr>
                            <a:lstStyle/>
                            <a:p>
                              <a:pPr algn="ctr"/>
                              <a:r>
                                <a:rPr lang="it-IT" sz="1300" dirty="0" err="1"/>
                                <a:t>Predictions</a:t>
                              </a:r>
                              <a:endParaRPr lang="it-IT" sz="1300" dirty="0"/>
                            </a:p>
                          </p:txBody>
                        </p:sp>
                        <p:cxnSp>
                          <p:nvCxnSpPr>
                            <p:cNvPr id="67" name="Connettore 2 66">
                              <a:extLst>
                                <a:ext uri="{FF2B5EF4-FFF2-40B4-BE49-F238E27FC236}">
                                  <a16:creationId xmlns:a16="http://schemas.microsoft.com/office/drawing/2014/main" id="{65B1A334-6195-297E-2907-0579027594B3}"/>
                                </a:ext>
                              </a:extLst>
                            </p:cNvPr>
                            <p:cNvCxnSpPr>
                              <a:cxnSpLocks/>
                              <a:stCxn id="66" idx="3"/>
                              <a:endCxn id="62" idx="1"/>
                            </p:cNvCxnSpPr>
                            <p:nvPr/>
                          </p:nvCxnSpPr>
                          <p:spPr>
                            <a:xfrm>
                              <a:off x="10201144" y="1345641"/>
                              <a:ext cx="221449" cy="3331"/>
                            </a:xfrm>
                            <a:prstGeom prst="straightConnector1">
                              <a:avLst/>
                            </a:prstGeom>
                            <a:ln>
                              <a:tailEnd type="triangle"/>
                            </a:ln>
                          </p:spPr>
                          <p:style>
                            <a:lnRef idx="3">
                              <a:schemeClr val="dk1"/>
                            </a:lnRef>
                            <a:fillRef idx="0">
                              <a:schemeClr val="dk1"/>
                            </a:fillRef>
                            <a:effectRef idx="2">
                              <a:schemeClr val="dk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</p:grpSp>
                      <mc:AlternateContent xmlns:mc="http://schemas.openxmlformats.org/markup-compatibility/2006" xmlns:a14="http://schemas.microsoft.com/office/drawing/2010/main">
                        <mc:Choice Requires="a14">
                          <p:sp>
                            <p:nvSpPr>
                              <p:cNvPr id="59" name="CasellaDiTesto 58">
                                <a:extLst>
                                  <a:ext uri="{FF2B5EF4-FFF2-40B4-BE49-F238E27FC236}">
                                    <a16:creationId xmlns:a16="http://schemas.microsoft.com/office/drawing/2014/main" id="{CF9B2F71-ABF4-70D0-11CD-39B4209DE0CB}"/>
                                  </a:ext>
                                </a:extLst>
                              </p:cNvPr>
                              <p:cNvSpPr txBox="1"/>
                              <p:nvPr/>
                            </p:nvSpPr>
                            <p:spPr>
                              <a:xfrm>
                                <a:off x="-1480392" y="5607342"/>
                                <a:ext cx="1516423" cy="475474"/>
                              </a:xfrm>
                              <a:prstGeom prst="rect">
                                <a:avLst/>
                              </a:prstGeom>
                              <a:noFill/>
                              <a:ln w="15875">
                                <a:solidFill>
                                  <a:srgbClr val="00B050"/>
                                </a:solidFill>
                              </a:ln>
                            </p:spPr>
                            <p:txBody>
                              <a:bodyPr wrap="square">
                                <a:spAutoFit/>
                              </a:bodyPr>
                              <a:lstStyle/>
                              <a:p>
                                <a:r>
                                  <a:rPr lang="it-IT" sz="1100" dirty="0"/>
                                  <a:t>‘Sampling’ X from</a:t>
                                </a:r>
                              </a:p>
                              <a:p>
                                <a:pPr/>
                                <a14:m>
                                  <m:oMathPara xmlns:m="http://schemas.openxmlformats.org/officeDocument/2006/math">
                                    <m:oMathParaPr>
                                      <m:jc m:val="centerGroup"/>
                                    </m:oMathParaPr>
                                    <m:oMath xmlns:m="http://schemas.openxmlformats.org/officeDocument/2006/math">
                                      <m:r>
                                        <a:rPr lang="it-IT" sz="1100" i="1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  <m:r>
                                        <a:rPr lang="it-IT" sz="1100" b="0" i="1" smtClean="0">
                                          <a:latin typeface="Cambria Math" panose="02040503050406030204" pitchFamily="18" charset="0"/>
                                        </a:rPr>
                                        <m:t>~</m:t>
                                      </m:r>
                                      <m:sSup>
                                        <m:sSupPr>
                                          <m:ctrlPr>
                                            <a:rPr lang="it-IT" sz="11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it-IT" sz="1100" i="1">
                                              <a:latin typeface="Cambria Math" panose="02040503050406030204" pitchFamily="18" charset="0"/>
                                            </a:rPr>
                                            <m:t>𝑃</m:t>
                                          </m:r>
                                        </m:e>
                                        <m:sup>
                                          <m:r>
                                            <a:rPr lang="it-IT" sz="1100" b="0" i="1" smtClean="0">
                                              <a:latin typeface="Cambria Math" panose="02040503050406030204" pitchFamily="18" charset="0"/>
                                            </a:rPr>
                                            <m:t>𝐺</m:t>
                                          </m:r>
                                        </m:sup>
                                      </m:sSup>
                                    </m:oMath>
                                  </m:oMathPara>
                                </a14:m>
                                <a:endParaRPr lang="it-IT" sz="1100" dirty="0"/>
                              </a:p>
                            </p:txBody>
                          </p:sp>
                        </mc:Choice>
                        <mc:Fallback xmlns="">
                          <p:sp>
                            <p:nvSpPr>
                              <p:cNvPr id="59" name="CasellaDiTesto 58">
                                <a:extLst>
                                  <a:ext uri="{FF2B5EF4-FFF2-40B4-BE49-F238E27FC236}">
                                    <a16:creationId xmlns:a16="http://schemas.microsoft.com/office/drawing/2014/main" id="{CF9B2F71-ABF4-70D0-11CD-39B4209DE0CB}"/>
                                  </a:ext>
                                </a:extLst>
                              </p:cNvPr>
                              <p:cNvSpPr txBox="1">
                                <a:spLocks noRot="1" noChangeAspect="1" noMove="1" noResize="1" noEditPoints="1" noAdjustHandles="1" noChangeArrowheads="1" noChangeShapeType="1" noTextEdit="1"/>
                              </p:cNvSpPr>
                              <p:nvPr/>
                            </p:nvSpPr>
                            <p:spPr>
                              <a:xfrm>
                                <a:off x="-1480392" y="5607342"/>
                                <a:ext cx="1516423" cy="475474"/>
                              </a:xfrm>
                              <a:prstGeom prst="rect">
                                <a:avLst/>
                              </a:prstGeom>
                              <a:blipFill>
                                <a:blip r:embed="rId6"/>
                                <a:stretch>
                                  <a:fillRect/>
                                </a:stretch>
                              </a:blipFill>
                              <a:ln w="15875">
                                <a:solidFill>
                                  <a:srgbClr val="00B050"/>
                                </a:solidFill>
                              </a:ln>
                            </p:spPr>
                            <p:txBody>
                              <a:bodyPr/>
                              <a:lstStyle/>
                              <a:p>
                                <a:r>
                                  <a:rPr lang="it-IT">
                                    <a:noFill/>
                                  </a:rPr>
                                  <a:t> </a:t>
                                </a:r>
                              </a:p>
                            </p:txBody>
                          </p:sp>
                        </mc:Fallback>
                      </mc:AlternateContent>
                    </p:grpSp>
                    <mc:AlternateContent xmlns:mc="http://schemas.openxmlformats.org/markup-compatibility/2006" xmlns:a14="http://schemas.microsoft.com/office/drawing/2010/main">
                      <mc:Choice Requires="a14">
                        <p:sp>
                          <p:nvSpPr>
                            <p:cNvPr id="54" name="CasellaDiTesto 53">
                              <a:extLst>
                                <a:ext uri="{FF2B5EF4-FFF2-40B4-BE49-F238E27FC236}">
                                  <a16:creationId xmlns:a16="http://schemas.microsoft.com/office/drawing/2014/main" id="{8C95EC18-65B1-AFCC-A90C-3A6FBE5BE698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6082151" y="4576214"/>
                              <a:ext cx="1175257" cy="492443"/>
                            </a:xfrm>
                            <a:prstGeom prst="rect">
                              <a:avLst/>
                            </a:prstGeom>
                            <a:noFill/>
                            <a:ln w="28575">
                              <a:solidFill>
                                <a:srgbClr val="00B050"/>
                              </a:solidFill>
                            </a:ln>
                          </p:spPr>
                          <p:style>
                            <a:lnRef idx="2">
                              <a:schemeClr val="accent6"/>
                            </a:lnRef>
                            <a:fillRef idx="1">
                              <a:schemeClr val="lt1"/>
                            </a:fillRef>
                            <a:effectRef idx="0">
                              <a:schemeClr val="accent6"/>
                            </a:effectRef>
                            <a:fontRef idx="minor">
                              <a:schemeClr val="dk1"/>
                            </a:fontRef>
                          </p:style>
                          <p:txBody>
                            <a:bodyPr wrap="square">
                              <a:spAutoFit/>
                            </a:bodyPr>
                            <a:lstStyle/>
                            <a:p>
                              <a:pPr algn="ctr"/>
                              <a:r>
                                <a:rPr lang="it-IT" sz="1300" dirty="0" err="1"/>
                                <a:t>Noise</a:t>
                              </a:r>
                              <a:endParaRPr lang="it-IT" sz="1300" dirty="0"/>
                            </a:p>
                            <a:p>
                              <a:pPr algn="ctr"/>
                              <a:r>
                                <a:rPr lang="it-IT" sz="1300" dirty="0"/>
                                <a:t>sampling </a:t>
                              </a:r>
                              <a14:m>
                                <m:oMath xmlns:m="http://schemas.openxmlformats.org/officeDocument/2006/math">
                                  <m:r>
                                    <a:rPr lang="it-IT" sz="1300" i="1" dirty="0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  <m:r>
                                    <a:rPr lang="it-IT" sz="1300" i="1" dirty="0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it-IT" sz="1300" i="1" dirty="0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  <m:r>
                                    <a:rPr lang="it-IT" sz="1300" i="1" dirty="0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oMath>
                              </a14:m>
                              <a:endParaRPr lang="it-IT" sz="1300" dirty="0"/>
                            </a:p>
                          </p:txBody>
                        </p:sp>
                      </mc:Choice>
                      <mc:Fallback xmlns="">
                        <p:sp>
                          <p:nvSpPr>
                            <p:cNvPr id="54" name="CasellaDiTesto 53">
                              <a:extLst>
                                <a:ext uri="{FF2B5EF4-FFF2-40B4-BE49-F238E27FC236}">
                                  <a16:creationId xmlns:a16="http://schemas.microsoft.com/office/drawing/2014/main" id="{8C95EC18-65B1-AFCC-A90C-3A6FBE5BE698}"/>
                                </a:ext>
                              </a:extLst>
                            </p:cNvPr>
                            <p:cNvSpPr txBox="1">
                              <a:spLocks noRot="1" noChangeAspect="1" noMove="1" noResize="1" noEditPoints="1" noAdjustHandles="1" noChangeArrowheads="1" noChangeShapeType="1" noTextEdit="1"/>
                            </p:cNvSpPr>
                            <p:nvPr/>
                          </p:nvSpPr>
                          <p:spPr>
                            <a:xfrm>
                              <a:off x="6082151" y="4576214"/>
                              <a:ext cx="1175257" cy="492443"/>
                            </a:xfrm>
                            <a:prstGeom prst="rect">
                              <a:avLst/>
                            </a:prstGeom>
                            <a:blipFill>
                              <a:blip r:embed="rId7"/>
                              <a:stretch>
                                <a:fillRect b="-5814"/>
                              </a:stretch>
                            </a:blipFill>
                            <a:ln w="28575">
                              <a:solidFill>
                                <a:srgbClr val="00B050"/>
                              </a:solidFill>
                            </a:ln>
                          </p:spPr>
                          <p:txBody>
                            <a:bodyPr/>
                            <a:lstStyle/>
                            <a:p>
                              <a:r>
                                <a:rPr lang="it-IT">
                                  <a:noFill/>
                                </a:rPr>
                                <a:t> </a:t>
                              </a:r>
                            </a:p>
                          </p:txBody>
                        </p:sp>
                      </mc:Fallback>
                    </mc:AlternateContent>
                    <p:cxnSp>
                      <p:nvCxnSpPr>
                        <p:cNvPr id="55" name="Connettore 2 54">
                          <a:extLst>
                            <a:ext uri="{FF2B5EF4-FFF2-40B4-BE49-F238E27FC236}">
                              <a16:creationId xmlns:a16="http://schemas.microsoft.com/office/drawing/2014/main" id="{A5650FDC-47DA-D864-CA1C-A93B821C9EDA}"/>
                            </a:ext>
                          </a:extLst>
                        </p:cNvPr>
                        <p:cNvCxnSpPr>
                          <a:cxnSpLocks/>
                          <a:stCxn id="54" idx="2"/>
                          <a:endCxn id="56" idx="0"/>
                        </p:cNvCxnSpPr>
                        <p:nvPr/>
                      </p:nvCxnSpPr>
                      <p:spPr>
                        <a:xfrm>
                          <a:off x="6669779" y="5068657"/>
                          <a:ext cx="339624" cy="332092"/>
                        </a:xfrm>
                        <a:prstGeom prst="straightConnector1">
                          <a:avLst/>
                        </a:prstGeom>
                        <a:ln>
                          <a:tailEnd type="triangle"/>
                        </a:ln>
                      </p:spPr>
                      <p:style>
                        <a:lnRef idx="3">
                          <a:schemeClr val="dk1"/>
                        </a:lnRef>
                        <a:fillRef idx="0">
                          <a:schemeClr val="dk1"/>
                        </a:fillRef>
                        <a:effectRef idx="2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sp>
                      <p:nvSpPr>
                        <p:cNvPr id="56" name="CasellaDiTesto 55">
                          <a:extLst>
                            <a:ext uri="{FF2B5EF4-FFF2-40B4-BE49-F238E27FC236}">
                              <a16:creationId xmlns:a16="http://schemas.microsoft.com/office/drawing/2014/main" id="{AFA1469C-DB77-F72F-AB5E-07C2DF6106B7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6256721" y="5400749"/>
                          <a:ext cx="1505364" cy="292388"/>
                        </a:xfrm>
                        <a:prstGeom prst="rect">
                          <a:avLst/>
                        </a:prstGeom>
                        <a:noFill/>
                        <a:ln w="28575">
                          <a:solidFill>
                            <a:srgbClr val="00B050"/>
                          </a:solidFill>
                        </a:ln>
                      </p:spPr>
                      <p:style>
                        <a:lnRef idx="2">
                          <a:schemeClr val="accent6"/>
                        </a:lnRef>
                        <a:fillRef idx="1">
                          <a:schemeClr val="lt1"/>
                        </a:fillRef>
                        <a:effectRef idx="0">
                          <a:schemeClr val="accent6"/>
                        </a:effectRef>
                        <a:fontRef idx="minor">
                          <a:schemeClr val="dk1"/>
                        </a:fontRef>
                      </p:style>
                      <p:txBody>
                        <a:bodyPr wrap="square" anchor="ctr">
                          <a:spAutoFit/>
                        </a:bodyPr>
                        <a:lstStyle/>
                        <a:p>
                          <a:pPr algn="ctr"/>
                          <a:r>
                            <a:rPr lang="it-IT" sz="1300" dirty="0"/>
                            <a:t>Generator</a:t>
                          </a:r>
                        </a:p>
                      </p:txBody>
                    </p:sp>
                  </p:grpSp>
                  <p:cxnSp>
                    <p:nvCxnSpPr>
                      <p:cNvPr id="52" name="Connettore 2 51">
                        <a:extLst>
                          <a:ext uri="{FF2B5EF4-FFF2-40B4-BE49-F238E27FC236}">
                            <a16:creationId xmlns:a16="http://schemas.microsoft.com/office/drawing/2014/main" id="{8073869B-1A36-CF19-BDF3-223EEEF1E794}"/>
                          </a:ext>
                        </a:extLst>
                      </p:cNvPr>
                      <p:cNvCxnSpPr>
                        <a:cxnSpLocks/>
                        <a:stCxn id="56" idx="3"/>
                        <a:endCxn id="60" idx="1"/>
                      </p:cNvCxnSpPr>
                      <p:nvPr/>
                    </p:nvCxnSpPr>
                    <p:spPr>
                      <a:xfrm flipV="1">
                        <a:off x="7677760" y="5566291"/>
                        <a:ext cx="228906" cy="874"/>
                      </a:xfrm>
                      <a:prstGeom prst="straightConnector1">
                        <a:avLst/>
                      </a:prstGeom>
                      <a:ln>
                        <a:tailEnd type="triangle"/>
                      </a:ln>
                    </p:spPr>
                    <p:style>
                      <a:lnRef idx="3">
                        <a:schemeClr val="dk1"/>
                      </a:lnRef>
                      <a:fillRef idx="0">
                        <a:schemeClr val="dk1"/>
                      </a:fillRef>
                      <a:effectRef idx="2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</p:grpSp>
                <p:cxnSp>
                  <p:nvCxnSpPr>
                    <p:cNvPr id="50" name="Connettore 2 49">
                      <a:extLst>
                        <a:ext uri="{FF2B5EF4-FFF2-40B4-BE49-F238E27FC236}">
                          <a16:creationId xmlns:a16="http://schemas.microsoft.com/office/drawing/2014/main" id="{AECA5EE4-FCE9-A157-11C4-1D0D404DA2D2}"/>
                        </a:ext>
                      </a:extLst>
                    </p:cNvPr>
                    <p:cNvCxnSpPr>
                      <a:cxnSpLocks/>
                      <a:stCxn id="60" idx="0"/>
                      <a:endCxn id="61" idx="2"/>
                    </p:cNvCxnSpPr>
                    <p:nvPr/>
                  </p:nvCxnSpPr>
                  <p:spPr>
                    <a:xfrm flipV="1">
                      <a:off x="8579479" y="5033580"/>
                      <a:ext cx="656378" cy="431248"/>
                    </a:xfrm>
                    <a:prstGeom prst="straightConnector1">
                      <a:avLst/>
                    </a:prstGeom>
                    <a:ln>
                      <a:tailEnd type="triangle"/>
                    </a:ln>
                  </p:spPr>
                  <p:style>
                    <a:lnRef idx="3">
                      <a:schemeClr val="dk1"/>
                    </a:lnRef>
                    <a:fillRef idx="0">
                      <a:schemeClr val="dk1"/>
                    </a:fillRef>
                    <a:effectRef idx="2">
                      <a:schemeClr val="dk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47" name="Connettore 2 46">
                    <a:extLst>
                      <a:ext uri="{FF2B5EF4-FFF2-40B4-BE49-F238E27FC236}">
                        <a16:creationId xmlns:a16="http://schemas.microsoft.com/office/drawing/2014/main" id="{6992B402-8EC0-FEDC-B9B3-7559D87F065E}"/>
                      </a:ext>
                    </a:extLst>
                  </p:cNvPr>
                  <p:cNvCxnSpPr>
                    <a:cxnSpLocks/>
                    <a:stCxn id="66" idx="0"/>
                    <a:endCxn id="48" idx="2"/>
                  </p:cNvCxnSpPr>
                  <p:nvPr/>
                </p:nvCxnSpPr>
                <p:spPr>
                  <a:xfrm flipV="1">
                    <a:off x="10111192" y="5098334"/>
                    <a:ext cx="942747" cy="398422"/>
                  </a:xfrm>
                  <a:prstGeom prst="straightConnector1">
                    <a:avLst/>
                  </a:prstGeom>
                  <a:ln w="15875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48" name="CasellaDiTesto 47">
                        <a:extLst>
                          <a:ext uri="{FF2B5EF4-FFF2-40B4-BE49-F238E27FC236}">
                            <a16:creationId xmlns:a16="http://schemas.microsoft.com/office/drawing/2014/main" id="{B5C623CB-609F-906D-A67D-FE462D5D2754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0356798" y="4651480"/>
                        <a:ext cx="1394281" cy="446854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rgbClr val="00B050"/>
                        </a:solidFill>
                      </a:ln>
                    </p:spPr>
                    <p:txBody>
                      <a:bodyPr wrap="squar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it-IT" sz="12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it-IT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it-IT" sz="1200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  <m:r>
                                    <a:rPr lang="it-IT" sz="1200" b="0" i="1" smtClean="0">
                                      <a:latin typeface="Cambria Math" panose="02040503050406030204" pitchFamily="18" charset="0"/>
                                    </a:rPr>
                                    <m:t>∈</m:t>
                                  </m:r>
                                  <m:sSup>
                                    <m:sSupPr>
                                      <m:ctrlPr>
                                        <a:rPr lang="it-IT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it-IT" sz="1200" b="0" i="1" smtClean="0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p>
                                      <m:r>
                                        <a:rPr lang="it-IT" sz="1200" b="0" i="1" smtClean="0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sup>
                                  </m:sSup>
                                </m:e>
                              </m:d>
                            </m:oMath>
                          </m:oMathPara>
                        </a14:m>
                        <a:endParaRPr lang="it-IT" b="0" dirty="0"/>
                      </a:p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it-IT" sz="11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it-IT" sz="11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it-IT" sz="110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  <m:r>
                                    <a:rPr lang="it-IT" sz="1100" i="1">
                                      <a:latin typeface="Cambria Math" panose="02040503050406030204" pitchFamily="18" charset="0"/>
                                    </a:rPr>
                                    <m:t>∈</m:t>
                                  </m:r>
                                  <m:sSup>
                                    <m:sSupPr>
                                      <m:ctrlPr>
                                        <a:rPr lang="it-IT" sz="11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it-IT" sz="1100" i="1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p>
                                      <m:r>
                                        <a:rPr lang="it-IT" sz="1100" b="0" i="1" smtClean="0"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sup>
                                  </m:sSup>
                                </m:e>
                              </m:d>
                            </m:oMath>
                          </m:oMathPara>
                        </a14:m>
                        <a:endParaRPr lang="it-IT" sz="1100" dirty="0"/>
                      </a:p>
                    </p:txBody>
                  </p:sp>
                </mc:Choice>
                <mc:Fallback xmlns="">
                  <p:sp>
                    <p:nvSpPr>
                      <p:cNvPr id="48" name="CasellaDiTesto 47">
                        <a:extLst>
                          <a:ext uri="{FF2B5EF4-FFF2-40B4-BE49-F238E27FC236}">
                            <a16:creationId xmlns:a16="http://schemas.microsoft.com/office/drawing/2014/main" id="{B5C623CB-609F-906D-A67D-FE462D5D2754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0356798" y="4651480"/>
                        <a:ext cx="1394281" cy="446854"/>
                      </a:xfrm>
                      <a:prstGeom prst="rect">
                        <a:avLst/>
                      </a:prstGeom>
                      <a:blipFill>
                        <a:blip r:embed="rId8"/>
                        <a:stretch>
                          <a:fillRect/>
                        </a:stretch>
                      </a:blipFill>
                      <a:ln>
                        <a:solidFill>
                          <a:srgbClr val="00B050"/>
                        </a:solidFill>
                      </a:ln>
                    </p:spPr>
                    <p:txBody>
                      <a:bodyPr/>
                      <a:lstStyle/>
                      <a:p>
                        <a:r>
                          <a:rPr lang="it-IT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</p:grpSp>
          <p:sp>
            <p:nvSpPr>
              <p:cNvPr id="83" name="CasellaDiTesto 82">
                <a:extLst>
                  <a:ext uri="{FF2B5EF4-FFF2-40B4-BE49-F238E27FC236}">
                    <a16:creationId xmlns:a16="http://schemas.microsoft.com/office/drawing/2014/main" id="{0B9CCD0D-2089-BC42-44D0-4ABABC9AFB46}"/>
                  </a:ext>
                </a:extLst>
              </p:cNvPr>
              <p:cNvSpPr txBox="1"/>
              <p:nvPr/>
            </p:nvSpPr>
            <p:spPr>
              <a:xfrm>
                <a:off x="5678303" y="2750244"/>
                <a:ext cx="644339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it-IT" dirty="0">
                    <a:solidFill>
                      <a:srgbClr val="7E44A9"/>
                    </a:solidFill>
                  </a:rPr>
                  <a:t>Generator Training</a:t>
                </a:r>
              </a:p>
            </p:txBody>
          </p:sp>
        </p:grpSp>
      </p:grpSp>
      <p:sp>
        <p:nvSpPr>
          <p:cNvPr id="79" name="Trapezio 78">
            <a:extLst>
              <a:ext uri="{FF2B5EF4-FFF2-40B4-BE49-F238E27FC236}">
                <a16:creationId xmlns:a16="http://schemas.microsoft.com/office/drawing/2014/main" id="{3D71A0B8-054C-4EF0-DA45-EDEA138C8D50}"/>
              </a:ext>
            </a:extLst>
          </p:cNvPr>
          <p:cNvSpPr/>
          <p:nvPr/>
        </p:nvSpPr>
        <p:spPr>
          <a:xfrm rot="16200000" flipH="1">
            <a:off x="7578628" y="1095383"/>
            <a:ext cx="1206988" cy="774773"/>
          </a:xfrm>
          <a:prstGeom prst="trapezoid">
            <a:avLst>
              <a:gd name="adj" fmla="val 5835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it-IT" b="1" dirty="0">
                <a:solidFill>
                  <a:schemeClr val="tx1"/>
                </a:solidFill>
              </a:rPr>
              <a:t>G</a:t>
            </a:r>
          </a:p>
          <a:p>
            <a:pPr algn="ctr"/>
            <a:endParaRPr lang="it-IT" b="1" dirty="0">
              <a:solidFill>
                <a:schemeClr val="tx1"/>
              </a:solidFill>
            </a:endParaRPr>
          </a:p>
          <a:p>
            <a:pPr algn="ctr"/>
            <a:endParaRPr lang="it-IT" b="1" dirty="0">
              <a:solidFill>
                <a:schemeClr val="tx1"/>
              </a:solidFill>
            </a:endParaRPr>
          </a:p>
        </p:txBody>
      </p:sp>
      <p:pic>
        <p:nvPicPr>
          <p:cNvPr id="80" name="Immagine 79">
            <a:extLst>
              <a:ext uri="{FF2B5EF4-FFF2-40B4-BE49-F238E27FC236}">
                <a16:creationId xmlns:a16="http://schemas.microsoft.com/office/drawing/2014/main" id="{532116B3-368E-D0F3-7242-73820BFD3A9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7796391" y="1335508"/>
            <a:ext cx="767719" cy="282350"/>
          </a:xfrm>
          <a:prstGeom prst="rect">
            <a:avLst/>
          </a:prstGeom>
        </p:spPr>
      </p:pic>
      <p:sp>
        <p:nvSpPr>
          <p:cNvPr id="86" name="Trapezio 85">
            <a:extLst>
              <a:ext uri="{FF2B5EF4-FFF2-40B4-BE49-F238E27FC236}">
                <a16:creationId xmlns:a16="http://schemas.microsoft.com/office/drawing/2014/main" id="{2A0912F2-E831-1C69-EE67-776812BD9EFD}"/>
              </a:ext>
            </a:extLst>
          </p:cNvPr>
          <p:cNvSpPr/>
          <p:nvPr/>
        </p:nvSpPr>
        <p:spPr>
          <a:xfrm rot="5400000" flipH="1">
            <a:off x="2594665" y="1090430"/>
            <a:ext cx="1206988" cy="774773"/>
          </a:xfrm>
          <a:prstGeom prst="trapezoid">
            <a:avLst>
              <a:gd name="adj" fmla="val 5835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it-IT" b="1" dirty="0">
                <a:solidFill>
                  <a:schemeClr val="tx1"/>
                </a:solidFill>
              </a:rPr>
              <a:t>D</a:t>
            </a:r>
          </a:p>
          <a:p>
            <a:pPr algn="ctr"/>
            <a:endParaRPr lang="it-IT" b="1" dirty="0">
              <a:solidFill>
                <a:schemeClr val="tx1"/>
              </a:solidFill>
            </a:endParaRPr>
          </a:p>
          <a:p>
            <a:pPr algn="ctr"/>
            <a:endParaRPr lang="it-IT" b="1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7" name="CasellaDiTesto 86">
                <a:extLst>
                  <a:ext uri="{FF2B5EF4-FFF2-40B4-BE49-F238E27FC236}">
                    <a16:creationId xmlns:a16="http://schemas.microsoft.com/office/drawing/2014/main" id="{9F87DC3E-2F9D-2B6A-A828-3A086A472DA7}"/>
                  </a:ext>
                </a:extLst>
              </p:cNvPr>
              <p:cNvSpPr txBox="1"/>
              <p:nvPr/>
            </p:nvSpPr>
            <p:spPr>
              <a:xfrm>
                <a:off x="1605594" y="1006216"/>
                <a:ext cx="1314110" cy="929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∼</m:t>
                      </m:r>
                      <m:sSup>
                        <m:sSup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p>
                      </m:sSup>
                    </m:oMath>
                  </m:oMathPara>
                </a14:m>
                <a:endParaRPr lang="it-IT" b="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∼</m:t>
                      </m:r>
                      <m:sSup>
                        <m:sSup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sup>
                      </m:sSup>
                    </m:oMath>
                  </m:oMathPara>
                </a14:m>
                <a:endParaRPr lang="it-IT" b="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m:rPr>
                              <m:sty m:val="p"/>
                            </m:rPr>
                            <a:rPr lang="it-IT" b="0" i="0" smtClean="0"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sup>
                      </m:sSup>
                    </m:oMath>
                  </m:oMathPara>
                </a14:m>
                <a:endParaRPr lang="it-IT" b="0" dirty="0"/>
              </a:p>
            </p:txBody>
          </p:sp>
        </mc:Choice>
        <mc:Fallback xmlns="">
          <p:sp>
            <p:nvSpPr>
              <p:cNvPr id="87" name="CasellaDiTesto 86">
                <a:extLst>
                  <a:ext uri="{FF2B5EF4-FFF2-40B4-BE49-F238E27FC236}">
                    <a16:creationId xmlns:a16="http://schemas.microsoft.com/office/drawing/2014/main" id="{9F87DC3E-2F9D-2B6A-A828-3A086A472D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5594" y="1006216"/>
                <a:ext cx="1314110" cy="92916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1" name="Connettore 2 100">
            <a:extLst>
              <a:ext uri="{FF2B5EF4-FFF2-40B4-BE49-F238E27FC236}">
                <a16:creationId xmlns:a16="http://schemas.microsoft.com/office/drawing/2014/main" id="{A717222E-D503-931C-4BC9-59E626600BB4}"/>
              </a:ext>
            </a:extLst>
          </p:cNvPr>
          <p:cNvCxnSpPr>
            <a:cxnSpLocks/>
          </p:cNvCxnSpPr>
          <p:nvPr/>
        </p:nvCxnSpPr>
        <p:spPr>
          <a:xfrm flipV="1">
            <a:off x="3585546" y="1476072"/>
            <a:ext cx="228906" cy="87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2" name="Ovale 101">
            <a:extLst>
              <a:ext uri="{FF2B5EF4-FFF2-40B4-BE49-F238E27FC236}">
                <a16:creationId xmlns:a16="http://schemas.microsoft.com/office/drawing/2014/main" id="{21EEACD7-46F8-8B72-9AFC-BDE67C64BC1C}"/>
              </a:ext>
            </a:extLst>
          </p:cNvPr>
          <p:cNvSpPr/>
          <p:nvPr/>
        </p:nvSpPr>
        <p:spPr>
          <a:xfrm>
            <a:off x="3814452" y="1368072"/>
            <a:ext cx="216000" cy="216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3" name="Ovale 102">
            <a:extLst>
              <a:ext uri="{FF2B5EF4-FFF2-40B4-BE49-F238E27FC236}">
                <a16:creationId xmlns:a16="http://schemas.microsoft.com/office/drawing/2014/main" id="{0004559F-E103-D4B7-628A-202430CF8D20}"/>
              </a:ext>
            </a:extLst>
          </p:cNvPr>
          <p:cNvSpPr/>
          <p:nvPr/>
        </p:nvSpPr>
        <p:spPr>
          <a:xfrm>
            <a:off x="7718841" y="1371083"/>
            <a:ext cx="72000" cy="72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5" name="Ovale 104">
            <a:extLst>
              <a:ext uri="{FF2B5EF4-FFF2-40B4-BE49-F238E27FC236}">
                <a16:creationId xmlns:a16="http://schemas.microsoft.com/office/drawing/2014/main" id="{17E1FA55-DCC9-F279-9F81-BF3CFEDACD9E}"/>
              </a:ext>
            </a:extLst>
          </p:cNvPr>
          <p:cNvSpPr/>
          <p:nvPr/>
        </p:nvSpPr>
        <p:spPr>
          <a:xfrm>
            <a:off x="7716460" y="1451463"/>
            <a:ext cx="72000" cy="72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1" name="Ovale 110">
            <a:extLst>
              <a:ext uri="{FF2B5EF4-FFF2-40B4-BE49-F238E27FC236}">
                <a16:creationId xmlns:a16="http://schemas.microsoft.com/office/drawing/2014/main" id="{FF1CE620-EC5B-3B2C-FAA2-905F1A0C3EE4}"/>
              </a:ext>
            </a:extLst>
          </p:cNvPr>
          <p:cNvSpPr/>
          <p:nvPr/>
        </p:nvSpPr>
        <p:spPr>
          <a:xfrm>
            <a:off x="7717253" y="1530838"/>
            <a:ext cx="72000" cy="72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CasellaDiTesto 111">
                <a:extLst>
                  <a:ext uri="{FF2B5EF4-FFF2-40B4-BE49-F238E27FC236}">
                    <a16:creationId xmlns:a16="http://schemas.microsoft.com/office/drawing/2014/main" id="{CBC6F197-5A9B-E572-6E16-14F5BB297808}"/>
                  </a:ext>
                </a:extLst>
              </p:cNvPr>
              <p:cNvSpPr txBox="1"/>
              <p:nvPr/>
            </p:nvSpPr>
            <p:spPr>
              <a:xfrm>
                <a:off x="6788043" y="1173953"/>
                <a:ext cx="968535" cy="6512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∼</m:t>
                      </m:r>
                      <m:sSub>
                        <m:sSub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</m:oMath>
                  </m:oMathPara>
                </a14:m>
                <a:endParaRPr lang="it-IT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sSub>
                            <m:sSubPr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lang="it-IT" b="0" dirty="0"/>
              </a:p>
            </p:txBody>
          </p:sp>
        </mc:Choice>
        <mc:Fallback xmlns="">
          <p:sp>
            <p:nvSpPr>
              <p:cNvPr id="112" name="CasellaDiTesto 111">
                <a:extLst>
                  <a:ext uri="{FF2B5EF4-FFF2-40B4-BE49-F238E27FC236}">
                    <a16:creationId xmlns:a16="http://schemas.microsoft.com/office/drawing/2014/main" id="{CBC6F197-5A9B-E572-6E16-14F5BB2978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8043" y="1173953"/>
                <a:ext cx="968535" cy="65126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CasellaDiTesto 112">
                <a:extLst>
                  <a:ext uri="{FF2B5EF4-FFF2-40B4-BE49-F238E27FC236}">
                    <a16:creationId xmlns:a16="http://schemas.microsoft.com/office/drawing/2014/main" id="{719AA608-F191-0FC2-85DE-CD2A4335D3BC}"/>
                  </a:ext>
                </a:extLst>
              </p:cNvPr>
              <p:cNvSpPr txBox="1"/>
              <p:nvPr/>
            </p:nvSpPr>
            <p:spPr>
              <a:xfrm>
                <a:off x="8930211" y="1257968"/>
                <a:ext cx="977858" cy="3702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∼</m:t>
                      </m:r>
                      <m:sSup>
                        <m:sSup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sup>
                      </m:sSup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113" name="CasellaDiTesto 112">
                <a:extLst>
                  <a:ext uri="{FF2B5EF4-FFF2-40B4-BE49-F238E27FC236}">
                    <a16:creationId xmlns:a16="http://schemas.microsoft.com/office/drawing/2014/main" id="{719AA608-F191-0FC2-85DE-CD2A4335D3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0211" y="1257968"/>
                <a:ext cx="977858" cy="37023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4" name="Connettore 2 113">
            <a:extLst>
              <a:ext uri="{FF2B5EF4-FFF2-40B4-BE49-F238E27FC236}">
                <a16:creationId xmlns:a16="http://schemas.microsoft.com/office/drawing/2014/main" id="{D658C27B-7746-77FF-C3A8-4244E326A32C}"/>
              </a:ext>
            </a:extLst>
          </p:cNvPr>
          <p:cNvCxnSpPr>
            <a:cxnSpLocks/>
          </p:cNvCxnSpPr>
          <p:nvPr/>
        </p:nvCxnSpPr>
        <p:spPr>
          <a:xfrm flipV="1">
            <a:off x="8573398" y="1493783"/>
            <a:ext cx="228906" cy="87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5" name="CasellaDiTesto 114">
                <a:extLst>
                  <a:ext uri="{FF2B5EF4-FFF2-40B4-BE49-F238E27FC236}">
                    <a16:creationId xmlns:a16="http://schemas.microsoft.com/office/drawing/2014/main" id="{79CC1E90-9421-C86A-548A-DFC1C76AF941}"/>
                  </a:ext>
                </a:extLst>
              </p:cNvPr>
              <p:cNvSpPr txBox="1"/>
              <p:nvPr/>
            </p:nvSpPr>
            <p:spPr>
              <a:xfrm>
                <a:off x="4030452" y="1290957"/>
                <a:ext cx="36486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𝑜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115" name="CasellaDiTesto 114">
                <a:extLst>
                  <a:ext uri="{FF2B5EF4-FFF2-40B4-BE49-F238E27FC236}">
                    <a16:creationId xmlns:a16="http://schemas.microsoft.com/office/drawing/2014/main" id="{79CC1E90-9421-C86A-548A-DFC1C76AF9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0452" y="1290957"/>
                <a:ext cx="364860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4" name="Immagine 83">
            <a:extLst>
              <a:ext uri="{FF2B5EF4-FFF2-40B4-BE49-F238E27FC236}">
                <a16:creationId xmlns:a16="http://schemas.microsoft.com/office/drawing/2014/main" id="{94B215E8-902A-398E-040A-37445E27705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2428" y="1330555"/>
            <a:ext cx="767719" cy="282350"/>
          </a:xfrm>
          <a:prstGeom prst="rect">
            <a:avLst/>
          </a:prstGeom>
        </p:spPr>
      </p:pic>
      <p:sp>
        <p:nvSpPr>
          <p:cNvPr id="78" name="CasellaDiTesto 77">
            <a:extLst>
              <a:ext uri="{FF2B5EF4-FFF2-40B4-BE49-F238E27FC236}">
                <a16:creationId xmlns:a16="http://schemas.microsoft.com/office/drawing/2014/main" id="{C918C096-8A89-D4C4-AE6F-B8484DDC6C70}"/>
              </a:ext>
            </a:extLst>
          </p:cNvPr>
          <p:cNvSpPr txBox="1"/>
          <p:nvPr/>
        </p:nvSpPr>
        <p:spPr>
          <a:xfrm>
            <a:off x="2476500" y="436788"/>
            <a:ext cx="65847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>
                <a:solidFill>
                  <a:srgbClr val="7E44A9"/>
                </a:solidFill>
              </a:rPr>
              <a:t>Models / Loss</a:t>
            </a:r>
          </a:p>
        </p:txBody>
      </p:sp>
      <p:pic>
        <p:nvPicPr>
          <p:cNvPr id="76" name="Immagine 75">
            <a:extLst>
              <a:ext uri="{FF2B5EF4-FFF2-40B4-BE49-F238E27FC236}">
                <a16:creationId xmlns:a16="http://schemas.microsoft.com/office/drawing/2014/main" id="{A918C7C5-12A9-CF8D-8DA0-54AF85D8CB63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449868" y="507464"/>
            <a:ext cx="3951438" cy="256587"/>
          </a:xfrm>
          <a:prstGeom prst="rect">
            <a:avLst/>
          </a:prstGeom>
          <a:ln>
            <a:solidFill>
              <a:srgbClr val="00B0F0"/>
            </a:solidFill>
          </a:ln>
        </p:spPr>
      </p:pic>
      <p:sp>
        <p:nvSpPr>
          <p:cNvPr id="143" name="CasellaDiTesto 142">
            <a:extLst>
              <a:ext uri="{FF2B5EF4-FFF2-40B4-BE49-F238E27FC236}">
                <a16:creationId xmlns:a16="http://schemas.microsoft.com/office/drawing/2014/main" id="{A4E2C42E-0AA0-8187-9B68-80BE7E77EB9F}"/>
              </a:ext>
            </a:extLst>
          </p:cNvPr>
          <p:cNvSpPr txBox="1"/>
          <p:nvPr/>
        </p:nvSpPr>
        <p:spPr>
          <a:xfrm>
            <a:off x="653737" y="1159974"/>
            <a:ext cx="13141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Input</a:t>
            </a:r>
          </a:p>
          <a:p>
            <a:pPr algn="ctr"/>
            <a:r>
              <a:rPr lang="it-IT" dirty="0"/>
              <a:t>Im</a:t>
            </a:r>
            <a:r>
              <a:rPr lang="it-IT" b="0" dirty="0"/>
              <a:t>ages</a:t>
            </a:r>
          </a:p>
        </p:txBody>
      </p:sp>
      <p:sp>
        <p:nvSpPr>
          <p:cNvPr id="144" name="CasellaDiTesto 143">
            <a:extLst>
              <a:ext uri="{FF2B5EF4-FFF2-40B4-BE49-F238E27FC236}">
                <a16:creationId xmlns:a16="http://schemas.microsoft.com/office/drawing/2014/main" id="{EC3C3C24-AE8C-D2EF-04DA-B7554E1DB68B}"/>
              </a:ext>
            </a:extLst>
          </p:cNvPr>
          <p:cNvSpPr txBox="1"/>
          <p:nvPr/>
        </p:nvSpPr>
        <p:spPr>
          <a:xfrm>
            <a:off x="9778708" y="1083917"/>
            <a:ext cx="13141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Output Im</a:t>
            </a:r>
            <a:r>
              <a:rPr lang="it-IT" b="0" dirty="0"/>
              <a:t>ages</a:t>
            </a:r>
          </a:p>
        </p:txBody>
      </p:sp>
      <p:sp>
        <p:nvSpPr>
          <p:cNvPr id="145" name="CasellaDiTesto 144">
            <a:extLst>
              <a:ext uri="{FF2B5EF4-FFF2-40B4-BE49-F238E27FC236}">
                <a16:creationId xmlns:a16="http://schemas.microsoft.com/office/drawing/2014/main" id="{9E2C212F-F1FF-ACC3-383D-D78D7186FDE5}"/>
              </a:ext>
            </a:extLst>
          </p:cNvPr>
          <p:cNvSpPr txBox="1"/>
          <p:nvPr/>
        </p:nvSpPr>
        <p:spPr>
          <a:xfrm>
            <a:off x="4068609" y="1235287"/>
            <a:ext cx="150091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0" dirty="0"/>
              <a:t>Class</a:t>
            </a:r>
          </a:p>
          <a:p>
            <a:pPr algn="ctr"/>
            <a:r>
              <a:rPr lang="it-IT" sz="1600" b="0" dirty="0"/>
              <a:t>Real/</a:t>
            </a:r>
            <a:r>
              <a:rPr lang="it-IT" sz="1600" dirty="0" err="1"/>
              <a:t>G</a:t>
            </a:r>
            <a:r>
              <a:rPr lang="it-IT" sz="1600" b="0" dirty="0" err="1"/>
              <a:t>e</a:t>
            </a:r>
            <a:r>
              <a:rPr lang="it-IT" sz="1600" dirty="0" err="1"/>
              <a:t>nerated</a:t>
            </a:r>
            <a:endParaRPr lang="it-IT" sz="1600" b="0" dirty="0"/>
          </a:p>
        </p:txBody>
      </p:sp>
      <p:sp>
        <p:nvSpPr>
          <p:cNvPr id="146" name="CasellaDiTesto 145">
            <a:extLst>
              <a:ext uri="{FF2B5EF4-FFF2-40B4-BE49-F238E27FC236}">
                <a16:creationId xmlns:a16="http://schemas.microsoft.com/office/drawing/2014/main" id="{BD86A46A-208F-C967-57CD-08960B5F871F}"/>
              </a:ext>
            </a:extLst>
          </p:cNvPr>
          <p:cNvSpPr txBox="1"/>
          <p:nvPr/>
        </p:nvSpPr>
        <p:spPr>
          <a:xfrm>
            <a:off x="5675132" y="1238450"/>
            <a:ext cx="15009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b="0" dirty="0"/>
              <a:t>Random</a:t>
            </a:r>
          </a:p>
          <a:p>
            <a:pPr algn="ctr"/>
            <a:r>
              <a:rPr lang="it-IT" sz="1600" dirty="0" err="1"/>
              <a:t>numbers</a:t>
            </a:r>
            <a:endParaRPr lang="it-IT" sz="1600" b="0" dirty="0"/>
          </a:p>
        </p:txBody>
      </p:sp>
      <p:sp>
        <p:nvSpPr>
          <p:cNvPr id="147" name="CasellaDiTesto 146">
            <a:extLst>
              <a:ext uri="{FF2B5EF4-FFF2-40B4-BE49-F238E27FC236}">
                <a16:creationId xmlns:a16="http://schemas.microsoft.com/office/drawing/2014/main" id="{648946DD-AAEA-8B4C-A4AB-44D2924C09F7}"/>
              </a:ext>
            </a:extLst>
          </p:cNvPr>
          <p:cNvSpPr txBox="1"/>
          <p:nvPr/>
        </p:nvSpPr>
        <p:spPr>
          <a:xfrm>
            <a:off x="2810772" y="1876487"/>
            <a:ext cx="1938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Discriminator</a:t>
            </a:r>
            <a:endParaRPr lang="it-IT" b="0" dirty="0"/>
          </a:p>
        </p:txBody>
      </p:sp>
      <p:sp>
        <p:nvSpPr>
          <p:cNvPr id="148" name="CasellaDiTesto 147">
            <a:extLst>
              <a:ext uri="{FF2B5EF4-FFF2-40B4-BE49-F238E27FC236}">
                <a16:creationId xmlns:a16="http://schemas.microsoft.com/office/drawing/2014/main" id="{9BF9A6F3-63AA-A05E-6489-04A44FFF5C03}"/>
              </a:ext>
            </a:extLst>
          </p:cNvPr>
          <p:cNvSpPr txBox="1"/>
          <p:nvPr/>
        </p:nvSpPr>
        <p:spPr>
          <a:xfrm>
            <a:off x="6791468" y="1826452"/>
            <a:ext cx="1938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Generator</a:t>
            </a:r>
            <a:endParaRPr lang="it-IT" b="0" dirty="0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AAA5A848-622B-C6D8-2493-5304294AF871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0783" y="2566503"/>
            <a:ext cx="5033612" cy="3389216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7653E5D0-44C4-4002-BC9E-DBA1C4420D1F}"/>
              </a:ext>
            </a:extLst>
          </p:cNvPr>
          <p:cNvSpPr txBox="1"/>
          <p:nvPr/>
        </p:nvSpPr>
        <p:spPr>
          <a:xfrm>
            <a:off x="478835" y="5876923"/>
            <a:ext cx="30477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Book</a:t>
            </a:r>
          </a:p>
          <a:p>
            <a:r>
              <a:rPr lang="it-IT" dirty="0">
                <a:solidFill>
                  <a:srgbClr val="00B050"/>
                </a:solidFill>
                <a:hlinkClick r:id="rId1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Deep Learning, Bishop 2024</a:t>
            </a:r>
            <a:r>
              <a:rPr lang="it-IT" dirty="0">
                <a:solidFill>
                  <a:srgbClr val="00B050"/>
                </a:solidFill>
              </a:rPr>
              <a:t>,</a:t>
            </a:r>
          </a:p>
          <a:p>
            <a:r>
              <a:rPr lang="it-IT" dirty="0" err="1"/>
              <a:t>Chapter</a:t>
            </a:r>
            <a:r>
              <a:rPr lang="it-IT" dirty="0"/>
              <a:t> 17</a:t>
            </a:r>
          </a:p>
        </p:txBody>
      </p:sp>
    </p:spTree>
    <p:extLst>
      <p:ext uri="{BB962C8B-B14F-4D97-AF65-F5344CB8AC3E}">
        <p14:creationId xmlns:p14="http://schemas.microsoft.com/office/powerpoint/2010/main" val="3465245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D4FA76-BB02-2403-69B2-9B7D0FA33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BB65E26D-19F9-CBB6-F9DD-18ABE43F31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904" y="4590143"/>
            <a:ext cx="4281936" cy="2056676"/>
          </a:xfrm>
          <a:prstGeom prst="rect">
            <a:avLst/>
          </a:prstGeom>
        </p:spPr>
      </p:pic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F43FD049-D22D-E5EE-EE3A-FD3358573A2C}"/>
              </a:ext>
            </a:extLst>
          </p:cNvPr>
          <p:cNvSpPr txBox="1"/>
          <p:nvPr/>
        </p:nvSpPr>
        <p:spPr>
          <a:xfrm>
            <a:off x="2954784" y="0"/>
            <a:ext cx="628243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2800" b="1" dirty="0" err="1">
                <a:latin typeface="Georgia" panose="02040502050405020303" pitchFamily="18" charset="0"/>
              </a:rPr>
              <a:t>GANs</a:t>
            </a:r>
            <a:r>
              <a:rPr lang="it-IT" sz="2800" dirty="0">
                <a:latin typeface="Georgia" panose="02040502050405020303" pitchFamily="18" charset="0"/>
              </a:rPr>
              <a:t>:</a:t>
            </a:r>
            <a:r>
              <a:rPr lang="it-IT" sz="2800" b="1" dirty="0">
                <a:latin typeface="Georgia" panose="02040502050405020303" pitchFamily="18" charset="0"/>
              </a:rPr>
              <a:t> </a:t>
            </a:r>
            <a:r>
              <a:rPr lang="it-IT" sz="2800" dirty="0">
                <a:latin typeface="Georgia" panose="02040502050405020303" pitchFamily="18" charset="0"/>
              </a:rPr>
              <a:t>MNIST case</a:t>
            </a:r>
          </a:p>
        </p:txBody>
      </p:sp>
      <p:pic>
        <p:nvPicPr>
          <p:cNvPr id="16" name="Immagine 15">
            <a:extLst>
              <a:ext uri="{FF2B5EF4-FFF2-40B4-BE49-F238E27FC236}">
                <a16:creationId xmlns:a16="http://schemas.microsoft.com/office/drawing/2014/main" id="{C777EAA5-1D66-0654-7D11-3E3696B719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4179" y="552120"/>
            <a:ext cx="5884067" cy="2951433"/>
          </a:xfrm>
          <a:prstGeom prst="rect">
            <a:avLst/>
          </a:prstGeom>
        </p:spPr>
      </p:pic>
      <p:pic>
        <p:nvPicPr>
          <p:cNvPr id="22" name="Immagine 21">
            <a:extLst>
              <a:ext uri="{FF2B5EF4-FFF2-40B4-BE49-F238E27FC236}">
                <a16:creationId xmlns:a16="http://schemas.microsoft.com/office/drawing/2014/main" id="{F8536FA6-3ABB-929E-DADA-FE453B4BD6F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773854" y="4667784"/>
            <a:ext cx="4831472" cy="2048331"/>
          </a:xfrm>
          <a:prstGeom prst="rect">
            <a:avLst/>
          </a:prstGeom>
        </p:spPr>
      </p:pic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D32669E7-1DE8-04A4-D4C1-E6CB65D317D2}"/>
              </a:ext>
            </a:extLst>
          </p:cNvPr>
          <p:cNvSpPr txBox="1"/>
          <p:nvPr/>
        </p:nvSpPr>
        <p:spPr>
          <a:xfrm>
            <a:off x="494951" y="3164021"/>
            <a:ext cx="46558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dirty="0"/>
              <a:t>MNIST Dataset </a:t>
            </a:r>
            <a:r>
              <a:rPr lang="it-IT" dirty="0" err="1"/>
              <a:t>Examples</a:t>
            </a:r>
            <a:endParaRPr lang="it-IT" dirty="0"/>
          </a:p>
        </p:txBody>
      </p: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48B2F9C2-6785-C111-8B3B-FB783D6A6D48}"/>
              </a:ext>
            </a:extLst>
          </p:cNvPr>
          <p:cNvSpPr txBox="1"/>
          <p:nvPr/>
        </p:nvSpPr>
        <p:spPr>
          <a:xfrm>
            <a:off x="6144180" y="3561132"/>
            <a:ext cx="58840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dirty="0"/>
              <a:t>some </a:t>
            </a:r>
            <a:r>
              <a:rPr lang="it-IT" dirty="0" err="1"/>
              <a:t>Generated</a:t>
            </a:r>
            <a:r>
              <a:rPr lang="it-IT" dirty="0"/>
              <a:t> samples</a:t>
            </a:r>
          </a:p>
        </p:txBody>
      </p: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4B97B5E6-794B-1C17-47E9-F1C5F953061E}"/>
              </a:ext>
            </a:extLst>
          </p:cNvPr>
          <p:cNvSpPr txBox="1"/>
          <p:nvPr/>
        </p:nvSpPr>
        <p:spPr>
          <a:xfrm>
            <a:off x="6247557" y="4298452"/>
            <a:ext cx="58840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dirty="0"/>
              <a:t>Samples from </a:t>
            </a:r>
            <a:r>
              <a:rPr lang="it-IT" dirty="0" err="1"/>
              <a:t>unstable</a:t>
            </a:r>
            <a:r>
              <a:rPr lang="it-IT" dirty="0"/>
              <a:t> training 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0EB62A4A-8B50-1F54-3D31-15ED702A36A5}"/>
              </a:ext>
            </a:extLst>
          </p:cNvPr>
          <p:cNvSpPr txBox="1"/>
          <p:nvPr/>
        </p:nvSpPr>
        <p:spPr>
          <a:xfrm>
            <a:off x="363491" y="4256133"/>
            <a:ext cx="58840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dirty="0"/>
              <a:t>W-GAN (Update of a GAN with </a:t>
            </a:r>
            <a:r>
              <a:rPr lang="it-IT" dirty="0" err="1"/>
              <a:t>another</a:t>
            </a:r>
            <a:r>
              <a:rPr lang="it-IT" dirty="0"/>
              <a:t> Loss) </a:t>
            </a:r>
            <a:r>
              <a:rPr lang="it-IT" dirty="0" err="1"/>
              <a:t>Very</a:t>
            </a:r>
            <a:r>
              <a:rPr lang="it-IT" dirty="0"/>
              <a:t> </a:t>
            </a:r>
            <a:r>
              <a:rPr lang="it-IT" dirty="0" err="1"/>
              <a:t>stable</a:t>
            </a:r>
            <a:r>
              <a:rPr lang="it-IT" dirty="0"/>
              <a:t>!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A8357976-6995-46FC-D09E-09014421A5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7907" y="652585"/>
            <a:ext cx="4628571" cy="255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40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ACF6DE-8219-CBB1-CA82-2A9DD0D61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0696346C-B243-746E-5A0E-AF37556D70AB}"/>
              </a:ext>
            </a:extLst>
          </p:cNvPr>
          <p:cNvSpPr txBox="1"/>
          <p:nvPr/>
        </p:nvSpPr>
        <p:spPr>
          <a:xfrm>
            <a:off x="2954784" y="0"/>
            <a:ext cx="628243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800" b="1" noProof="0" dirty="0">
                <a:latin typeface="Georgia" panose="02040502050405020303" pitchFamily="18" charset="0"/>
              </a:rPr>
              <a:t>GANs</a:t>
            </a:r>
            <a:r>
              <a:rPr lang="en-GB" sz="2800" noProof="0" dirty="0">
                <a:latin typeface="Georgia" panose="02040502050405020303" pitchFamily="18" charset="0"/>
              </a:rPr>
              <a:t>: A more difficult task</a:t>
            </a:r>
          </a:p>
          <a:p>
            <a:pPr algn="ctr"/>
            <a:endParaRPr lang="en-GB" sz="2800" noProof="0" dirty="0">
              <a:latin typeface="Georgia" panose="02040502050405020303" pitchFamily="18" charset="0"/>
            </a:endParaRPr>
          </a:p>
          <a:p>
            <a:pPr algn="ctr"/>
            <a:r>
              <a:rPr lang="en-GB" sz="2000" dirty="0">
                <a:latin typeface="Georgia" panose="02040502050405020303" pitchFamily="18" charset="0"/>
              </a:rPr>
              <a:t>Here I tried to generate other types of images, I used a different dataset, STL10 dataset</a:t>
            </a:r>
            <a:endParaRPr lang="en-GB" sz="2000" noProof="0" dirty="0">
              <a:latin typeface="Georgia" panose="02040502050405020303" pitchFamily="18" charset="0"/>
            </a:endParaRP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48FB9C76-ABBA-AD77-074F-7D66550F53D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967883" y="2351404"/>
            <a:ext cx="6056529" cy="2446750"/>
          </a:xfrm>
          <a:prstGeom prst="rect">
            <a:avLst/>
          </a:prstGeom>
        </p:spPr>
      </p:pic>
      <p:pic>
        <p:nvPicPr>
          <p:cNvPr id="12" name="Immagine 11">
            <a:extLst>
              <a:ext uri="{FF2B5EF4-FFF2-40B4-BE49-F238E27FC236}">
                <a16:creationId xmlns:a16="http://schemas.microsoft.com/office/drawing/2014/main" id="{462D0F10-4087-7CF1-E8C4-B7ECEEAE0D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837" y="2242562"/>
            <a:ext cx="5259893" cy="2555592"/>
          </a:xfrm>
          <a:prstGeom prst="rect">
            <a:avLst/>
          </a:prstGeom>
        </p:spPr>
      </p:pic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4239DB16-F2FE-5D5C-0913-004EED8B294E}"/>
              </a:ext>
            </a:extLst>
          </p:cNvPr>
          <p:cNvSpPr txBox="1"/>
          <p:nvPr/>
        </p:nvSpPr>
        <p:spPr>
          <a:xfrm>
            <a:off x="324837" y="4904650"/>
            <a:ext cx="52598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dirty="0"/>
              <a:t>STL10 Dataset </a:t>
            </a:r>
            <a:r>
              <a:rPr lang="it-IT" dirty="0" err="1"/>
              <a:t>Examples</a:t>
            </a:r>
            <a:endParaRPr lang="it-IT" dirty="0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3381D44C-C131-0D57-82D9-87543B436828}"/>
              </a:ext>
            </a:extLst>
          </p:cNvPr>
          <p:cNvSpPr txBox="1"/>
          <p:nvPr/>
        </p:nvSpPr>
        <p:spPr>
          <a:xfrm>
            <a:off x="6296024" y="4904650"/>
            <a:ext cx="52482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dirty="0"/>
              <a:t>GAN.  </a:t>
            </a:r>
            <a:r>
              <a:rPr lang="it-IT" dirty="0" err="1"/>
              <a:t>Various</a:t>
            </a:r>
            <a:r>
              <a:rPr lang="it-IT" dirty="0"/>
              <a:t> </a:t>
            </a:r>
            <a:r>
              <a:rPr lang="it-IT" dirty="0" err="1"/>
              <a:t>trained</a:t>
            </a:r>
            <a:r>
              <a:rPr lang="it-IT" dirty="0"/>
              <a:t> networks</a:t>
            </a:r>
          </a:p>
        </p:txBody>
      </p:sp>
    </p:spTree>
    <p:extLst>
      <p:ext uri="{BB962C8B-B14F-4D97-AF65-F5344CB8AC3E}">
        <p14:creationId xmlns:p14="http://schemas.microsoft.com/office/powerpoint/2010/main" val="21280053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26565F-C919-5319-050A-35D60D9C93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E1896924-AD71-C3AB-D3AF-A331C5DB28AE}"/>
              </a:ext>
            </a:extLst>
          </p:cNvPr>
          <p:cNvSpPr txBox="1"/>
          <p:nvPr/>
        </p:nvSpPr>
        <p:spPr>
          <a:xfrm>
            <a:off x="2954784" y="0"/>
            <a:ext cx="628243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2800" b="1" dirty="0" err="1">
                <a:latin typeface="Georgia" panose="02040502050405020303" pitchFamily="18" charset="0"/>
              </a:rPr>
              <a:t>GANs</a:t>
            </a:r>
            <a:r>
              <a:rPr lang="it-IT" sz="2800" b="1" dirty="0">
                <a:latin typeface="Georgia" panose="02040502050405020303" pitchFamily="18" charset="0"/>
              </a:rPr>
              <a:t> </a:t>
            </a:r>
            <a:r>
              <a:rPr lang="it-IT" sz="2800" dirty="0">
                <a:latin typeface="Georgia" panose="02040502050405020303" pitchFamily="18" charset="0"/>
              </a:rPr>
              <a:t>- Label </a:t>
            </a:r>
            <a:r>
              <a:rPr lang="it-IT" sz="2800" dirty="0" err="1">
                <a:latin typeface="Georgia" panose="02040502050405020303" pitchFamily="18" charset="0"/>
              </a:rPr>
              <a:t>conditioning</a:t>
            </a:r>
            <a:endParaRPr lang="it-IT" sz="2800" dirty="0">
              <a:latin typeface="Georgia" panose="02040502050405020303" pitchFamily="18" charset="0"/>
            </a:endParaRPr>
          </a:p>
          <a:p>
            <a:pPr algn="ctr"/>
            <a:endParaRPr lang="it-IT" sz="600" dirty="0">
              <a:latin typeface="Georgia" panose="02040502050405020303" pitchFamily="18" charset="0"/>
            </a:endParaRPr>
          </a:p>
          <a:p>
            <a:pPr algn="ctr"/>
            <a:r>
              <a:rPr lang="it-IT" sz="2000" i="1" dirty="0">
                <a:latin typeface="Georgia" panose="02040502050405020303" pitchFamily="18" charset="0"/>
              </a:rPr>
              <a:t>How to generate </a:t>
            </a:r>
            <a:r>
              <a:rPr lang="it-IT" sz="2000" i="1" dirty="0" err="1">
                <a:latin typeface="Georgia" panose="02040502050405020303" pitchFamily="18" charset="0"/>
              </a:rPr>
              <a:t>responsibly</a:t>
            </a:r>
            <a:endParaRPr lang="it-IT" sz="2400" i="1" dirty="0">
              <a:latin typeface="Georgia" panose="02040502050405020303" pitchFamily="18" charset="0"/>
            </a:endParaRP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361C8C7B-9989-675C-63FC-37D8C0BA26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502" y="983397"/>
            <a:ext cx="5285714" cy="3600000"/>
          </a:xfrm>
          <a:prstGeom prst="rect">
            <a:avLst/>
          </a:prstGeom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5AD3BB5C-F99E-927F-5FEF-5415EA0EA24D}"/>
              </a:ext>
            </a:extLst>
          </p:cNvPr>
          <p:cNvSpPr txBox="1"/>
          <p:nvPr/>
        </p:nvSpPr>
        <p:spPr>
          <a:xfrm>
            <a:off x="5626216" y="1247467"/>
            <a:ext cx="6096001" cy="12900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dirty="0"/>
              <a:t>Data are </a:t>
            </a:r>
            <a:r>
              <a:rPr lang="it-IT" dirty="0" err="1"/>
              <a:t>not</a:t>
            </a:r>
            <a:r>
              <a:rPr lang="it-IT" dirty="0"/>
              <a:t> alone, </a:t>
            </a:r>
            <a:r>
              <a:rPr lang="it-IT" dirty="0" err="1"/>
              <a:t>we</a:t>
            </a:r>
            <a:r>
              <a:rPr lang="it-IT" dirty="0"/>
              <a:t> can use labels (</a:t>
            </a:r>
            <a:r>
              <a:rPr lang="it-IT" dirty="0" err="1"/>
              <a:t>partially</a:t>
            </a:r>
            <a:r>
              <a:rPr lang="it-IT" dirty="0"/>
              <a:t> </a:t>
            </a:r>
            <a:r>
              <a:rPr lang="it-IT" dirty="0" err="1"/>
              <a:t>supervised</a:t>
            </a:r>
            <a:r>
              <a:rPr lang="it-IT" dirty="0"/>
              <a:t>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dirty="0" err="1"/>
              <a:t>Different</a:t>
            </a:r>
            <a:r>
              <a:rPr lang="it-IT" dirty="0"/>
              <a:t> labels    →   </a:t>
            </a:r>
            <a:r>
              <a:rPr lang="it-IT" dirty="0" err="1"/>
              <a:t>Different</a:t>
            </a:r>
            <a:r>
              <a:rPr lang="it-IT" dirty="0"/>
              <a:t> images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dirty="0" err="1"/>
              <a:t>We</a:t>
            </a:r>
            <a:r>
              <a:rPr lang="it-IT" dirty="0"/>
              <a:t> can use the info of the label to produce </a:t>
            </a:r>
            <a:r>
              <a:rPr lang="it-IT" dirty="0" err="1"/>
              <a:t>what</a:t>
            </a:r>
            <a:r>
              <a:rPr lang="it-IT" dirty="0"/>
              <a:t> </a:t>
            </a:r>
            <a:r>
              <a:rPr lang="it-IT" dirty="0" err="1"/>
              <a:t>we</a:t>
            </a:r>
            <a:r>
              <a:rPr lang="it-IT" dirty="0"/>
              <a:t> </a:t>
            </a:r>
            <a:r>
              <a:rPr lang="it-IT" dirty="0" err="1"/>
              <a:t>want</a:t>
            </a:r>
            <a:r>
              <a:rPr lang="it-IT" dirty="0"/>
              <a:t>!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B22E752A-723B-A790-B375-51FBA7DB6E55}"/>
              </a:ext>
            </a:extLst>
          </p:cNvPr>
          <p:cNvSpPr txBox="1"/>
          <p:nvPr/>
        </p:nvSpPr>
        <p:spPr>
          <a:xfrm>
            <a:off x="6262443" y="3661922"/>
            <a:ext cx="566431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it-IT" dirty="0" err="1"/>
              <a:t>We</a:t>
            </a:r>
            <a:r>
              <a:rPr lang="it-IT" dirty="0"/>
              <a:t> can </a:t>
            </a:r>
            <a:r>
              <a:rPr lang="it-IT" dirty="0" err="1"/>
              <a:t>also</a:t>
            </a:r>
            <a:r>
              <a:rPr lang="it-IT" dirty="0"/>
              <a:t> generate a mix of </a:t>
            </a:r>
            <a:r>
              <a:rPr lang="it-IT" dirty="0" err="1"/>
              <a:t>things</a:t>
            </a:r>
            <a:r>
              <a:rPr lang="it-IT" dirty="0"/>
              <a:t>. In </a:t>
            </a:r>
            <a:r>
              <a:rPr lang="it-IT" dirty="0" err="1"/>
              <a:t>this</a:t>
            </a:r>
            <a:r>
              <a:rPr lang="it-IT" dirty="0"/>
              <a:t> test, the </a:t>
            </a:r>
            <a:r>
              <a:rPr lang="it-IT" dirty="0" err="1"/>
              <a:t>researchers</a:t>
            </a:r>
            <a:r>
              <a:rPr lang="it-IT" dirty="0"/>
              <a:t> generate </a:t>
            </a:r>
            <a:r>
              <a:rPr lang="it-IT" dirty="0" err="1"/>
              <a:t>something</a:t>
            </a:r>
            <a:r>
              <a:rPr lang="it-IT" dirty="0"/>
              <a:t> 50% dog and 50% mountain! (</a:t>
            </a:r>
            <a:r>
              <a:rPr lang="it-IT" dirty="0" err="1"/>
              <a:t>they</a:t>
            </a:r>
            <a:r>
              <a:rPr lang="it-IT" dirty="0"/>
              <a:t> </a:t>
            </a:r>
            <a:r>
              <a:rPr lang="it-IT" dirty="0" err="1"/>
              <a:t>used</a:t>
            </a:r>
            <a:r>
              <a:rPr lang="it-IT" dirty="0"/>
              <a:t> the label dog or mountain or </a:t>
            </a:r>
            <a:r>
              <a:rPr lang="it-IT" dirty="0" err="1"/>
              <a:t>both</a:t>
            </a:r>
            <a:r>
              <a:rPr lang="it-IT" dirty="0"/>
              <a:t>)</a:t>
            </a:r>
          </a:p>
        </p:txBody>
      </p:sp>
      <p:pic>
        <p:nvPicPr>
          <p:cNvPr id="17" name="Immagine 16">
            <a:extLst>
              <a:ext uri="{FF2B5EF4-FFF2-40B4-BE49-F238E27FC236}">
                <a16:creationId xmlns:a16="http://schemas.microsoft.com/office/drawing/2014/main" id="{C63ECAF1-1059-30C1-8EAD-E9D2482C8D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202" y="4740995"/>
            <a:ext cx="11575273" cy="1643642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CC696D1A-06BA-D9AD-A89B-ADA7B51CBBB1}"/>
              </a:ext>
            </a:extLst>
          </p:cNvPr>
          <p:cNvSpPr txBox="1"/>
          <p:nvPr/>
        </p:nvSpPr>
        <p:spPr>
          <a:xfrm>
            <a:off x="226202" y="6444744"/>
            <a:ext cx="10334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hlinkClick r:id="rId4"/>
              </a:rPr>
              <a:t>Brock, A., Donahue, J., &amp; Simonyan, K. (2019). Large scale GAN training for high fidelity natural image synthesis.</a:t>
            </a:r>
            <a:endParaRPr lang="it-IT" sz="1600" dirty="0">
              <a:solidFill>
                <a:srgbClr val="222222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9607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EF9D8-0B9A-95E7-0B1A-B75F041F8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8AA661FC-D147-0715-1D99-94D5070F3C24}"/>
              </a:ext>
            </a:extLst>
          </p:cNvPr>
          <p:cNvSpPr txBox="1"/>
          <p:nvPr/>
        </p:nvSpPr>
        <p:spPr>
          <a:xfrm>
            <a:off x="352338" y="1840859"/>
            <a:ext cx="9804287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0" dirty="0">
                <a:solidFill>
                  <a:srgbClr val="222222"/>
                </a:solidFill>
                <a:effectLst/>
                <a:latin typeface="Book Antiqua" panose="02040602050305030304" pitchFamily="18" charset="0"/>
              </a:rPr>
              <a:t>Books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0" dirty="0">
                <a:solidFill>
                  <a:srgbClr val="222222"/>
                </a:solidFill>
                <a:effectLst/>
                <a:latin typeface="Book Antiqua" panose="02040602050305030304" pitchFamily="18" charset="0"/>
              </a:rPr>
              <a:t>Erdmann, Martin, et al. Deep Learning for Physics Research. 2021.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0" dirty="0">
                <a:solidFill>
                  <a:srgbClr val="222222"/>
                </a:solidFill>
                <a:effectLst/>
                <a:latin typeface="Book Antiqua" panose="02040602050305030304" pitchFamily="18" charset="0"/>
              </a:rPr>
              <a:t>Generative Adversarial Networks with Python (2020) Jason Brownlee</a:t>
            </a:r>
            <a:r>
              <a:rPr lang="en-US" sz="1600" dirty="0">
                <a:solidFill>
                  <a:srgbClr val="222222"/>
                </a:solidFill>
                <a:latin typeface="Book Antiqua" panose="02040602050305030304" pitchFamily="18" charset="0"/>
              </a:rPr>
              <a:t>.</a:t>
            </a:r>
          </a:p>
          <a:p>
            <a:endParaRPr lang="en-US" sz="1600" b="0" dirty="0">
              <a:solidFill>
                <a:srgbClr val="222222"/>
              </a:solidFill>
              <a:effectLst/>
              <a:latin typeface="Book Antiqua" panose="02040602050305030304" pitchFamily="18" charset="0"/>
            </a:endParaRPr>
          </a:p>
          <a:p>
            <a:endParaRPr lang="en-US" sz="1600" dirty="0">
              <a:solidFill>
                <a:srgbClr val="222222"/>
              </a:solidFill>
              <a:latin typeface="Book Antiqua" panose="02040602050305030304" pitchFamily="18" charset="0"/>
            </a:endParaRPr>
          </a:p>
          <a:p>
            <a:r>
              <a:rPr lang="en-US" sz="1600" b="0" dirty="0">
                <a:solidFill>
                  <a:srgbClr val="222222"/>
                </a:solidFill>
                <a:effectLst/>
                <a:latin typeface="Book Antiqua" panose="02040602050305030304" pitchFamily="18" charset="0"/>
              </a:rPr>
              <a:t>Papers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0" dirty="0">
                <a:solidFill>
                  <a:srgbClr val="00B0F0"/>
                </a:solidFill>
                <a:effectLst/>
                <a:latin typeface="Book Antiqua" panose="0204060205030503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Goodfellow, et al. Generative adversarial nets.</a:t>
            </a:r>
            <a:endParaRPr lang="en-US" sz="1600" b="0" dirty="0">
              <a:solidFill>
                <a:srgbClr val="00B0F0"/>
              </a:solidFill>
              <a:effectLst/>
              <a:latin typeface="Book Antiqua" panose="02040602050305030304" pitchFamily="18" charset="0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0" dirty="0">
                <a:solidFill>
                  <a:srgbClr val="00B0F0"/>
                </a:solidFill>
                <a:effectLst/>
                <a:latin typeface="Book Antiqua" panose="0204060205030503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Weng, L. (2019). From </a:t>
            </a:r>
            <a:r>
              <a:rPr lang="en-US" sz="1600" b="0" dirty="0" err="1">
                <a:solidFill>
                  <a:srgbClr val="00B0F0"/>
                </a:solidFill>
                <a:effectLst/>
                <a:latin typeface="Book Antiqua" panose="0204060205030503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gan</a:t>
            </a:r>
            <a:r>
              <a:rPr lang="en-US" sz="1600" b="0" dirty="0">
                <a:solidFill>
                  <a:srgbClr val="00B0F0"/>
                </a:solidFill>
                <a:effectLst/>
                <a:latin typeface="Book Antiqua" panose="0204060205030503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to </a:t>
            </a:r>
            <a:r>
              <a:rPr lang="en-US" sz="1600" b="0" dirty="0" err="1">
                <a:solidFill>
                  <a:srgbClr val="00B0F0"/>
                </a:solidFill>
                <a:effectLst/>
                <a:latin typeface="Book Antiqua" panose="0204060205030503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wgan</a:t>
            </a:r>
            <a:r>
              <a:rPr lang="en-US" sz="1600" b="0" dirty="0">
                <a:solidFill>
                  <a:srgbClr val="00B0F0"/>
                </a:solidFill>
                <a:effectLst/>
                <a:latin typeface="Book Antiqua" panose="0204060205030503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. </a:t>
            </a:r>
            <a:r>
              <a:rPr lang="en-US" sz="1600" b="0" dirty="0" err="1">
                <a:solidFill>
                  <a:srgbClr val="00B0F0"/>
                </a:solidFill>
                <a:effectLst/>
                <a:latin typeface="Book Antiqua" panose="0204060205030503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arXiv</a:t>
            </a:r>
            <a:r>
              <a:rPr lang="en-US" sz="1600" b="0" dirty="0">
                <a:solidFill>
                  <a:srgbClr val="00B0F0"/>
                </a:solidFill>
                <a:effectLst/>
                <a:latin typeface="Book Antiqua" panose="0204060205030503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preprint arXiv:1904.08994.</a:t>
            </a:r>
            <a:endParaRPr lang="en-US" sz="1600" b="0" dirty="0">
              <a:solidFill>
                <a:srgbClr val="00B0F0"/>
              </a:solidFill>
              <a:effectLst/>
              <a:latin typeface="Book Antiqua" panose="0204060205030503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B0F0"/>
                </a:solidFill>
                <a:latin typeface="Book Antiqua" panose="0204060205030503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Wasserstein GAN · Depth First Learning.</a:t>
            </a:r>
            <a:endParaRPr lang="en-US" sz="1600" dirty="0">
              <a:solidFill>
                <a:srgbClr val="00B0F0"/>
              </a:solidFill>
              <a:latin typeface="Book Antiqua" panose="0204060205030503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B0F0"/>
                </a:solidFill>
                <a:latin typeface="Book Antiqua" panose="02040602050305030304" pitchFamily="18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Zhang, H. Towards principled methods for training generative adversarial networks.</a:t>
            </a:r>
            <a:endParaRPr lang="en-US" sz="1600" dirty="0">
              <a:solidFill>
                <a:srgbClr val="00B0F0"/>
              </a:solidFill>
              <a:latin typeface="Book Antiqua" panose="0204060205030503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rgbClr val="00B0F0"/>
                </a:solidFill>
                <a:latin typeface="Book Antiqua" panose="02040602050305030304" pitchFamily="18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Arjovsky</a:t>
            </a:r>
            <a:r>
              <a:rPr lang="en-US" sz="1600" dirty="0">
                <a:solidFill>
                  <a:srgbClr val="00B0F0"/>
                </a:solidFill>
                <a:latin typeface="Book Antiqua" panose="02040602050305030304" pitchFamily="18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, M., et.al  (2017). Wasserstein generative adversarial networks.</a:t>
            </a:r>
            <a:endParaRPr lang="en-US" sz="1600" dirty="0">
              <a:solidFill>
                <a:srgbClr val="00B0F0"/>
              </a:solidFill>
              <a:latin typeface="Book Antiqua" panose="0204060205030503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B0F0"/>
                </a:solidFill>
                <a:latin typeface="Book Antiqua" panose="02040602050305030304" pitchFamily="18" charset="0"/>
                <a:hlinkClick r:id="rId7"/>
              </a:rPr>
              <a:t>Brock, Donahue,  Simonyan (2019). Large-scale GAN training for high-fidelity natural image synthesis</a:t>
            </a:r>
            <a:r>
              <a:rPr lang="en-US" sz="1600" dirty="0">
                <a:solidFill>
                  <a:srgbClr val="00B0F0"/>
                </a:solidFill>
                <a:latin typeface="Book Antiqua" panose="0204060205030503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 err="1">
                <a:solidFill>
                  <a:srgbClr val="00B0F0"/>
                </a:solidFill>
                <a:latin typeface="Book Antiqua" panose="02040602050305030304" pitchFamily="18" charset="0"/>
                <a:hlinkClick r:id="rId8"/>
              </a:rPr>
              <a:t>Odena</a:t>
            </a:r>
            <a:r>
              <a:rPr lang="it-IT" sz="1600" dirty="0">
                <a:solidFill>
                  <a:srgbClr val="00B0F0"/>
                </a:solidFill>
                <a:latin typeface="Book Antiqua" panose="02040602050305030304" pitchFamily="18" charset="0"/>
                <a:hlinkClick r:id="rId8"/>
              </a:rPr>
              <a:t>, et al. </a:t>
            </a:r>
            <a:r>
              <a:rPr lang="it-IT" sz="1600" dirty="0" err="1">
                <a:solidFill>
                  <a:srgbClr val="00B0F0"/>
                </a:solidFill>
                <a:latin typeface="Book Antiqua" panose="02040602050305030304" pitchFamily="18" charset="0"/>
                <a:hlinkClick r:id="rId8"/>
              </a:rPr>
              <a:t>Conditional</a:t>
            </a:r>
            <a:r>
              <a:rPr lang="it-IT" sz="1600" dirty="0">
                <a:solidFill>
                  <a:srgbClr val="00B0F0"/>
                </a:solidFill>
                <a:latin typeface="Book Antiqua" panose="02040602050305030304" pitchFamily="18" charset="0"/>
                <a:hlinkClick r:id="rId8"/>
              </a:rPr>
              <a:t> image </a:t>
            </a:r>
            <a:r>
              <a:rPr lang="it-IT" sz="1600" dirty="0" err="1">
                <a:solidFill>
                  <a:srgbClr val="00B0F0"/>
                </a:solidFill>
                <a:latin typeface="Book Antiqua" panose="02040602050305030304" pitchFamily="18" charset="0"/>
                <a:hlinkClick r:id="rId8"/>
              </a:rPr>
              <a:t>synthesis</a:t>
            </a:r>
            <a:r>
              <a:rPr lang="it-IT" sz="1600" dirty="0">
                <a:solidFill>
                  <a:srgbClr val="00B0F0"/>
                </a:solidFill>
                <a:latin typeface="Book Antiqua" panose="02040602050305030304" pitchFamily="18" charset="0"/>
                <a:hlinkClick r:id="rId8"/>
              </a:rPr>
              <a:t> with </a:t>
            </a:r>
            <a:r>
              <a:rPr lang="it-IT" sz="1600" dirty="0" err="1">
                <a:solidFill>
                  <a:srgbClr val="00B0F0"/>
                </a:solidFill>
                <a:latin typeface="Book Antiqua" panose="02040602050305030304" pitchFamily="18" charset="0"/>
                <a:hlinkClick r:id="rId8"/>
              </a:rPr>
              <a:t>auxiliary</a:t>
            </a:r>
            <a:r>
              <a:rPr lang="it-IT" sz="1600" dirty="0">
                <a:solidFill>
                  <a:srgbClr val="00B0F0"/>
                </a:solidFill>
                <a:latin typeface="Book Antiqua" panose="02040602050305030304" pitchFamily="18" charset="0"/>
                <a:hlinkClick r:id="rId8"/>
              </a:rPr>
              <a:t> </a:t>
            </a:r>
            <a:r>
              <a:rPr lang="it-IT" sz="1600" dirty="0" err="1">
                <a:solidFill>
                  <a:srgbClr val="00B0F0"/>
                </a:solidFill>
                <a:latin typeface="Book Antiqua" panose="02040602050305030304" pitchFamily="18" charset="0"/>
                <a:hlinkClick r:id="rId8"/>
              </a:rPr>
              <a:t>classifier</a:t>
            </a:r>
            <a:r>
              <a:rPr lang="it-IT" sz="1600" dirty="0">
                <a:solidFill>
                  <a:srgbClr val="00B0F0"/>
                </a:solidFill>
                <a:latin typeface="Book Antiqua" panose="02040602050305030304" pitchFamily="18" charset="0"/>
                <a:hlinkClick r:id="rId8"/>
              </a:rPr>
              <a:t> </a:t>
            </a:r>
            <a:r>
              <a:rPr lang="it-IT" sz="1600" dirty="0" err="1">
                <a:solidFill>
                  <a:srgbClr val="00B0F0"/>
                </a:solidFill>
                <a:latin typeface="Book Antiqua" panose="02040602050305030304" pitchFamily="18" charset="0"/>
                <a:hlinkClick r:id="rId8"/>
              </a:rPr>
              <a:t>gans</a:t>
            </a:r>
            <a:r>
              <a:rPr lang="it-IT" sz="1600" dirty="0">
                <a:solidFill>
                  <a:srgbClr val="00B0F0"/>
                </a:solidFill>
                <a:latin typeface="Book Antiqua" panose="02040602050305030304" pitchFamily="18" charset="0"/>
                <a:hlinkClick r:id="rId8"/>
              </a:rPr>
              <a:t>.</a:t>
            </a:r>
            <a:endParaRPr lang="it-IT" sz="1600" dirty="0">
              <a:solidFill>
                <a:srgbClr val="00B0F0"/>
              </a:solidFill>
              <a:latin typeface="Book Antiqua" panose="0204060205030503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 err="1">
                <a:solidFill>
                  <a:srgbClr val="00B0F0"/>
                </a:solidFill>
                <a:latin typeface="Book Antiqua" panose="02040602050305030304" pitchFamily="18" charset="0"/>
                <a:hlinkClick r:id="rId9"/>
              </a:rPr>
              <a:t>Makhzani</a:t>
            </a:r>
            <a:r>
              <a:rPr lang="it-IT" sz="1600" dirty="0">
                <a:solidFill>
                  <a:srgbClr val="00B0F0"/>
                </a:solidFill>
                <a:latin typeface="Book Antiqua" panose="02040602050305030304" pitchFamily="18" charset="0"/>
                <a:hlinkClick r:id="rId9"/>
              </a:rPr>
              <a:t>, </a:t>
            </a:r>
            <a:r>
              <a:rPr lang="it-IT" sz="1600" dirty="0" err="1">
                <a:solidFill>
                  <a:srgbClr val="00B0F0"/>
                </a:solidFill>
                <a:latin typeface="Book Antiqua" panose="02040602050305030304" pitchFamily="18" charset="0"/>
                <a:hlinkClick r:id="rId9"/>
              </a:rPr>
              <a:t>Alireza</a:t>
            </a:r>
            <a:r>
              <a:rPr lang="it-IT" sz="1600" dirty="0">
                <a:solidFill>
                  <a:srgbClr val="00B0F0"/>
                </a:solidFill>
                <a:latin typeface="Book Antiqua" panose="02040602050305030304" pitchFamily="18" charset="0"/>
                <a:hlinkClick r:id="rId9"/>
              </a:rPr>
              <a:t>, et al.(</a:t>
            </a:r>
            <a:r>
              <a:rPr lang="it-IT" sz="1600" dirty="0" err="1">
                <a:solidFill>
                  <a:srgbClr val="00B0F0"/>
                </a:solidFill>
                <a:latin typeface="Book Antiqua" panose="02040602050305030304" pitchFamily="18" charset="0"/>
                <a:hlinkClick r:id="rId9"/>
              </a:rPr>
              <a:t>Goodfellow</a:t>
            </a:r>
            <a:r>
              <a:rPr lang="it-IT" sz="1600" dirty="0">
                <a:solidFill>
                  <a:srgbClr val="00B0F0"/>
                </a:solidFill>
                <a:latin typeface="Book Antiqua" panose="02040602050305030304" pitchFamily="18" charset="0"/>
                <a:hlinkClick r:id="rId9"/>
              </a:rPr>
              <a:t>) </a:t>
            </a:r>
            <a:r>
              <a:rPr lang="it-IT" sz="1600" dirty="0" err="1">
                <a:solidFill>
                  <a:srgbClr val="00B0F0"/>
                </a:solidFill>
                <a:latin typeface="Book Antiqua" panose="02040602050305030304" pitchFamily="18" charset="0"/>
                <a:hlinkClick r:id="rId9"/>
              </a:rPr>
              <a:t>Adversarial</a:t>
            </a:r>
            <a:r>
              <a:rPr lang="it-IT" sz="1600" dirty="0">
                <a:solidFill>
                  <a:srgbClr val="00B0F0"/>
                </a:solidFill>
                <a:latin typeface="Book Antiqua" panose="02040602050305030304" pitchFamily="18" charset="0"/>
                <a:hlinkClick r:id="rId9"/>
              </a:rPr>
              <a:t> </a:t>
            </a:r>
            <a:r>
              <a:rPr lang="it-IT" sz="1600" dirty="0" err="1">
                <a:solidFill>
                  <a:srgbClr val="00B0F0"/>
                </a:solidFill>
                <a:latin typeface="Book Antiqua" panose="02040602050305030304" pitchFamily="18" charset="0"/>
                <a:hlinkClick r:id="rId9"/>
              </a:rPr>
              <a:t>autoencoders</a:t>
            </a:r>
            <a:r>
              <a:rPr lang="it-IT" sz="1600" dirty="0">
                <a:solidFill>
                  <a:srgbClr val="00B0F0"/>
                </a:solidFill>
                <a:latin typeface="Book Antiqua" panose="02040602050305030304" pitchFamily="18" charset="0"/>
                <a:hlinkClick r:id="rId9"/>
              </a:rPr>
              <a:t>.</a:t>
            </a:r>
            <a:endParaRPr lang="it-IT" sz="1600" dirty="0">
              <a:solidFill>
                <a:srgbClr val="00B0F0"/>
              </a:solidFill>
              <a:latin typeface="Book Antiqua" panose="02040602050305030304" pitchFamily="18" charset="0"/>
            </a:endParaRP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D7EA7A5D-2797-F913-5047-7F4D30AA795F}"/>
              </a:ext>
            </a:extLst>
          </p:cNvPr>
          <p:cNvSpPr txBox="1"/>
          <p:nvPr/>
        </p:nvSpPr>
        <p:spPr>
          <a:xfrm>
            <a:off x="2954784" y="0"/>
            <a:ext cx="628243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2800" b="1" dirty="0" err="1">
                <a:latin typeface="Georgia" panose="02040502050405020303" pitchFamily="18" charset="0"/>
              </a:rPr>
              <a:t>GANs</a:t>
            </a:r>
            <a:r>
              <a:rPr lang="it-IT" sz="2800" b="1" dirty="0">
                <a:latin typeface="Georgia" panose="02040502050405020303" pitchFamily="18" charset="0"/>
              </a:rPr>
              <a:t>: </a:t>
            </a:r>
            <a:r>
              <a:rPr lang="it-IT" sz="2800" dirty="0" err="1">
                <a:latin typeface="Georgia" panose="02040502050405020303" pitchFamily="18" charset="0"/>
              </a:rPr>
              <a:t>references</a:t>
            </a:r>
            <a:endParaRPr lang="it-IT" sz="2400" i="1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7869296"/>
      </p:ext>
    </p:extLst>
  </p:cSld>
  <p:clrMapOvr>
    <a:masterClrMapping/>
  </p:clrMapOvr>
</p:sld>
</file>

<file path=ppt/theme/theme1.xml><?xml version="1.0" encoding="utf-8"?>
<a:theme xmlns:a="http://schemas.openxmlformats.org/drawingml/2006/main" name="Pacco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71C241A9-A460-4AD1-916F-25308628A5BC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TM10001115[[fn=Pacco]]</Template>
  <TotalTime>2333</TotalTime>
  <Words>1402</Words>
  <Application>Microsoft Office PowerPoint</Application>
  <PresentationFormat>Widescreen</PresentationFormat>
  <Paragraphs>322</Paragraphs>
  <Slides>13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9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13</vt:i4>
      </vt:variant>
    </vt:vector>
  </HeadingPairs>
  <TitlesOfParts>
    <vt:vector size="23" baseType="lpstr">
      <vt:lpstr>Arial</vt:lpstr>
      <vt:lpstr>Book Antiqua</vt:lpstr>
      <vt:lpstr>Bookman Old Style</vt:lpstr>
      <vt:lpstr>Calibri</vt:lpstr>
      <vt:lpstr>Cambria Math</vt:lpstr>
      <vt:lpstr>Georgia</vt:lpstr>
      <vt:lpstr>Gill Sans MT</vt:lpstr>
      <vt:lpstr>Open sans</vt:lpstr>
      <vt:lpstr>Verdana</vt:lpstr>
      <vt:lpstr>Pacco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HP_400_G4</dc:creator>
  <cp:lastModifiedBy>Giovanni MESSUTI</cp:lastModifiedBy>
  <cp:revision>380</cp:revision>
  <dcterms:created xsi:type="dcterms:W3CDTF">2024-09-15T09:55:23Z</dcterms:created>
  <dcterms:modified xsi:type="dcterms:W3CDTF">2026-05-06T20:50:21Z</dcterms:modified>
</cp:coreProperties>
</file>