
<file path=[Content_Types].xml><?xml version="1.0" encoding="utf-8"?>
<Types xmlns="http://schemas.openxmlformats.org/package/2006/content-types"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86" r:id="rId2"/>
    <p:sldId id="285" r:id="rId3"/>
    <p:sldId id="275" r:id="rId4"/>
    <p:sldId id="256" r:id="rId5"/>
    <p:sldId id="290" r:id="rId6"/>
    <p:sldId id="264" r:id="rId7"/>
    <p:sldId id="265" r:id="rId8"/>
    <p:sldId id="262" r:id="rId9"/>
    <p:sldId id="263" r:id="rId10"/>
    <p:sldId id="266" r:id="rId11"/>
    <p:sldId id="288" r:id="rId12"/>
    <p:sldId id="287" r:id="rId13"/>
    <p:sldId id="289" r:id="rId14"/>
  </p:sldIdLst>
  <p:sldSz cx="12192000" cy="6858000"/>
  <p:notesSz cx="6858000" cy="9144000"/>
  <p:defaultTextStyle>
    <a:defPPr rtl="0"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22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018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7CD44035-300B-447B-9181-A32114C7E2A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A83CD74-A933-442F-A790-73278BAD8D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0B36A5-C0C2-41F1-A466-125A3C9CFDA8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6D842C-0951-41B6-9F93-0578E7E9DA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7111836-C354-438B-A45D-704EEB8E35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B763B-6419-4F89-A3B8-528C1A209DF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18648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2351F-C622-46DB-BDDE-413EE749618D}" type="datetimeFigureOut">
              <a:rPr lang="it-IT" noProof="0" smtClean="0"/>
              <a:t>06/05/2026</a:t>
            </a:fld>
            <a:endParaRPr lang="it-IT" noProof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 noProof="0"/>
              <a:t>Modifica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32D8D-7840-40ED-8A37-32DFC1B0C6CB}" type="slidenum">
              <a:rPr lang="it-IT" noProof="0" smtClean="0"/>
              <a:t>‹N›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31720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369A9-283D-DE13-4975-752F13D79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08D49F5B-590C-0F6E-110D-FB21B88CCB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AA01D120-8E35-4E19-7E62-020426B137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D9A6A66-40BF-BDE8-0E74-0DCD3F3FD8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14522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4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533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92181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699C4-849E-3988-DE41-75F3EB187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1697E9C0-8FBE-16BB-AE9B-0EC4EF966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241AD2F8-24D1-A91B-7FBF-70FD27714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18684D11-AE9E-DA78-6B68-F16610C947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32D8D-7840-40ED-8A37-32DFC1B0C6CB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988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1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5D5F5A74-372F-4F1B-A8D6-C19F24AC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8889" y="2873650"/>
            <a:ext cx="5494867" cy="612648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600000" lon="20399999" rev="21180000"/>
            </a:camera>
            <a:lightRig rig="threePt" dir="t"/>
          </a:scene3d>
        </p:spPr>
        <p:txBody>
          <a:bodyPr rtlCol="0"/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9854620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1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Titolo 61">
            <a:extLst>
              <a:ext uri="{FF2B5EF4-FFF2-40B4-BE49-F238E27FC236}">
                <a16:creationId xmlns:a16="http://schemas.microsoft.com/office/drawing/2014/main" id="{5D5F5A74-372F-4F1B-A8D6-C19F24AC9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1177" y="3023292"/>
            <a:ext cx="5495544" cy="612648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0" lon="1799953" rev="0"/>
            </a:camera>
            <a:lightRig rig="threePt" dir="t"/>
          </a:scene3d>
        </p:spPr>
        <p:txBody>
          <a:bodyPr rtlCol="0"/>
          <a:lstStyle>
            <a:lvl1pPr algn="ctr">
              <a:defRPr sz="340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345328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2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F0041C-B704-4753-8B6B-6FB28159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2" y="2869409"/>
            <a:ext cx="10515600" cy="1325563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21000000" lon="600000" rev="0"/>
            </a:camera>
            <a:lightRig rig="threePt" dir="t"/>
          </a:scene3d>
        </p:spPr>
        <p:txBody>
          <a:bodyPr rtlCol="0" anchor="ctr"/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53381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zione 2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F0041C-B704-4753-8B6B-6FB28159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023" y="2997744"/>
            <a:ext cx="10515600" cy="1325563"/>
          </a:xfrm>
          <a:prstGeom prst="rect">
            <a:avLst/>
          </a:prstGeom>
          <a:effectLst>
            <a:outerShdw blurRad="50800" dist="38100" dir="5400000" algn="t" rotWithShape="0">
              <a:prstClr val="black"/>
            </a:outerShdw>
          </a:effectLst>
          <a:scene3d>
            <a:camera prst="orthographicFront">
              <a:rot lat="0" lon="21000000" rev="0"/>
            </a:camera>
            <a:lightRig rig="threePt" dir="t"/>
          </a:scene3d>
        </p:spPr>
        <p:txBody>
          <a:bodyPr rtlCol="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it-IT" noProof="0"/>
              <a:t>Fare clic per modificare lo stile del 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0907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773CF9A-D9A1-417A-7AFE-48551B938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FDEAB55-9FBD-2C18-5593-507945EBF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EAC928-CF06-062A-5544-D2F7A2B5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C588-2F4A-40D9-9491-0BA83DB7170F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A1FDA44-EB4A-7DE0-A5DD-9EFBEEF90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BE8FB7E-68EE-83F7-20B5-52001FE3F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9FB-68DE-46CC-920D-87051E9D07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5913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DCD09D-6B6F-7E14-D8B3-64A1B7D29A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B2C40C8-9BB7-2A2C-966F-2E283CBFD4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ED4395D-3B04-7716-5E7F-91D586C5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7C588-2F4A-40D9-9491-0BA83DB7170F}" type="datetimeFigureOut">
              <a:rPr lang="it-IT" smtClean="0"/>
              <a:t>06/05/2026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0F96C9-E28C-EE9D-8201-4B262D97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59EA01-63B1-03F0-5D7C-078DB36EC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A839FB-68DE-46CC-920D-87051E9D07C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1112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344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893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0" r:id="rId3"/>
    <p:sldLayoutId id="2147483653" r:id="rId4"/>
    <p:sldLayoutId id="2147483654" r:id="rId5"/>
    <p:sldLayoutId id="2147483655" r:id="rId6"/>
    <p:sldLayoutId id="214748365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0.png"/><Relationship Id="rId10" Type="http://schemas.openxmlformats.org/officeDocument/2006/relationships/image" Target="../media/image3.jp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tacamp.com/tutorial/pytorch-vs-tensorflow-vs-kera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link.springer.com/content/pdf/10.1007/BF02551274.pdf" TargetMode="External"/><Relationship Id="rId5" Type="http://schemas.openxmlformats.org/officeDocument/2006/relationships/image" Target="../media/image400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20.PNG"/><Relationship Id="rId7" Type="http://schemas.openxmlformats.org/officeDocument/2006/relationships/image" Target="../media/image70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0.PNG"/><Relationship Id="rId5" Type="http://schemas.openxmlformats.org/officeDocument/2006/relationships/image" Target="../media/image60.png"/><Relationship Id="rId10" Type="http://schemas.openxmlformats.org/officeDocument/2006/relationships/image" Target="../media/image10.PNG"/><Relationship Id="rId4" Type="http://schemas.openxmlformats.org/officeDocument/2006/relationships/image" Target="../media/image300.png"/><Relationship Id="rId9" Type="http://schemas.openxmlformats.org/officeDocument/2006/relationships/image" Target="../media/image9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Nemenick/FCA_DeepNeuralNework-with-TensorFlow/blob/main/Deep_Dense_ising.ipynb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Nemenick/FCA_DeepNeuralNework-with-TensorFlow" TargetMode="External"/><Relationship Id="rId3" Type="http://schemas.openxmlformats.org/officeDocument/2006/relationships/hyperlink" Target="https://keras.io/" TargetMode="External"/><Relationship Id="rId7" Type="http://schemas.openxmlformats.org/officeDocument/2006/relationships/hyperlink" Target="https://kinsta.com/knowledgebase/what-is-github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code.visualstudio.com/docs/datascience/jupyter-notebooks" TargetMode="External"/><Relationship Id="rId5" Type="http://schemas.openxmlformats.org/officeDocument/2006/relationships/hyperlink" Target="https://www.marqo.ai/blog/getting-started-with-google-colab-a-beginners-guide" TargetMode="External"/><Relationship Id="rId4" Type="http://schemas.openxmlformats.org/officeDocument/2006/relationships/hyperlink" Target="https://colab.research.google.com/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hyperlink" Target="https://link.springer.com/chapter/10.1007/978-3-031-45468-4_1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nk.springer.com/chapter/10.1007/978-3-031-45468-4_10" TargetMode="External"/><Relationship Id="rId4" Type="http://schemas.openxmlformats.org/officeDocument/2006/relationships/image" Target="../media/image1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E7434-CD6F-6516-A633-18C77E49E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2F950F4F-F2CE-FE43-76B4-742350D0A2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67520" y="1951240"/>
            <a:ext cx="3742147" cy="41669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288C8D8D-F76A-8CF3-A303-D8953460EC65}"/>
              </a:ext>
            </a:extLst>
          </p:cNvPr>
          <p:cNvSpPr txBox="1"/>
          <p:nvPr/>
        </p:nvSpPr>
        <p:spPr>
          <a:xfrm>
            <a:off x="0" y="54816"/>
            <a:ext cx="121919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With Python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60FFB108-C4D2-8D66-B9C5-D86A99BBD281}"/>
              </a:ext>
            </a:extLst>
          </p:cNvPr>
          <p:cNvSpPr txBox="1"/>
          <p:nvPr/>
        </p:nvSpPr>
        <p:spPr>
          <a:xfrm rot="5400000">
            <a:off x="3335209" y="3423889"/>
            <a:ext cx="57910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/>
              <a:t>____________________________________________</a:t>
            </a:r>
          </a:p>
        </p:txBody>
      </p:sp>
      <p:sp>
        <p:nvSpPr>
          <p:cNvPr id="51" name="Rettangolo 50">
            <a:extLst>
              <a:ext uri="{FF2B5EF4-FFF2-40B4-BE49-F238E27FC236}">
                <a16:creationId xmlns:a16="http://schemas.microsoft.com/office/drawing/2014/main" id="{9431587E-3041-EBFD-DCBC-17A1FCB88E13}"/>
              </a:ext>
            </a:extLst>
          </p:cNvPr>
          <p:cNvSpPr/>
          <p:nvPr/>
        </p:nvSpPr>
        <p:spPr>
          <a:xfrm>
            <a:off x="7434027" y="1836327"/>
            <a:ext cx="3826440" cy="2075273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AEBBD56D-F7CF-11DC-D17F-EDFAE99EE230}"/>
              </a:ext>
            </a:extLst>
          </p:cNvPr>
          <p:cNvSpPr txBox="1"/>
          <p:nvPr/>
        </p:nvSpPr>
        <p:spPr>
          <a:xfrm>
            <a:off x="6096000" y="93934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000" b="1" dirty="0">
                <a:latin typeface="Georgia" panose="02040502050405020303" pitchFamily="18" charset="0"/>
              </a:rPr>
              <a:t>Deep Learning frameworks (libraries)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190B2BB0-90E4-8AB2-2F90-7AF12D0A2E98}"/>
              </a:ext>
            </a:extLst>
          </p:cNvPr>
          <p:cNvSpPr txBox="1"/>
          <p:nvPr/>
        </p:nvSpPr>
        <p:spPr>
          <a:xfrm>
            <a:off x="6265226" y="2152361"/>
            <a:ext cx="1164062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We</a:t>
            </a:r>
            <a:r>
              <a:rPr lang="it-IT" b="1" dirty="0">
                <a:latin typeface="Georgia" panose="02040502050405020303" pitchFamily="18" charset="0"/>
              </a:rPr>
              <a:t> use </a:t>
            </a:r>
            <a:r>
              <a:rPr lang="it-IT" b="1" dirty="0" err="1">
                <a:latin typeface="Georgia" panose="02040502050405020303" pitchFamily="18" charset="0"/>
              </a:rPr>
              <a:t>these</a:t>
            </a:r>
            <a:endParaRPr lang="it-IT" b="1" dirty="0">
              <a:latin typeface="Georgia" panose="02040502050405020303" pitchFamily="18" charset="0"/>
            </a:endParaRPr>
          </a:p>
        </p:txBody>
      </p: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C57A360C-4E53-D839-0963-27C1DD5D8F71}"/>
              </a:ext>
            </a:extLst>
          </p:cNvPr>
          <p:cNvCxnSpPr>
            <a:cxnSpLocks/>
          </p:cNvCxnSpPr>
          <p:nvPr/>
        </p:nvCxnSpPr>
        <p:spPr>
          <a:xfrm>
            <a:off x="6415405" y="2890781"/>
            <a:ext cx="904554" cy="0"/>
          </a:xfrm>
          <a:prstGeom prst="straightConnector1">
            <a:avLst/>
          </a:prstGeom>
          <a:ln w="28575">
            <a:solidFill>
              <a:srgbClr val="99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nettore 2 3">
            <a:extLst>
              <a:ext uri="{FF2B5EF4-FFF2-40B4-BE49-F238E27FC236}">
                <a16:creationId xmlns:a16="http://schemas.microsoft.com/office/drawing/2014/main" id="{0CF3AE69-AB9B-E096-FFD3-3CADE40BD4D8}"/>
              </a:ext>
            </a:extLst>
          </p:cNvPr>
          <p:cNvCxnSpPr>
            <a:cxnSpLocks/>
          </p:cNvCxnSpPr>
          <p:nvPr/>
        </p:nvCxnSpPr>
        <p:spPr>
          <a:xfrm flipH="1">
            <a:off x="4453276" y="3400184"/>
            <a:ext cx="1218025" cy="0"/>
          </a:xfrm>
          <a:prstGeom prst="straightConnector1">
            <a:avLst/>
          </a:prstGeom>
          <a:ln w="28575">
            <a:solidFill>
              <a:srgbClr val="99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CBC35293-DFA5-4892-7C39-AA09F562459F}"/>
              </a:ext>
            </a:extLst>
          </p:cNvPr>
          <p:cNvSpPr txBox="1"/>
          <p:nvPr/>
        </p:nvSpPr>
        <p:spPr>
          <a:xfrm>
            <a:off x="4271576" y="3499221"/>
            <a:ext cx="1581427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We</a:t>
            </a:r>
            <a:r>
              <a:rPr lang="it-IT" b="1" dirty="0">
                <a:latin typeface="Georgia" panose="02040502050405020303" pitchFamily="18" charset="0"/>
              </a:rPr>
              <a:t> focus on </a:t>
            </a:r>
            <a:r>
              <a:rPr lang="it-IT" b="1" dirty="0" err="1">
                <a:latin typeface="Georgia" panose="02040502050405020303" pitchFamily="18" charset="0"/>
              </a:rPr>
              <a:t>this</a:t>
            </a:r>
            <a:r>
              <a:rPr lang="it-IT" b="1" dirty="0">
                <a:latin typeface="Georgia" panose="02040502050405020303" pitchFamily="18" charset="0"/>
              </a:rPr>
              <a:t> part</a:t>
            </a:r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81F7792E-5C8C-8C95-D7F7-103AB339690A}"/>
              </a:ext>
            </a:extLst>
          </p:cNvPr>
          <p:cNvGrpSpPr/>
          <p:nvPr/>
        </p:nvGrpSpPr>
        <p:grpSpPr>
          <a:xfrm>
            <a:off x="-55880" y="934720"/>
            <a:ext cx="5608320" cy="5495932"/>
            <a:chOff x="-670560" y="716536"/>
            <a:chExt cx="6096000" cy="5976200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D6878D32-B521-A046-A11A-698CDE7B5A62}"/>
                </a:ext>
              </a:extLst>
            </p:cNvPr>
            <p:cNvSpPr txBox="1"/>
            <p:nvPr/>
          </p:nvSpPr>
          <p:spPr>
            <a:xfrm>
              <a:off x="-670560" y="716536"/>
              <a:ext cx="6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2000" b="1" dirty="0" err="1">
                  <a:latin typeface="Georgia" panose="02040502050405020303" pitchFamily="18" charset="0"/>
                </a:rPr>
                <a:t>Classification</a:t>
              </a:r>
              <a:r>
                <a:rPr lang="it-IT" sz="2000" b="1" dirty="0">
                  <a:latin typeface="Georgia" panose="02040502050405020303" pitchFamily="18" charset="0"/>
                </a:rPr>
                <a:t> </a:t>
              </a:r>
              <a:r>
                <a:rPr lang="it-IT" sz="2000" b="1" dirty="0" err="1">
                  <a:latin typeface="Georgia" panose="02040502050405020303" pitchFamily="18" charset="0"/>
                </a:rPr>
                <a:t>problem</a:t>
              </a:r>
              <a:endParaRPr lang="it-IT" sz="20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16" name="Gruppo 15">
              <a:extLst>
                <a:ext uri="{FF2B5EF4-FFF2-40B4-BE49-F238E27FC236}">
                  <a16:creationId xmlns:a16="http://schemas.microsoft.com/office/drawing/2014/main" id="{722A421B-2CF4-CDFE-43B8-F09612E86575}"/>
                </a:ext>
              </a:extLst>
            </p:cNvPr>
            <p:cNvGrpSpPr/>
            <p:nvPr/>
          </p:nvGrpSpPr>
          <p:grpSpPr>
            <a:xfrm>
              <a:off x="265385" y="1310221"/>
              <a:ext cx="4499764" cy="1035066"/>
              <a:chOff x="7634679" y="1286349"/>
              <a:chExt cx="4499764" cy="1035066"/>
            </a:xfrm>
          </p:grpSpPr>
          <p:cxnSp>
            <p:nvCxnSpPr>
              <p:cNvPr id="25" name="Connettore diritto 24">
                <a:extLst>
                  <a:ext uri="{FF2B5EF4-FFF2-40B4-BE49-F238E27FC236}">
                    <a16:creationId xmlns:a16="http://schemas.microsoft.com/office/drawing/2014/main" id="{2C764700-49CF-9DC3-CC1E-A17FCFA6315E}"/>
                  </a:ext>
                </a:extLst>
              </p:cNvPr>
              <p:cNvCxnSpPr>
                <a:cxnSpLocks/>
                <a:stCxn id="26" idx="3"/>
              </p:cNvCxnSpPr>
              <p:nvPr/>
            </p:nvCxnSpPr>
            <p:spPr>
              <a:xfrm>
                <a:off x="8368104" y="1487153"/>
                <a:ext cx="470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CasellaDiTesto 25">
                <a:extLst>
                  <a:ext uri="{FF2B5EF4-FFF2-40B4-BE49-F238E27FC236}">
                    <a16:creationId xmlns:a16="http://schemas.microsoft.com/office/drawing/2014/main" id="{196C91DD-D34B-C4DE-931F-088555DAA235}"/>
                  </a:ext>
                </a:extLst>
              </p:cNvPr>
              <p:cNvSpPr txBox="1"/>
              <p:nvPr/>
            </p:nvSpPr>
            <p:spPr>
              <a:xfrm>
                <a:off x="7634679" y="1286349"/>
                <a:ext cx="733425" cy="40160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Data</a:t>
                </a:r>
              </a:p>
            </p:txBody>
          </p:sp>
          <p:sp>
            <p:nvSpPr>
              <p:cNvPr id="27" name="CasellaDiTesto 26">
                <a:extLst>
                  <a:ext uri="{FF2B5EF4-FFF2-40B4-BE49-F238E27FC236}">
                    <a16:creationId xmlns:a16="http://schemas.microsoft.com/office/drawing/2014/main" id="{60EDF4AB-715A-A67D-FCA1-F8A84AA749FD}"/>
                  </a:ext>
                </a:extLst>
              </p:cNvPr>
              <p:cNvSpPr txBox="1"/>
              <p:nvPr/>
            </p:nvSpPr>
            <p:spPr>
              <a:xfrm>
                <a:off x="8884935" y="1287591"/>
                <a:ext cx="1386174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Predctions</a:t>
                </a:r>
                <a:endParaRPr lang="it-IT" sz="300" dirty="0"/>
              </a:p>
            </p:txBody>
          </p:sp>
          <p:cxnSp>
            <p:nvCxnSpPr>
              <p:cNvPr id="48" name="Connettore a gomito 47">
                <a:extLst>
                  <a:ext uri="{FF2B5EF4-FFF2-40B4-BE49-F238E27FC236}">
                    <a16:creationId xmlns:a16="http://schemas.microsoft.com/office/drawing/2014/main" id="{7F77AA4D-E78C-A8D9-CED1-A7A665A5C1EB}"/>
                  </a:ext>
                </a:extLst>
              </p:cNvPr>
              <p:cNvCxnSpPr>
                <a:cxnSpLocks/>
                <a:stCxn id="52" idx="0"/>
                <a:endCxn id="27" idx="1"/>
              </p:cNvCxnSpPr>
              <p:nvPr/>
            </p:nvCxnSpPr>
            <p:spPr>
              <a:xfrm rot="16200000" flipV="1">
                <a:off x="8671409" y="1701922"/>
                <a:ext cx="431415" cy="4361"/>
              </a:xfrm>
              <a:prstGeom prst="bentConnector4">
                <a:avLst>
                  <a:gd name="adj1" fmla="val 26727"/>
                  <a:gd name="adj2" fmla="val 715857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CasellaDiTesto 51">
                <a:extLst>
                  <a:ext uri="{FF2B5EF4-FFF2-40B4-BE49-F238E27FC236}">
                    <a16:creationId xmlns:a16="http://schemas.microsoft.com/office/drawing/2014/main" id="{983E45FF-5A99-5ACB-CBF6-F6A770CBDF43}"/>
                  </a:ext>
                </a:extLst>
              </p:cNvPr>
              <p:cNvSpPr txBox="1"/>
              <p:nvPr/>
            </p:nvSpPr>
            <p:spPr>
              <a:xfrm>
                <a:off x="8334164" y="1919809"/>
                <a:ext cx="1110265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  <a:endParaRPr lang="it-IT" sz="300" dirty="0"/>
              </a:p>
            </p:txBody>
          </p:sp>
          <p:cxnSp>
            <p:nvCxnSpPr>
              <p:cNvPr id="53" name="Connettore 2 52">
                <a:extLst>
                  <a:ext uri="{FF2B5EF4-FFF2-40B4-BE49-F238E27FC236}">
                    <a16:creationId xmlns:a16="http://schemas.microsoft.com/office/drawing/2014/main" id="{069C9089-38E6-1003-EC9E-AD8742A75876}"/>
                  </a:ext>
                </a:extLst>
              </p:cNvPr>
              <p:cNvCxnSpPr>
                <a:cxnSpLocks/>
                <a:stCxn id="54" idx="1"/>
                <a:endCxn id="52" idx="3"/>
              </p:cNvCxnSpPr>
              <p:nvPr/>
            </p:nvCxnSpPr>
            <p:spPr>
              <a:xfrm flipH="1">
                <a:off x="9444429" y="2120436"/>
                <a:ext cx="652233" cy="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4" name="CasellaDiTesto 53">
                <a:extLst>
                  <a:ext uri="{FF2B5EF4-FFF2-40B4-BE49-F238E27FC236}">
                    <a16:creationId xmlns:a16="http://schemas.microsoft.com/office/drawing/2014/main" id="{FA7072D1-618A-2817-8EF9-3129CD702646}"/>
                  </a:ext>
                </a:extLst>
              </p:cNvPr>
              <p:cNvSpPr txBox="1"/>
              <p:nvPr/>
            </p:nvSpPr>
            <p:spPr>
              <a:xfrm>
                <a:off x="10096662" y="1919632"/>
                <a:ext cx="2037781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Weight update</a:t>
                </a:r>
                <a:endParaRPr lang="it-IT" sz="300" dirty="0"/>
              </a:p>
            </p:txBody>
          </p:sp>
          <p:cxnSp>
            <p:nvCxnSpPr>
              <p:cNvPr id="55" name="Connettore 2 54">
                <a:extLst>
                  <a:ext uri="{FF2B5EF4-FFF2-40B4-BE49-F238E27FC236}">
                    <a16:creationId xmlns:a16="http://schemas.microsoft.com/office/drawing/2014/main" id="{4175B508-C705-8BC3-CF5E-F39EBFB48263}"/>
                  </a:ext>
                </a:extLst>
              </p:cNvPr>
              <p:cNvCxnSpPr>
                <a:cxnSpLocks/>
                <a:stCxn id="56" idx="2"/>
                <a:endCxn id="54" idx="0"/>
              </p:cNvCxnSpPr>
              <p:nvPr/>
            </p:nvCxnSpPr>
            <p:spPr>
              <a:xfrm>
                <a:off x="11110247" y="1676396"/>
                <a:ext cx="5305" cy="243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F7729044-6870-9698-6136-25D2A33F635C}"/>
                  </a:ext>
                </a:extLst>
              </p:cNvPr>
              <p:cNvSpPr txBox="1"/>
              <p:nvPr/>
            </p:nvSpPr>
            <p:spPr>
              <a:xfrm>
                <a:off x="10555115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Loss</a:t>
                </a:r>
                <a:endParaRPr lang="it-IT" sz="300" dirty="0"/>
              </a:p>
            </p:txBody>
          </p:sp>
          <p:cxnSp>
            <p:nvCxnSpPr>
              <p:cNvPr id="57" name="Connettore 2 56">
                <a:extLst>
                  <a:ext uri="{FF2B5EF4-FFF2-40B4-BE49-F238E27FC236}">
                    <a16:creationId xmlns:a16="http://schemas.microsoft.com/office/drawing/2014/main" id="{6AA6F820-ECD1-312B-BD78-4A59D9424CB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8953" y="1491730"/>
                <a:ext cx="251667" cy="19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uppo 16">
              <a:extLst>
                <a:ext uri="{FF2B5EF4-FFF2-40B4-BE49-F238E27FC236}">
                  <a16:creationId xmlns:a16="http://schemas.microsoft.com/office/drawing/2014/main" id="{609A88BE-2562-478B-D5AE-5370A352AEAF}"/>
                </a:ext>
              </a:extLst>
            </p:cNvPr>
            <p:cNvGrpSpPr/>
            <p:nvPr/>
          </p:nvGrpSpPr>
          <p:grpSpPr>
            <a:xfrm>
              <a:off x="998809" y="2743393"/>
              <a:ext cx="2910402" cy="1523494"/>
              <a:chOff x="7896635" y="2414817"/>
              <a:chExt cx="2910402" cy="1523494"/>
            </a:xfrm>
          </p:grpSpPr>
          <p:pic>
            <p:nvPicPr>
              <p:cNvPr id="23" name="Immagine 22">
                <a:extLst>
                  <a:ext uri="{FF2B5EF4-FFF2-40B4-BE49-F238E27FC236}">
                    <a16:creationId xmlns:a16="http://schemas.microsoft.com/office/drawing/2014/main" id="{4E027B16-819D-4CA6-893F-9507C2D3C79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0758" y="2768009"/>
                <a:ext cx="2796279" cy="1054884"/>
              </a:xfrm>
              <a:prstGeom prst="rect">
                <a:avLst/>
              </a:prstGeom>
            </p:spPr>
          </p:pic>
          <p:sp>
            <p:nvSpPr>
              <p:cNvPr id="24" name="CasellaDiTesto 23">
                <a:extLst>
                  <a:ext uri="{FF2B5EF4-FFF2-40B4-BE49-F238E27FC236}">
                    <a16:creationId xmlns:a16="http://schemas.microsoft.com/office/drawing/2014/main" id="{D0C99C2D-5F8E-2553-D864-66F3BD6B126B}"/>
                  </a:ext>
                </a:extLst>
              </p:cNvPr>
              <p:cNvSpPr txBox="1"/>
              <p:nvPr/>
            </p:nvSpPr>
            <p:spPr>
              <a:xfrm>
                <a:off x="7896635" y="2414817"/>
                <a:ext cx="2910401" cy="1523494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</p:txBody>
          </p:sp>
        </p:grp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E29FBA39-E0C9-60F1-111F-BB0E5CB62406}"/>
                </a:ext>
              </a:extLst>
            </p:cNvPr>
            <p:cNvSpPr txBox="1"/>
            <p:nvPr/>
          </p:nvSpPr>
          <p:spPr>
            <a:xfrm>
              <a:off x="998810" y="4585024"/>
              <a:ext cx="2910400" cy="90361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Loss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r>
                <a:rPr lang="it-IT" dirty="0">
                  <a:solidFill>
                    <a:schemeClr val="tx1"/>
                  </a:solidFill>
                </a:rPr>
                <a:t>(</a:t>
              </a:r>
              <a:r>
                <a:rPr lang="it-IT" dirty="0" err="1">
                  <a:solidFill>
                    <a:schemeClr val="tx1"/>
                  </a:solidFill>
                </a:rPr>
                <a:t>Binary</a:t>
              </a:r>
              <a:r>
                <a:rPr lang="it-IT" dirty="0">
                  <a:solidFill>
                    <a:schemeClr val="tx1"/>
                  </a:solidFill>
                </a:rPr>
                <a:t>) </a:t>
              </a:r>
              <a:r>
                <a:rPr lang="it-IT" b="1" dirty="0">
                  <a:solidFill>
                    <a:schemeClr val="tx1"/>
                  </a:solidFill>
                </a:rPr>
                <a:t>Cross </a:t>
              </a:r>
              <a:r>
                <a:rPr lang="it-IT" b="1" dirty="0" err="1">
                  <a:solidFill>
                    <a:schemeClr val="tx1"/>
                  </a:solidFill>
                </a:rPr>
                <a:t>Entropy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E7A8AB72-3453-661D-6F2C-1BF7C4F97DDD}"/>
                </a:ext>
              </a:extLst>
            </p:cNvPr>
            <p:cNvSpPr txBox="1"/>
            <p:nvPr/>
          </p:nvSpPr>
          <p:spPr>
            <a:xfrm>
              <a:off x="1020254" y="5889523"/>
              <a:ext cx="2910399" cy="80321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Weights update</a:t>
              </a:r>
              <a:endParaRPr lang="it-IT" sz="800" dirty="0">
                <a:solidFill>
                  <a:schemeClr val="tx1"/>
                </a:solidFill>
              </a:endParaRPr>
            </a:p>
            <a:p>
              <a:pPr algn="ctr"/>
              <a:r>
                <a:rPr lang="it-IT" b="1" dirty="0" err="1"/>
                <a:t>Gradient</a:t>
              </a:r>
              <a:r>
                <a:rPr lang="it-IT" b="1" dirty="0"/>
                <a:t> </a:t>
              </a:r>
              <a:r>
                <a:rPr lang="it-IT" b="1" dirty="0" err="1"/>
                <a:t>descent</a:t>
              </a:r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</p:txBody>
        </p:sp>
        <p:sp>
          <p:nvSpPr>
            <p:cNvPr id="20" name="Connettore 19">
              <a:extLst>
                <a:ext uri="{FF2B5EF4-FFF2-40B4-BE49-F238E27FC236}">
                  <a16:creationId xmlns:a16="http://schemas.microsoft.com/office/drawing/2014/main" id="{32FF715E-3A00-042E-FF41-9EB7AEDDC814}"/>
                </a:ext>
              </a:extLst>
            </p:cNvPr>
            <p:cNvSpPr/>
            <p:nvPr/>
          </p:nvSpPr>
          <p:spPr>
            <a:xfrm>
              <a:off x="308097" y="3415139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1" name="Connettore 20">
              <a:extLst>
                <a:ext uri="{FF2B5EF4-FFF2-40B4-BE49-F238E27FC236}">
                  <a16:creationId xmlns:a16="http://schemas.microsoft.com/office/drawing/2014/main" id="{BF61D03C-47F9-5E8B-4E7F-A40AB165DF9F}"/>
                </a:ext>
              </a:extLst>
            </p:cNvPr>
            <p:cNvSpPr/>
            <p:nvPr/>
          </p:nvSpPr>
          <p:spPr>
            <a:xfrm>
              <a:off x="308097" y="4946832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onnettore 21">
              <a:extLst>
                <a:ext uri="{FF2B5EF4-FFF2-40B4-BE49-F238E27FC236}">
                  <a16:creationId xmlns:a16="http://schemas.microsoft.com/office/drawing/2014/main" id="{91EBC036-7BAA-7AE0-5016-C9A4072F4BE1}"/>
                </a:ext>
              </a:extLst>
            </p:cNvPr>
            <p:cNvSpPr/>
            <p:nvPr/>
          </p:nvSpPr>
          <p:spPr>
            <a:xfrm>
              <a:off x="308097" y="6135217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</p:spTree>
    <p:extLst>
      <p:ext uri="{BB962C8B-B14F-4D97-AF65-F5344CB8AC3E}">
        <p14:creationId xmlns:p14="http://schemas.microsoft.com/office/powerpoint/2010/main" val="2165335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7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4EBB-1970-3F90-E3D4-E0886E314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uppo 67">
            <a:extLst>
              <a:ext uri="{FF2B5EF4-FFF2-40B4-BE49-F238E27FC236}">
                <a16:creationId xmlns:a16="http://schemas.microsoft.com/office/drawing/2014/main" id="{C9DCD046-86C5-41A1-B31A-EC6681B8A06C}"/>
              </a:ext>
            </a:extLst>
          </p:cNvPr>
          <p:cNvGrpSpPr/>
          <p:nvPr/>
        </p:nvGrpSpPr>
        <p:grpSpPr>
          <a:xfrm>
            <a:off x="6698861" y="227156"/>
            <a:ext cx="5718240" cy="5962879"/>
            <a:chOff x="6409301" y="559663"/>
            <a:chExt cx="5718240" cy="5962879"/>
          </a:xfrm>
        </p:grpSpPr>
        <p:sp>
          <p:nvSpPr>
            <p:cNvPr id="3" name="CasellaDiTesto 2">
              <a:extLst>
                <a:ext uri="{FF2B5EF4-FFF2-40B4-BE49-F238E27FC236}">
                  <a16:creationId xmlns:a16="http://schemas.microsoft.com/office/drawing/2014/main" id="{FE030148-6D6A-ADCD-42FC-FF6844C36380}"/>
                </a:ext>
              </a:extLst>
            </p:cNvPr>
            <p:cNvSpPr txBox="1"/>
            <p:nvPr/>
          </p:nvSpPr>
          <p:spPr>
            <a:xfrm>
              <a:off x="6409301" y="559663"/>
              <a:ext cx="571824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2000" b="1" dirty="0" err="1">
                  <a:latin typeface="Georgia" panose="02040502050405020303" pitchFamily="18" charset="0"/>
                </a:rPr>
                <a:t>Neural</a:t>
              </a:r>
              <a:r>
                <a:rPr lang="it-IT" sz="2000" b="1" dirty="0">
                  <a:latin typeface="Georgia" panose="02040502050405020303" pitchFamily="18" charset="0"/>
                </a:rPr>
                <a:t> Network</a:t>
              </a:r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9496BEB4-C560-E723-0782-3BAF4DA5B22E}"/>
                </a:ext>
              </a:extLst>
            </p:cNvPr>
            <p:cNvSpPr txBox="1"/>
            <p:nvPr/>
          </p:nvSpPr>
          <p:spPr>
            <a:xfrm>
              <a:off x="6615358" y="1090494"/>
              <a:ext cx="513978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dirty="0"/>
                <a:t>Building Block: </a:t>
              </a:r>
              <a:r>
                <a:rPr lang="it-IT" sz="2000" dirty="0" err="1"/>
                <a:t>Artificial</a:t>
              </a:r>
              <a:r>
                <a:rPr lang="it-IT" sz="2000" dirty="0"/>
                <a:t> </a:t>
              </a:r>
              <a:r>
                <a:rPr lang="it-IT" sz="2000" dirty="0" err="1"/>
                <a:t>neuron</a:t>
              </a:r>
              <a:endParaRPr lang="it-IT" sz="2000" dirty="0"/>
            </a:p>
            <a:p>
              <a:r>
                <a:rPr lang="it-IT" sz="2000" dirty="0"/>
                <a:t> </a:t>
              </a:r>
              <a:endParaRPr lang="it-IT" dirty="0"/>
            </a:p>
          </p:txBody>
        </p:sp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273A9266-8D2E-E4E8-50FE-06AB52DDC6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51183" y="4989419"/>
              <a:ext cx="4063992" cy="1533123"/>
            </a:xfrm>
            <a:prstGeom prst="rect">
              <a:avLst/>
            </a:prstGeom>
          </p:spPr>
        </p:pic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C469406A-3889-9CA9-1924-1E469C71BCBF}"/>
                </a:ext>
              </a:extLst>
            </p:cNvPr>
            <p:cNvSpPr txBox="1"/>
            <p:nvPr/>
          </p:nvSpPr>
          <p:spPr>
            <a:xfrm>
              <a:off x="6478531" y="4498946"/>
              <a:ext cx="42471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it-IT" sz="2000" b="1" dirty="0"/>
                <a:t> Deep Network</a:t>
              </a:r>
              <a:endParaRPr lang="it-IT" b="1" dirty="0"/>
            </a:p>
          </p:txBody>
        </p:sp>
        <p:grpSp>
          <p:nvGrpSpPr>
            <p:cNvPr id="13" name="Gruppo 12">
              <a:extLst>
                <a:ext uri="{FF2B5EF4-FFF2-40B4-BE49-F238E27FC236}">
                  <a16:creationId xmlns:a16="http://schemas.microsoft.com/office/drawing/2014/main" id="{FF3D38E5-6F84-3709-A958-CCF2AEA90399}"/>
                </a:ext>
              </a:extLst>
            </p:cNvPr>
            <p:cNvGrpSpPr/>
            <p:nvPr/>
          </p:nvGrpSpPr>
          <p:grpSpPr>
            <a:xfrm>
              <a:off x="6478531" y="1327805"/>
              <a:ext cx="5118166" cy="2690090"/>
              <a:chOff x="1312016" y="1502092"/>
              <a:chExt cx="8095807" cy="2690090"/>
            </a:xfrm>
          </p:grpSpPr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605ABA3C-813D-3BFE-C092-1586CC102C69}"/>
                  </a:ext>
                </a:extLst>
              </p:cNvPr>
              <p:cNvSpPr txBox="1"/>
              <p:nvPr/>
            </p:nvSpPr>
            <p:spPr>
              <a:xfrm>
                <a:off x="1908699" y="1606859"/>
                <a:ext cx="28408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dirty="0"/>
                  <a:t> 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CasellaDiTesto 15">
                    <a:extLst>
                      <a:ext uri="{FF2B5EF4-FFF2-40B4-BE49-F238E27FC236}">
                        <a16:creationId xmlns:a16="http://schemas.microsoft.com/office/drawing/2014/main" id="{5B0D4B69-9ED3-C0CD-1D39-688997213A20}"/>
                      </a:ext>
                    </a:extLst>
                  </p:cNvPr>
                  <p:cNvSpPr txBox="1"/>
                  <p:nvPr/>
                </p:nvSpPr>
                <p:spPr>
                  <a:xfrm>
                    <a:off x="1336054" y="1502092"/>
                    <a:ext cx="4886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it-IT" b="0" dirty="0"/>
                      <a:t>x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16" name="CasellaDiTesto 15">
                    <a:extLst>
                      <a:ext uri="{FF2B5EF4-FFF2-40B4-BE49-F238E27FC236}">
                        <a16:creationId xmlns:a16="http://schemas.microsoft.com/office/drawing/2014/main" id="{5B0D4B69-9ED3-C0CD-1D39-688997213A2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6054" y="1502092"/>
                    <a:ext cx="488661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8000" t="-8197" r="-34000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CasellaDiTesto 18">
                    <a:extLst>
                      <a:ext uri="{FF2B5EF4-FFF2-40B4-BE49-F238E27FC236}">
                        <a16:creationId xmlns:a16="http://schemas.microsoft.com/office/drawing/2014/main" id="{1678A483-78CC-3604-8A96-6D8BA9A3AE9B}"/>
                      </a:ext>
                    </a:extLst>
                  </p:cNvPr>
                  <p:cNvSpPr txBox="1"/>
                  <p:nvPr/>
                </p:nvSpPr>
                <p:spPr>
                  <a:xfrm>
                    <a:off x="1312016" y="1791525"/>
                    <a:ext cx="747900" cy="230832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it-IT" b="0" dirty="0"/>
                      <a:t>x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it-IT" b="0" i="1" dirty="0">
                      <a:latin typeface="Cambria Math" panose="02040503050406030204" pitchFamily="18" charset="0"/>
                    </a:endParaRPr>
                  </a:p>
                  <a:p>
                    <a:pPr algn="ctr"/>
                    <a:r>
                      <a:rPr lang="it-IT" dirty="0"/>
                      <a:t>.</a:t>
                    </a:r>
                  </a:p>
                  <a:p>
                    <a:pPr algn="ctr"/>
                    <a:r>
                      <a:rPr lang="it-IT" b="0" dirty="0"/>
                      <a:t>.</a:t>
                    </a:r>
                  </a:p>
                  <a:p>
                    <a:pPr algn="ctr"/>
                    <a:r>
                      <a:rPr lang="it-IT" dirty="0"/>
                      <a:t>.</a:t>
                    </a:r>
                  </a:p>
                  <a:p>
                    <a:pPr algn="ctr"/>
                    <a:r>
                      <a:rPr lang="it-IT" dirty="0"/>
                      <a:t>.</a:t>
                    </a:r>
                  </a:p>
                  <a:p>
                    <a:pPr algn="ctr"/>
                    <a:r>
                      <a:rPr lang="it-IT" dirty="0"/>
                      <a:t>.</a:t>
                    </a:r>
                  </a:p>
                  <a:p>
                    <a:pPr algn="ctr"/>
                    <a:r>
                      <a:rPr lang="it-IT" dirty="0"/>
                      <a:t>.</a:t>
                    </a:r>
                  </a:p>
                  <a:p>
                    <a:pPr algn="ctr"/>
                    <a:r>
                      <a:rPr lang="it-IT" b="0" dirty="0"/>
                      <a:t>x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a14:m>
                    <a:endParaRPr lang="it-IT" b="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19" name="CasellaDiTesto 18">
                    <a:extLst>
                      <a:ext uri="{FF2B5EF4-FFF2-40B4-BE49-F238E27FC236}">
                        <a16:creationId xmlns:a16="http://schemas.microsoft.com/office/drawing/2014/main" id="{1678A483-78CC-3604-8A96-6D8BA9A3AE9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12016" y="1791525"/>
                    <a:ext cx="747900" cy="2308324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0256" t="-1587" b="-3439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Ovale 19">
                <a:extLst>
                  <a:ext uri="{FF2B5EF4-FFF2-40B4-BE49-F238E27FC236}">
                    <a16:creationId xmlns:a16="http://schemas.microsoft.com/office/drawing/2014/main" id="{7E450ABC-7FD8-31CE-1AD0-71DAFBBA6E2C}"/>
                  </a:ext>
                </a:extLst>
              </p:cNvPr>
              <p:cNvSpPr/>
              <p:nvPr/>
            </p:nvSpPr>
            <p:spPr>
              <a:xfrm>
                <a:off x="5272514" y="2175597"/>
                <a:ext cx="2262461" cy="1402671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p:cxnSp>
            <p:nvCxnSpPr>
              <p:cNvPr id="22" name="Connettore diritto 21">
                <a:extLst>
                  <a:ext uri="{FF2B5EF4-FFF2-40B4-BE49-F238E27FC236}">
                    <a16:creationId xmlns:a16="http://schemas.microsoft.com/office/drawing/2014/main" id="{72103AF5-76AE-DAC4-DC81-0AD98987CEA4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2192785" y="1791346"/>
                <a:ext cx="3032669" cy="106692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Connettore diritto 22">
                <a:extLst>
                  <a:ext uri="{FF2B5EF4-FFF2-40B4-BE49-F238E27FC236}">
                    <a16:creationId xmlns:a16="http://schemas.microsoft.com/office/drawing/2014/main" id="{0A87D6BD-0349-3FE8-CC20-B5354D58E07C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2192785" y="2086680"/>
                <a:ext cx="3032669" cy="77158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nettore diritto 23">
                <a:extLst>
                  <a:ext uri="{FF2B5EF4-FFF2-40B4-BE49-F238E27FC236}">
                    <a16:creationId xmlns:a16="http://schemas.microsoft.com/office/drawing/2014/main" id="{2C974A64-8065-A710-F312-23B4D26F7224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2192785" y="2338140"/>
                <a:ext cx="3032669" cy="52012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Connettore diritto 24">
                <a:extLst>
                  <a:ext uri="{FF2B5EF4-FFF2-40B4-BE49-F238E27FC236}">
                    <a16:creationId xmlns:a16="http://schemas.microsoft.com/office/drawing/2014/main" id="{ABAB69E0-C38F-5180-5801-638A8A27CF25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2192785" y="2858268"/>
                <a:ext cx="3032669" cy="79800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nettore diritto 29">
                <a:extLst>
                  <a:ext uri="{FF2B5EF4-FFF2-40B4-BE49-F238E27FC236}">
                    <a16:creationId xmlns:a16="http://schemas.microsoft.com/office/drawing/2014/main" id="{B1A47C49-F6D0-01B1-45F8-9A94BD5F7A69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2192785" y="2601384"/>
                <a:ext cx="3032669" cy="256884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nettore diritto 38">
                <a:extLst>
                  <a:ext uri="{FF2B5EF4-FFF2-40B4-BE49-F238E27FC236}">
                    <a16:creationId xmlns:a16="http://schemas.microsoft.com/office/drawing/2014/main" id="{D78C2195-0336-D107-A487-EB32633ECB3E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2192785" y="2858268"/>
                <a:ext cx="3032669" cy="11029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nettore diritto 39">
                <a:extLst>
                  <a:ext uri="{FF2B5EF4-FFF2-40B4-BE49-F238E27FC236}">
                    <a16:creationId xmlns:a16="http://schemas.microsoft.com/office/drawing/2014/main" id="{5555590D-8028-09AF-C11F-55FE6BE7ECB5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2192785" y="2858268"/>
                <a:ext cx="3032669" cy="3155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Connettore diritto 40">
                <a:extLst>
                  <a:ext uri="{FF2B5EF4-FFF2-40B4-BE49-F238E27FC236}">
                    <a16:creationId xmlns:a16="http://schemas.microsoft.com/office/drawing/2014/main" id="{E0FC92E4-B947-6B6A-B509-4A12F28AE655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>
                <a:off x="2192785" y="2858268"/>
                <a:ext cx="303266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nettore diritto 41">
                <a:extLst>
                  <a:ext uri="{FF2B5EF4-FFF2-40B4-BE49-F238E27FC236}">
                    <a16:creationId xmlns:a16="http://schemas.microsoft.com/office/drawing/2014/main" id="{C8E8630A-9E01-AF8A-4045-F8914323E400}"/>
                  </a:ext>
                </a:extLst>
              </p:cNvPr>
              <p:cNvCxnSpPr>
                <a:cxnSpLocks/>
                <a:endCxn id="44" idx="1"/>
              </p:cNvCxnSpPr>
              <p:nvPr/>
            </p:nvCxnSpPr>
            <p:spPr>
              <a:xfrm flipV="1">
                <a:off x="2192785" y="2858268"/>
                <a:ext cx="3032669" cy="56953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CasellaDiTesto 42">
                    <a:extLst>
                      <a:ext uri="{FF2B5EF4-FFF2-40B4-BE49-F238E27FC236}">
                        <a16:creationId xmlns:a16="http://schemas.microsoft.com/office/drawing/2014/main" id="{3AC485B2-E569-3160-6367-83120B334F53}"/>
                      </a:ext>
                    </a:extLst>
                  </p:cNvPr>
                  <p:cNvSpPr txBox="1"/>
                  <p:nvPr/>
                </p:nvSpPr>
                <p:spPr>
                  <a:xfrm>
                    <a:off x="3364048" y="1898485"/>
                    <a:ext cx="7681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43" name="CasellaDiTesto 42">
                    <a:extLst>
                      <a:ext uri="{FF2B5EF4-FFF2-40B4-BE49-F238E27FC236}">
                        <a16:creationId xmlns:a16="http://schemas.microsoft.com/office/drawing/2014/main" id="{3AC485B2-E569-3160-6367-83120B334F5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64048" y="1898485"/>
                    <a:ext cx="768185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CasellaDiTesto 43">
                    <a:extLst>
                      <a:ext uri="{FF2B5EF4-FFF2-40B4-BE49-F238E27FC236}">
                        <a16:creationId xmlns:a16="http://schemas.microsoft.com/office/drawing/2014/main" id="{8D772B6D-C09F-2308-94E0-F0DDEB84DA37}"/>
                      </a:ext>
                    </a:extLst>
                  </p:cNvPr>
                  <p:cNvSpPr txBox="1"/>
                  <p:nvPr/>
                </p:nvSpPr>
                <p:spPr>
                  <a:xfrm>
                    <a:off x="5225454" y="2673602"/>
                    <a:ext cx="2262461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·</m:t>
                          </m:r>
                          <m:r>
                            <a:rPr lang="it-IT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 xmlns="">
              <p:sp>
                <p:nvSpPr>
                  <p:cNvPr id="44" name="CasellaDiTesto 43">
                    <a:extLst>
                      <a:ext uri="{FF2B5EF4-FFF2-40B4-BE49-F238E27FC236}">
                        <a16:creationId xmlns:a16="http://schemas.microsoft.com/office/drawing/2014/main" id="{8D772B6D-C09F-2308-94E0-F0DDEB84DA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25454" y="2673602"/>
                    <a:ext cx="2262461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4754"/>
                    </a:stretch>
                  </a:blipFill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Connettore diritto 44">
                <a:extLst>
                  <a:ext uri="{FF2B5EF4-FFF2-40B4-BE49-F238E27FC236}">
                    <a16:creationId xmlns:a16="http://schemas.microsoft.com/office/drawing/2014/main" id="{C1C4D96B-B0D0-4681-FE48-18AA88952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84341" y="2858268"/>
                <a:ext cx="395536" cy="311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CasellaDiTesto 45">
                <a:extLst>
                  <a:ext uri="{FF2B5EF4-FFF2-40B4-BE49-F238E27FC236}">
                    <a16:creationId xmlns:a16="http://schemas.microsoft.com/office/drawing/2014/main" id="{2B4948DF-D3D7-99D9-F60C-E5012CB31D8B}"/>
                  </a:ext>
                </a:extLst>
              </p:cNvPr>
              <p:cNvSpPr txBox="1"/>
              <p:nvPr/>
            </p:nvSpPr>
            <p:spPr>
              <a:xfrm>
                <a:off x="7948270" y="2673602"/>
                <a:ext cx="145955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dirty="0"/>
                  <a:t>Output</a:t>
                </a:r>
              </a:p>
            </p:txBody>
          </p:sp>
        </p:grp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D536AC0D-D054-EA72-55AE-0F291F8EA631}"/>
              </a:ext>
            </a:extLst>
          </p:cNvPr>
          <p:cNvGrpSpPr/>
          <p:nvPr/>
        </p:nvGrpSpPr>
        <p:grpSpPr>
          <a:xfrm>
            <a:off x="-55880" y="934720"/>
            <a:ext cx="5608320" cy="5495932"/>
            <a:chOff x="-670560" y="716536"/>
            <a:chExt cx="6096000" cy="5976200"/>
          </a:xfrm>
        </p:grpSpPr>
        <p:sp>
          <p:nvSpPr>
            <p:cNvPr id="47" name="CasellaDiTesto 46">
              <a:extLst>
                <a:ext uri="{FF2B5EF4-FFF2-40B4-BE49-F238E27FC236}">
                  <a16:creationId xmlns:a16="http://schemas.microsoft.com/office/drawing/2014/main" id="{5A7F4A92-7190-E011-4962-395C4244FA2D}"/>
                </a:ext>
              </a:extLst>
            </p:cNvPr>
            <p:cNvSpPr txBox="1"/>
            <p:nvPr/>
          </p:nvSpPr>
          <p:spPr>
            <a:xfrm>
              <a:off x="-670560" y="716536"/>
              <a:ext cx="60960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sz="2000" b="1" dirty="0" err="1">
                  <a:latin typeface="Georgia" panose="02040502050405020303" pitchFamily="18" charset="0"/>
                </a:rPr>
                <a:t>Classification</a:t>
              </a:r>
              <a:r>
                <a:rPr lang="it-IT" sz="2000" b="1" dirty="0">
                  <a:latin typeface="Georgia" panose="02040502050405020303" pitchFamily="18" charset="0"/>
                </a:rPr>
                <a:t> </a:t>
              </a:r>
              <a:r>
                <a:rPr lang="it-IT" sz="2000" b="1" dirty="0" err="1">
                  <a:latin typeface="Georgia" panose="02040502050405020303" pitchFamily="18" charset="0"/>
                </a:rPr>
                <a:t>problem</a:t>
              </a:r>
              <a:endParaRPr lang="it-IT" sz="2000" b="1" dirty="0">
                <a:latin typeface="Georgia" panose="02040502050405020303" pitchFamily="18" charset="0"/>
              </a:endParaRPr>
            </a:p>
          </p:txBody>
        </p:sp>
        <p:grpSp>
          <p:nvGrpSpPr>
            <p:cNvPr id="48" name="Gruppo 47">
              <a:extLst>
                <a:ext uri="{FF2B5EF4-FFF2-40B4-BE49-F238E27FC236}">
                  <a16:creationId xmlns:a16="http://schemas.microsoft.com/office/drawing/2014/main" id="{595EE218-BE47-CF2F-83B1-CFD885B4A482}"/>
                </a:ext>
              </a:extLst>
            </p:cNvPr>
            <p:cNvGrpSpPr/>
            <p:nvPr/>
          </p:nvGrpSpPr>
          <p:grpSpPr>
            <a:xfrm>
              <a:off x="265385" y="1310221"/>
              <a:ext cx="4499764" cy="1035066"/>
              <a:chOff x="7634679" y="1286349"/>
              <a:chExt cx="4499764" cy="1035066"/>
            </a:xfrm>
          </p:grpSpPr>
          <p:cxnSp>
            <p:nvCxnSpPr>
              <p:cNvPr id="63" name="Connettore diritto 62">
                <a:extLst>
                  <a:ext uri="{FF2B5EF4-FFF2-40B4-BE49-F238E27FC236}">
                    <a16:creationId xmlns:a16="http://schemas.microsoft.com/office/drawing/2014/main" id="{AA9EAFB7-0BBB-C9B6-85DA-42B9E3474EA9}"/>
                  </a:ext>
                </a:extLst>
              </p:cNvPr>
              <p:cNvCxnSpPr>
                <a:cxnSpLocks/>
                <a:stCxn id="57" idx="3"/>
              </p:cNvCxnSpPr>
              <p:nvPr/>
            </p:nvCxnSpPr>
            <p:spPr>
              <a:xfrm>
                <a:off x="8368104" y="1487153"/>
                <a:ext cx="470304" cy="0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7" name="CasellaDiTesto 56">
                <a:extLst>
                  <a:ext uri="{FF2B5EF4-FFF2-40B4-BE49-F238E27FC236}">
                    <a16:creationId xmlns:a16="http://schemas.microsoft.com/office/drawing/2014/main" id="{F9AF884A-88F8-D689-0BD5-448D04650458}"/>
                  </a:ext>
                </a:extLst>
              </p:cNvPr>
              <p:cNvSpPr txBox="1"/>
              <p:nvPr/>
            </p:nvSpPr>
            <p:spPr>
              <a:xfrm>
                <a:off x="7634679" y="1286349"/>
                <a:ext cx="733425" cy="401607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algn="ctr"/>
                <a:r>
                  <a:rPr lang="it-IT" dirty="0"/>
                  <a:t>Data</a:t>
                </a:r>
              </a:p>
            </p:txBody>
          </p:sp>
          <p:sp>
            <p:nvSpPr>
              <p:cNvPr id="65" name="CasellaDiTesto 64">
                <a:extLst>
                  <a:ext uri="{FF2B5EF4-FFF2-40B4-BE49-F238E27FC236}">
                    <a16:creationId xmlns:a16="http://schemas.microsoft.com/office/drawing/2014/main" id="{C8F6A963-CCA2-0DDA-F820-DFD2A30FA390}"/>
                  </a:ext>
                </a:extLst>
              </p:cNvPr>
              <p:cNvSpPr txBox="1"/>
              <p:nvPr/>
            </p:nvSpPr>
            <p:spPr>
              <a:xfrm>
                <a:off x="8884935" y="1287591"/>
                <a:ext cx="1386174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 err="1"/>
                  <a:t>Predctions</a:t>
                </a:r>
                <a:endParaRPr lang="it-IT" sz="300" dirty="0"/>
              </a:p>
            </p:txBody>
          </p:sp>
          <p:cxnSp>
            <p:nvCxnSpPr>
              <p:cNvPr id="64" name="Connettore a gomito 63">
                <a:extLst>
                  <a:ext uri="{FF2B5EF4-FFF2-40B4-BE49-F238E27FC236}">
                    <a16:creationId xmlns:a16="http://schemas.microsoft.com/office/drawing/2014/main" id="{290A9F94-ECCA-860C-0A9C-CA94E5612A82}"/>
                  </a:ext>
                </a:extLst>
              </p:cNvPr>
              <p:cNvCxnSpPr>
                <a:cxnSpLocks/>
                <a:stCxn id="58" idx="0"/>
                <a:endCxn id="65" idx="1"/>
              </p:cNvCxnSpPr>
              <p:nvPr/>
            </p:nvCxnSpPr>
            <p:spPr>
              <a:xfrm rot="16200000" flipV="1">
                <a:off x="8671409" y="1701922"/>
                <a:ext cx="431415" cy="4361"/>
              </a:xfrm>
              <a:prstGeom prst="bentConnector4">
                <a:avLst>
                  <a:gd name="adj1" fmla="val 26727"/>
                  <a:gd name="adj2" fmla="val 7158574"/>
                </a:avLst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8" name="CasellaDiTesto 57">
                <a:extLst>
                  <a:ext uri="{FF2B5EF4-FFF2-40B4-BE49-F238E27FC236}">
                    <a16:creationId xmlns:a16="http://schemas.microsoft.com/office/drawing/2014/main" id="{2476D4A3-6F16-2F5A-50AE-C5F372975D21}"/>
                  </a:ext>
                </a:extLst>
              </p:cNvPr>
              <p:cNvSpPr txBox="1"/>
              <p:nvPr/>
            </p:nvSpPr>
            <p:spPr>
              <a:xfrm>
                <a:off x="8334164" y="1919809"/>
                <a:ext cx="1110265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  <a:endParaRPr lang="it-IT" sz="300" dirty="0"/>
              </a:p>
            </p:txBody>
          </p:sp>
          <p:cxnSp>
            <p:nvCxnSpPr>
              <p:cNvPr id="62" name="Connettore 2 61">
                <a:extLst>
                  <a:ext uri="{FF2B5EF4-FFF2-40B4-BE49-F238E27FC236}">
                    <a16:creationId xmlns:a16="http://schemas.microsoft.com/office/drawing/2014/main" id="{E97C7130-3397-008C-41AA-C34D3410F773}"/>
                  </a:ext>
                </a:extLst>
              </p:cNvPr>
              <p:cNvCxnSpPr>
                <a:cxnSpLocks/>
                <a:stCxn id="60" idx="1"/>
                <a:endCxn id="58" idx="3"/>
              </p:cNvCxnSpPr>
              <p:nvPr/>
            </p:nvCxnSpPr>
            <p:spPr>
              <a:xfrm flipH="1">
                <a:off x="9444429" y="2120436"/>
                <a:ext cx="652233" cy="17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CasellaDiTesto 59">
                <a:extLst>
                  <a:ext uri="{FF2B5EF4-FFF2-40B4-BE49-F238E27FC236}">
                    <a16:creationId xmlns:a16="http://schemas.microsoft.com/office/drawing/2014/main" id="{500DA8AB-ACB6-B0FE-7EFB-70DAD0A94F70}"/>
                  </a:ext>
                </a:extLst>
              </p:cNvPr>
              <p:cNvSpPr txBox="1"/>
              <p:nvPr/>
            </p:nvSpPr>
            <p:spPr>
              <a:xfrm>
                <a:off x="10096662" y="1919632"/>
                <a:ext cx="2037781" cy="401606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Weight update</a:t>
                </a:r>
                <a:endParaRPr lang="it-IT" sz="300" dirty="0"/>
              </a:p>
            </p:txBody>
          </p:sp>
          <p:cxnSp>
            <p:nvCxnSpPr>
              <p:cNvPr id="61" name="Connettore 2 60">
                <a:extLst>
                  <a:ext uri="{FF2B5EF4-FFF2-40B4-BE49-F238E27FC236}">
                    <a16:creationId xmlns:a16="http://schemas.microsoft.com/office/drawing/2014/main" id="{383354E9-4F99-DB84-658D-F2F7C93F3D42}"/>
                  </a:ext>
                </a:extLst>
              </p:cNvPr>
              <p:cNvCxnSpPr>
                <a:cxnSpLocks/>
                <a:stCxn id="59" idx="2"/>
                <a:endCxn id="60" idx="0"/>
              </p:cNvCxnSpPr>
              <p:nvPr/>
            </p:nvCxnSpPr>
            <p:spPr>
              <a:xfrm>
                <a:off x="11110247" y="1676396"/>
                <a:ext cx="5305" cy="2432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9" name="CasellaDiTesto 58">
                <a:extLst>
                  <a:ext uri="{FF2B5EF4-FFF2-40B4-BE49-F238E27FC236}">
                    <a16:creationId xmlns:a16="http://schemas.microsoft.com/office/drawing/2014/main" id="{8BFCCE2B-4D0E-10BE-481F-2D76DAFC419D}"/>
                  </a:ext>
                </a:extLst>
              </p:cNvPr>
              <p:cNvSpPr txBox="1"/>
              <p:nvPr/>
            </p:nvSpPr>
            <p:spPr>
              <a:xfrm>
                <a:off x="10555115" y="1307064"/>
                <a:ext cx="1110265" cy="369332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Loss</a:t>
                </a:r>
                <a:endParaRPr lang="it-IT" sz="300" dirty="0"/>
              </a:p>
            </p:txBody>
          </p:sp>
          <p:cxnSp>
            <p:nvCxnSpPr>
              <p:cNvPr id="66" name="Connettore 2 65">
                <a:extLst>
                  <a:ext uri="{FF2B5EF4-FFF2-40B4-BE49-F238E27FC236}">
                    <a16:creationId xmlns:a16="http://schemas.microsoft.com/office/drawing/2014/main" id="{F5026356-495E-D3DC-E52A-80BFD92981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288953" y="1491730"/>
                <a:ext cx="251667" cy="19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49" name="Gruppo 48">
              <a:extLst>
                <a:ext uri="{FF2B5EF4-FFF2-40B4-BE49-F238E27FC236}">
                  <a16:creationId xmlns:a16="http://schemas.microsoft.com/office/drawing/2014/main" id="{6FA0CFBF-91EF-0254-9D0E-434224304009}"/>
                </a:ext>
              </a:extLst>
            </p:cNvPr>
            <p:cNvGrpSpPr/>
            <p:nvPr/>
          </p:nvGrpSpPr>
          <p:grpSpPr>
            <a:xfrm>
              <a:off x="998809" y="2743393"/>
              <a:ext cx="2910402" cy="1523494"/>
              <a:chOff x="7896635" y="2414817"/>
              <a:chExt cx="2910402" cy="1523494"/>
            </a:xfrm>
          </p:grpSpPr>
          <p:pic>
            <p:nvPicPr>
              <p:cNvPr id="55" name="Immagine 54">
                <a:extLst>
                  <a:ext uri="{FF2B5EF4-FFF2-40B4-BE49-F238E27FC236}">
                    <a16:creationId xmlns:a16="http://schemas.microsoft.com/office/drawing/2014/main" id="{1559AD73-F733-8B6D-A62D-0086750EED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0758" y="2768009"/>
                <a:ext cx="2796279" cy="1054884"/>
              </a:xfrm>
              <a:prstGeom prst="rect">
                <a:avLst/>
              </a:prstGeom>
            </p:spPr>
          </p:pic>
          <p:sp>
            <p:nvSpPr>
              <p:cNvPr id="56" name="CasellaDiTesto 55">
                <a:extLst>
                  <a:ext uri="{FF2B5EF4-FFF2-40B4-BE49-F238E27FC236}">
                    <a16:creationId xmlns:a16="http://schemas.microsoft.com/office/drawing/2014/main" id="{F5B11C6A-B51A-47C5-614F-C0331F22C091}"/>
                  </a:ext>
                </a:extLst>
              </p:cNvPr>
              <p:cNvSpPr txBox="1"/>
              <p:nvPr/>
            </p:nvSpPr>
            <p:spPr>
              <a:xfrm>
                <a:off x="7896635" y="2414817"/>
                <a:ext cx="2910401" cy="1523494"/>
              </a:xfrm>
              <a:prstGeom prst="rect">
                <a:avLst/>
              </a:prstGeom>
              <a:noFill/>
              <a:ln w="28575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wrap="square" anchor="ctr">
                <a:spAutoFit/>
              </a:bodyPr>
              <a:lstStyle/>
              <a:p>
                <a:pPr algn="ctr"/>
                <a:r>
                  <a:rPr lang="it-IT" dirty="0"/>
                  <a:t>Model</a:t>
                </a:r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  <a:p>
                <a:pPr algn="ctr"/>
                <a:endParaRPr lang="it-IT" sz="300" dirty="0"/>
              </a:p>
            </p:txBody>
          </p:sp>
        </p:grpSp>
        <p:sp>
          <p:nvSpPr>
            <p:cNvPr id="50" name="CasellaDiTesto 49">
              <a:extLst>
                <a:ext uri="{FF2B5EF4-FFF2-40B4-BE49-F238E27FC236}">
                  <a16:creationId xmlns:a16="http://schemas.microsoft.com/office/drawing/2014/main" id="{F6EAA02B-8976-5F39-ADAE-9CD97B503B94}"/>
                </a:ext>
              </a:extLst>
            </p:cNvPr>
            <p:cNvSpPr txBox="1"/>
            <p:nvPr/>
          </p:nvSpPr>
          <p:spPr>
            <a:xfrm>
              <a:off x="998810" y="4585024"/>
              <a:ext cx="2910400" cy="903615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>
                  <a:solidFill>
                    <a:schemeClr val="tx1"/>
                  </a:solidFill>
                </a:rPr>
                <a:t>Loss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r>
                <a:rPr lang="it-IT" dirty="0">
                  <a:solidFill>
                    <a:schemeClr val="tx1"/>
                  </a:solidFill>
                </a:rPr>
                <a:t>(</a:t>
              </a:r>
              <a:r>
                <a:rPr lang="it-IT" dirty="0" err="1">
                  <a:solidFill>
                    <a:schemeClr val="tx1"/>
                  </a:solidFill>
                </a:rPr>
                <a:t>Binary</a:t>
              </a:r>
              <a:r>
                <a:rPr lang="it-IT" dirty="0">
                  <a:solidFill>
                    <a:schemeClr val="tx1"/>
                  </a:solidFill>
                </a:rPr>
                <a:t>) </a:t>
              </a:r>
              <a:r>
                <a:rPr lang="it-IT" b="1" dirty="0">
                  <a:solidFill>
                    <a:schemeClr val="tx1"/>
                  </a:solidFill>
                </a:rPr>
                <a:t>Cross </a:t>
              </a:r>
              <a:r>
                <a:rPr lang="it-IT" b="1" dirty="0" err="1">
                  <a:solidFill>
                    <a:schemeClr val="tx1"/>
                  </a:solidFill>
                </a:rPr>
                <a:t>Entropy</a:t>
              </a:r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  <a:p>
              <a:pPr algn="ctr"/>
              <a:endParaRPr lang="it-IT" sz="300" dirty="0">
                <a:solidFill>
                  <a:schemeClr val="tx1"/>
                </a:solidFill>
              </a:endParaRPr>
            </a:p>
          </p:txBody>
        </p:sp>
        <p:sp>
          <p:nvSpPr>
            <p:cNvPr id="51" name="CasellaDiTesto 50">
              <a:extLst>
                <a:ext uri="{FF2B5EF4-FFF2-40B4-BE49-F238E27FC236}">
                  <a16:creationId xmlns:a16="http://schemas.microsoft.com/office/drawing/2014/main" id="{0C135384-0327-4CB6-D286-695F1D4C9529}"/>
                </a:ext>
              </a:extLst>
            </p:cNvPr>
            <p:cNvSpPr txBox="1"/>
            <p:nvPr/>
          </p:nvSpPr>
          <p:spPr>
            <a:xfrm>
              <a:off x="1020254" y="5889523"/>
              <a:ext cx="2910399" cy="803213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Weights update</a:t>
              </a:r>
              <a:endParaRPr lang="it-IT" sz="800" dirty="0">
                <a:solidFill>
                  <a:schemeClr val="tx1"/>
                </a:solidFill>
              </a:endParaRPr>
            </a:p>
            <a:p>
              <a:pPr algn="ctr"/>
              <a:r>
                <a:rPr lang="it-IT" b="1" dirty="0" err="1"/>
                <a:t>Gradient</a:t>
              </a:r>
              <a:r>
                <a:rPr lang="it-IT" b="1" dirty="0"/>
                <a:t> </a:t>
              </a:r>
              <a:r>
                <a:rPr lang="it-IT" b="1" dirty="0" err="1"/>
                <a:t>descent</a:t>
              </a:r>
              <a:endParaRPr lang="it-IT" sz="300" dirty="0"/>
            </a:p>
            <a:p>
              <a:pPr algn="ctr"/>
              <a:endParaRPr lang="it-IT" sz="300" dirty="0"/>
            </a:p>
            <a:p>
              <a:pPr algn="ctr"/>
              <a:endParaRPr lang="it-IT" sz="300" dirty="0"/>
            </a:p>
          </p:txBody>
        </p:sp>
        <p:sp>
          <p:nvSpPr>
            <p:cNvPr id="52" name="Connettore 51">
              <a:extLst>
                <a:ext uri="{FF2B5EF4-FFF2-40B4-BE49-F238E27FC236}">
                  <a16:creationId xmlns:a16="http://schemas.microsoft.com/office/drawing/2014/main" id="{F62C3643-7E5A-BA30-45D3-4C3CD8B3B971}"/>
                </a:ext>
              </a:extLst>
            </p:cNvPr>
            <p:cNvSpPr/>
            <p:nvPr/>
          </p:nvSpPr>
          <p:spPr>
            <a:xfrm>
              <a:off x="308097" y="3415139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3" name="Connettore 52">
              <a:extLst>
                <a:ext uri="{FF2B5EF4-FFF2-40B4-BE49-F238E27FC236}">
                  <a16:creationId xmlns:a16="http://schemas.microsoft.com/office/drawing/2014/main" id="{2943C7D2-FDA6-664A-E365-0F0149D16B11}"/>
                </a:ext>
              </a:extLst>
            </p:cNvPr>
            <p:cNvSpPr/>
            <p:nvPr/>
          </p:nvSpPr>
          <p:spPr>
            <a:xfrm>
              <a:off x="308097" y="4946832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54" name="Connettore 53">
              <a:extLst>
                <a:ext uri="{FF2B5EF4-FFF2-40B4-BE49-F238E27FC236}">
                  <a16:creationId xmlns:a16="http://schemas.microsoft.com/office/drawing/2014/main" id="{C4F76603-0B3B-081F-BD5C-C317C2AF0C28}"/>
                </a:ext>
              </a:extLst>
            </p:cNvPr>
            <p:cNvSpPr/>
            <p:nvPr/>
          </p:nvSpPr>
          <p:spPr>
            <a:xfrm>
              <a:off x="308097" y="6135217"/>
              <a:ext cx="180000" cy="180000"/>
            </a:xfrm>
            <a:prstGeom prst="flowChartConnector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</p:grpSp>
      <p:cxnSp>
        <p:nvCxnSpPr>
          <p:cNvPr id="71" name="Connettore 2 70">
            <a:extLst>
              <a:ext uri="{FF2B5EF4-FFF2-40B4-BE49-F238E27FC236}">
                <a16:creationId xmlns:a16="http://schemas.microsoft.com/office/drawing/2014/main" id="{8F7EA040-29C2-6FC1-696C-FF767C854B4A}"/>
              </a:ext>
            </a:extLst>
          </p:cNvPr>
          <p:cNvCxnSpPr>
            <a:cxnSpLocks/>
          </p:cNvCxnSpPr>
          <p:nvPr/>
        </p:nvCxnSpPr>
        <p:spPr>
          <a:xfrm>
            <a:off x="6821792" y="6270529"/>
            <a:ext cx="4560455" cy="0"/>
          </a:xfrm>
          <a:prstGeom prst="straightConnector1">
            <a:avLst/>
          </a:prstGeom>
          <a:ln w="57150">
            <a:solidFill>
              <a:srgbClr val="1F429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3AE772B0-9CA5-EAF2-9217-2D1901A7C108}"/>
              </a:ext>
            </a:extLst>
          </p:cNvPr>
          <p:cNvSpPr txBox="1"/>
          <p:nvPr/>
        </p:nvSpPr>
        <p:spPr>
          <a:xfrm>
            <a:off x="6304392" y="4774754"/>
            <a:ext cx="922729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Input</a:t>
            </a:r>
          </a:p>
        </p:txBody>
      </p:sp>
      <p:sp>
        <p:nvSpPr>
          <p:cNvPr id="75" name="CasellaDiTesto 74">
            <a:extLst>
              <a:ext uri="{FF2B5EF4-FFF2-40B4-BE49-F238E27FC236}">
                <a16:creationId xmlns:a16="http://schemas.microsoft.com/office/drawing/2014/main" id="{8FE5EC83-82A4-B003-1BEA-316B4DDF561D}"/>
              </a:ext>
            </a:extLst>
          </p:cNvPr>
          <p:cNvSpPr txBox="1"/>
          <p:nvPr/>
        </p:nvSpPr>
        <p:spPr>
          <a:xfrm>
            <a:off x="11015221" y="4748468"/>
            <a:ext cx="1070026" cy="369332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Output</a:t>
            </a:r>
          </a:p>
        </p:txBody>
      </p:sp>
      <p:sp>
        <p:nvSpPr>
          <p:cNvPr id="76" name="CasellaDiTesto 75">
            <a:extLst>
              <a:ext uri="{FF2B5EF4-FFF2-40B4-BE49-F238E27FC236}">
                <a16:creationId xmlns:a16="http://schemas.microsoft.com/office/drawing/2014/main" id="{A045DFFB-B3A4-EC0F-1F32-E34184F6BD79}"/>
              </a:ext>
            </a:extLst>
          </p:cNvPr>
          <p:cNvSpPr txBox="1"/>
          <p:nvPr/>
        </p:nvSpPr>
        <p:spPr>
          <a:xfrm>
            <a:off x="8065385" y="6378404"/>
            <a:ext cx="2061779" cy="369332"/>
          </a:xfrm>
          <a:prstGeom prst="rect">
            <a:avLst/>
          </a:prstGeom>
          <a:noFill/>
          <a:ln w="38100">
            <a:solidFill>
              <a:srgbClr val="9933F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>
                <a:latin typeface="Georgia" panose="02040502050405020303" pitchFamily="18" charset="0"/>
              </a:rPr>
              <a:t>Feed Forward</a:t>
            </a:r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62DED563-755D-B8B6-8845-2D5DA47BE189}"/>
              </a:ext>
            </a:extLst>
          </p:cNvPr>
          <p:cNvCxnSpPr>
            <a:cxnSpLocks/>
          </p:cNvCxnSpPr>
          <p:nvPr/>
        </p:nvCxnSpPr>
        <p:spPr>
          <a:xfrm flipH="1">
            <a:off x="4453276" y="3400184"/>
            <a:ext cx="1642724" cy="0"/>
          </a:xfrm>
          <a:prstGeom prst="straightConnector1">
            <a:avLst/>
          </a:prstGeom>
          <a:ln w="28575">
            <a:solidFill>
              <a:srgbClr val="9933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3A874714-C004-1A2C-7760-0B85F8C5F79A}"/>
              </a:ext>
            </a:extLst>
          </p:cNvPr>
          <p:cNvSpPr txBox="1"/>
          <p:nvPr/>
        </p:nvSpPr>
        <p:spPr>
          <a:xfrm>
            <a:off x="4271576" y="3499221"/>
            <a:ext cx="1581427" cy="646331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We</a:t>
            </a:r>
            <a:r>
              <a:rPr lang="it-IT" b="1" dirty="0">
                <a:latin typeface="Georgia" panose="02040502050405020303" pitchFamily="18" charset="0"/>
              </a:rPr>
              <a:t> focus on </a:t>
            </a:r>
            <a:r>
              <a:rPr lang="it-IT" b="1" dirty="0" err="1">
                <a:latin typeface="Georgia" panose="02040502050405020303" pitchFamily="18" charset="0"/>
              </a:rPr>
              <a:t>this</a:t>
            </a:r>
            <a:r>
              <a:rPr lang="it-IT" b="1" dirty="0">
                <a:latin typeface="Georgia" panose="02040502050405020303" pitchFamily="18" charset="0"/>
              </a:rPr>
              <a:t> part</a:t>
            </a:r>
          </a:p>
        </p:txBody>
      </p:sp>
      <p:sp>
        <p:nvSpPr>
          <p:cNvPr id="27" name="Parentesi quadra aperta 26">
            <a:extLst>
              <a:ext uri="{FF2B5EF4-FFF2-40B4-BE49-F238E27FC236}">
                <a16:creationId xmlns:a16="http://schemas.microsoft.com/office/drawing/2014/main" id="{1692D5B8-4480-AE6F-2F07-07A1E7CE4355}"/>
              </a:ext>
            </a:extLst>
          </p:cNvPr>
          <p:cNvSpPr/>
          <p:nvPr/>
        </p:nvSpPr>
        <p:spPr>
          <a:xfrm>
            <a:off x="6117012" y="227157"/>
            <a:ext cx="712246" cy="6403688"/>
          </a:xfrm>
          <a:prstGeom prst="leftBracket">
            <a:avLst>
              <a:gd name="adj" fmla="val 75766"/>
            </a:avLst>
          </a:prstGeom>
          <a:ln w="28575">
            <a:solidFill>
              <a:srgbClr val="99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Ovale 28">
            <a:extLst>
              <a:ext uri="{FF2B5EF4-FFF2-40B4-BE49-F238E27FC236}">
                <a16:creationId xmlns:a16="http://schemas.microsoft.com/office/drawing/2014/main" id="{00C043FC-1519-4F92-39F1-FAE3094CA38F}"/>
              </a:ext>
            </a:extLst>
          </p:cNvPr>
          <p:cNvSpPr/>
          <p:nvPr/>
        </p:nvSpPr>
        <p:spPr>
          <a:xfrm>
            <a:off x="7354168" y="4867275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Ovale 30">
            <a:extLst>
              <a:ext uri="{FF2B5EF4-FFF2-40B4-BE49-F238E27FC236}">
                <a16:creationId xmlns:a16="http://schemas.microsoft.com/office/drawing/2014/main" id="{932F4F19-CBF4-B7DA-A8B3-D8A318FB542F}"/>
              </a:ext>
            </a:extLst>
          </p:cNvPr>
          <p:cNvSpPr/>
          <p:nvPr/>
        </p:nvSpPr>
        <p:spPr>
          <a:xfrm>
            <a:off x="7352263" y="526245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Ovale 31">
            <a:extLst>
              <a:ext uri="{FF2B5EF4-FFF2-40B4-BE49-F238E27FC236}">
                <a16:creationId xmlns:a16="http://schemas.microsoft.com/office/drawing/2014/main" id="{2FD2A1DE-3746-0859-6679-D76C019F56DC}"/>
              </a:ext>
            </a:extLst>
          </p:cNvPr>
          <p:cNvSpPr/>
          <p:nvPr/>
        </p:nvSpPr>
        <p:spPr>
          <a:xfrm>
            <a:off x="7350358" y="56297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Ovale 32">
            <a:extLst>
              <a:ext uri="{FF2B5EF4-FFF2-40B4-BE49-F238E27FC236}">
                <a16:creationId xmlns:a16="http://schemas.microsoft.com/office/drawing/2014/main" id="{FFD39CA4-9973-1E7F-1786-2B55DB9DDA0A}"/>
              </a:ext>
            </a:extLst>
          </p:cNvPr>
          <p:cNvSpPr/>
          <p:nvPr/>
        </p:nvSpPr>
        <p:spPr>
          <a:xfrm>
            <a:off x="8754469" y="486537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4" name="Ovale 33">
            <a:extLst>
              <a:ext uri="{FF2B5EF4-FFF2-40B4-BE49-F238E27FC236}">
                <a16:creationId xmlns:a16="http://schemas.microsoft.com/office/drawing/2014/main" id="{10D9855A-74AF-DF01-A5E0-C3BDDE54F134}"/>
              </a:ext>
            </a:extLst>
          </p:cNvPr>
          <p:cNvSpPr/>
          <p:nvPr/>
        </p:nvSpPr>
        <p:spPr>
          <a:xfrm>
            <a:off x="8750659" y="526435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5" name="Ovale 34">
            <a:extLst>
              <a:ext uri="{FF2B5EF4-FFF2-40B4-BE49-F238E27FC236}">
                <a16:creationId xmlns:a16="http://schemas.microsoft.com/office/drawing/2014/main" id="{01E0EFEF-E19C-792B-9882-28B8CA0AE58F}"/>
              </a:ext>
            </a:extLst>
          </p:cNvPr>
          <p:cNvSpPr/>
          <p:nvPr/>
        </p:nvSpPr>
        <p:spPr>
          <a:xfrm>
            <a:off x="8750659" y="562208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6" name="Ovale 35">
            <a:extLst>
              <a:ext uri="{FF2B5EF4-FFF2-40B4-BE49-F238E27FC236}">
                <a16:creationId xmlns:a16="http://schemas.microsoft.com/office/drawing/2014/main" id="{1A5A68BF-BDB2-337F-4124-69CAE7C31D6D}"/>
              </a:ext>
            </a:extLst>
          </p:cNvPr>
          <p:cNvSpPr/>
          <p:nvPr/>
        </p:nvSpPr>
        <p:spPr>
          <a:xfrm>
            <a:off x="10155155" y="486429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7" name="Ovale 36">
            <a:extLst>
              <a:ext uri="{FF2B5EF4-FFF2-40B4-BE49-F238E27FC236}">
                <a16:creationId xmlns:a16="http://schemas.microsoft.com/office/drawing/2014/main" id="{77A1877E-186B-E09C-8830-52C1ACF9DE5D}"/>
              </a:ext>
            </a:extLst>
          </p:cNvPr>
          <p:cNvSpPr/>
          <p:nvPr/>
        </p:nvSpPr>
        <p:spPr>
          <a:xfrm>
            <a:off x="10151345" y="5272808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8A9A6C10-1F7F-D761-D4E2-F5C4B2DED6D9}"/>
              </a:ext>
            </a:extLst>
          </p:cNvPr>
          <p:cNvSpPr/>
          <p:nvPr/>
        </p:nvSpPr>
        <p:spPr>
          <a:xfrm>
            <a:off x="10153250" y="5622913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DDF2EB38-3855-49B6-B18C-A836D2DAECB9}"/>
              </a:ext>
            </a:extLst>
          </p:cNvPr>
          <p:cNvSpPr/>
          <p:nvPr/>
        </p:nvSpPr>
        <p:spPr>
          <a:xfrm>
            <a:off x="8123026" y="5074900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0" name="Ovale 69">
            <a:extLst>
              <a:ext uri="{FF2B5EF4-FFF2-40B4-BE49-F238E27FC236}">
                <a16:creationId xmlns:a16="http://schemas.microsoft.com/office/drawing/2014/main" id="{8F26FA7C-0077-60D7-1748-A3AF006F8C8F}"/>
              </a:ext>
            </a:extLst>
          </p:cNvPr>
          <p:cNvSpPr/>
          <p:nvPr/>
        </p:nvSpPr>
        <p:spPr>
          <a:xfrm>
            <a:off x="8128741" y="54510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2" name="Ovale 71">
            <a:extLst>
              <a:ext uri="{FF2B5EF4-FFF2-40B4-BE49-F238E27FC236}">
                <a16:creationId xmlns:a16="http://schemas.microsoft.com/office/drawing/2014/main" id="{300ED84F-1EF0-DEE3-8685-ACA5BA08E408}"/>
              </a:ext>
            </a:extLst>
          </p:cNvPr>
          <p:cNvSpPr/>
          <p:nvPr/>
        </p:nvSpPr>
        <p:spPr>
          <a:xfrm>
            <a:off x="8124931" y="581256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3" name="Ovale 72">
            <a:extLst>
              <a:ext uri="{FF2B5EF4-FFF2-40B4-BE49-F238E27FC236}">
                <a16:creationId xmlns:a16="http://schemas.microsoft.com/office/drawing/2014/main" id="{269AD5DD-9349-BF08-9282-B7B2A120C75F}"/>
              </a:ext>
            </a:extLst>
          </p:cNvPr>
          <p:cNvSpPr/>
          <p:nvPr/>
        </p:nvSpPr>
        <p:spPr>
          <a:xfrm>
            <a:off x="8123026" y="469530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7" name="Ovale 76">
            <a:extLst>
              <a:ext uri="{FF2B5EF4-FFF2-40B4-BE49-F238E27FC236}">
                <a16:creationId xmlns:a16="http://schemas.microsoft.com/office/drawing/2014/main" id="{FE360FAB-8674-64A3-E369-83811BB6E117}"/>
              </a:ext>
            </a:extLst>
          </p:cNvPr>
          <p:cNvSpPr/>
          <p:nvPr/>
        </p:nvSpPr>
        <p:spPr>
          <a:xfrm>
            <a:off x="9519517" y="5073891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8" name="Ovale 77">
            <a:extLst>
              <a:ext uri="{FF2B5EF4-FFF2-40B4-BE49-F238E27FC236}">
                <a16:creationId xmlns:a16="http://schemas.microsoft.com/office/drawing/2014/main" id="{592C6E13-2EEB-9459-331B-398906BB9D4D}"/>
              </a:ext>
            </a:extLst>
          </p:cNvPr>
          <p:cNvSpPr/>
          <p:nvPr/>
        </p:nvSpPr>
        <p:spPr>
          <a:xfrm>
            <a:off x="9525232" y="5446207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9" name="Ovale 78">
            <a:extLst>
              <a:ext uri="{FF2B5EF4-FFF2-40B4-BE49-F238E27FC236}">
                <a16:creationId xmlns:a16="http://schemas.microsoft.com/office/drawing/2014/main" id="{FF375FC0-C24B-5E6E-770E-272A6E38DD57}"/>
              </a:ext>
            </a:extLst>
          </p:cNvPr>
          <p:cNvSpPr/>
          <p:nvPr/>
        </p:nvSpPr>
        <p:spPr>
          <a:xfrm>
            <a:off x="9525232" y="58191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0" name="Ovale 79">
            <a:extLst>
              <a:ext uri="{FF2B5EF4-FFF2-40B4-BE49-F238E27FC236}">
                <a16:creationId xmlns:a16="http://schemas.microsoft.com/office/drawing/2014/main" id="{9D727BC0-8C41-3BEC-6969-6F7C268D1694}"/>
              </a:ext>
            </a:extLst>
          </p:cNvPr>
          <p:cNvSpPr/>
          <p:nvPr/>
        </p:nvSpPr>
        <p:spPr>
          <a:xfrm>
            <a:off x="9523327" y="4686672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2" name="Ovale 81">
            <a:extLst>
              <a:ext uri="{FF2B5EF4-FFF2-40B4-BE49-F238E27FC236}">
                <a16:creationId xmlns:a16="http://schemas.microsoft.com/office/drawing/2014/main" id="{2E92C7B7-CB5A-97B1-A5B2-3CF99CE1E0BE}"/>
              </a:ext>
            </a:extLst>
          </p:cNvPr>
          <p:cNvSpPr/>
          <p:nvPr/>
        </p:nvSpPr>
        <p:spPr>
          <a:xfrm>
            <a:off x="10706248" y="5244326"/>
            <a:ext cx="281072" cy="2911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93909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67" grpId="0" animBg="1"/>
      <p:bldP spid="70" grpId="0" animBg="1"/>
      <p:bldP spid="72" grpId="0" animBg="1"/>
      <p:bldP spid="73" grpId="0" animBg="1"/>
      <p:bldP spid="77" grpId="0" animBg="1"/>
      <p:bldP spid="78" grpId="0" animBg="1"/>
      <p:bldP spid="79" grpId="0" animBg="1"/>
      <p:bldP spid="80" grpId="0" animBg="1"/>
      <p:bldP spid="8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7F50D-FEEA-F54C-66E8-153ED8782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magine 40">
            <a:extLst>
              <a:ext uri="{FF2B5EF4-FFF2-40B4-BE49-F238E27FC236}">
                <a16:creationId xmlns:a16="http://schemas.microsoft.com/office/drawing/2014/main" id="{F5D96026-0B85-C06D-7FBC-26843DD0C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95" y="624492"/>
            <a:ext cx="2572577" cy="970110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0D54E191-8D5C-A77C-C0B3-F21915BC9A59}"/>
              </a:ext>
            </a:extLst>
          </p:cNvPr>
          <p:cNvSpPr txBox="1"/>
          <p:nvPr/>
        </p:nvSpPr>
        <p:spPr>
          <a:xfrm>
            <a:off x="4179358" y="2153025"/>
            <a:ext cx="4210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000" b="1" dirty="0"/>
              <a:t>Loss </a:t>
            </a:r>
            <a:r>
              <a:rPr lang="it-IT" sz="2000" b="1" dirty="0" err="1"/>
              <a:t>Function</a:t>
            </a:r>
            <a:r>
              <a:rPr lang="it-IT" sz="2000" b="1" dirty="0"/>
              <a:t> computing</a:t>
            </a:r>
          </a:p>
          <a:p>
            <a:pPr algn="ctr"/>
            <a:r>
              <a:rPr lang="it-IT" sz="1600" dirty="0" err="1"/>
              <a:t>Measure</a:t>
            </a:r>
            <a:r>
              <a:rPr lang="it-IT" sz="1600" dirty="0"/>
              <a:t> of Error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F8DCE88-D324-5BA3-C618-23798926EDE5}"/>
              </a:ext>
            </a:extLst>
          </p:cNvPr>
          <p:cNvSpPr txBox="1"/>
          <p:nvPr/>
        </p:nvSpPr>
        <p:spPr>
          <a:xfrm>
            <a:off x="4237224" y="-10853"/>
            <a:ext cx="62824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2800" b="1" dirty="0" err="1">
                <a:latin typeface="Georgia" panose="02040502050405020303" pitchFamily="18" charset="0"/>
              </a:rPr>
              <a:t>Classification</a:t>
            </a:r>
            <a:r>
              <a:rPr lang="it-IT" sz="2800" b="1" dirty="0">
                <a:latin typeface="Georgia" panose="02040502050405020303" pitchFamily="18" charset="0"/>
              </a:rPr>
              <a:t> </a:t>
            </a:r>
            <a:r>
              <a:rPr lang="it-IT" sz="2800" b="1" dirty="0" err="1">
                <a:latin typeface="Georgia" panose="02040502050405020303" pitchFamily="18" charset="0"/>
              </a:rPr>
              <a:t>problem</a:t>
            </a:r>
            <a:endParaRPr lang="it-IT" sz="2800" b="1" dirty="0">
              <a:latin typeface="Georgia" panose="02040502050405020303" pitchFamily="18" charset="0"/>
            </a:endParaRPr>
          </a:p>
          <a:p>
            <a:pPr algn="ctr"/>
            <a:r>
              <a:rPr lang="it-IT" sz="2000" dirty="0"/>
              <a:t>(</a:t>
            </a:r>
            <a:r>
              <a:rPr lang="it-IT" sz="2000" dirty="0" err="1"/>
              <a:t>Binary</a:t>
            </a:r>
            <a:r>
              <a:rPr lang="it-IT" sz="2000"/>
              <a:t> - Recap)</a:t>
            </a:r>
            <a:endParaRPr lang="it-IT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/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asellaDiTesto 2">
                <a:extLst>
                  <a:ext uri="{FF2B5EF4-FFF2-40B4-BE49-F238E27FC236}">
                    <a16:creationId xmlns:a16="http://schemas.microsoft.com/office/drawing/2014/main" id="{C8131C64-10EF-9BB9-63EA-A6222FF5C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2355486"/>
                <a:ext cx="1664162" cy="400110"/>
              </a:xfrm>
              <a:prstGeom prst="rect">
                <a:avLst/>
              </a:prstGeom>
              <a:blipFill>
                <a:blip r:embed="rId4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/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it-IT" sz="2000" b="1" dirty="0">
                    <a:solidFill>
                      <a:schemeClr val="tx1"/>
                    </a:solidFill>
                  </a:rPr>
                  <a:t>L</a:t>
                </a:r>
                <a:r>
                  <a:rPr lang="it-IT" sz="2000" b="0" dirty="0">
                    <a:solidFill>
                      <a:schemeClr val="tx1"/>
                    </a:solidFill>
                  </a:rPr>
                  <a:t> =</a:t>
                </a:r>
              </a:p>
              <a:p>
                <a:pPr algn="ctr"/>
                <a:endParaRPr lang="it-IT" sz="2000" b="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it-IT" sz="20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∑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−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−</m:t>
                      </m:r>
                      <m:sSub>
                        <m:sSubPr>
                          <m:ctrlPr>
                            <a:rPr lang="it-IT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2000" b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CasellaDiTesto 3">
                <a:extLst>
                  <a:ext uri="{FF2B5EF4-FFF2-40B4-BE49-F238E27FC236}">
                    <a16:creationId xmlns:a16="http://schemas.microsoft.com/office/drawing/2014/main" id="{73F73EF9-A362-3748-D1DC-73EC39BBB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8228" y="2825052"/>
                <a:ext cx="8744651" cy="1631216"/>
              </a:xfrm>
              <a:prstGeom prst="rect">
                <a:avLst/>
              </a:prstGeom>
              <a:blipFill>
                <a:blip r:embed="rId5"/>
                <a:stretch>
                  <a:fillRect t="-1493" b="-37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/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it-IT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1C385687-090F-6EC2-CE08-1E05EBD13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94" y="4656323"/>
                <a:ext cx="1664162" cy="400110"/>
              </a:xfrm>
              <a:prstGeom prst="rect">
                <a:avLst/>
              </a:prstGeom>
              <a:blipFill>
                <a:blip r:embed="rId6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nettore 2 10">
            <a:extLst>
              <a:ext uri="{FF2B5EF4-FFF2-40B4-BE49-F238E27FC236}">
                <a16:creationId xmlns:a16="http://schemas.microsoft.com/office/drawing/2014/main" id="{6BF1BF68-1EF7-E766-D5D8-B390341B1B6D}"/>
              </a:ext>
            </a:extLst>
          </p:cNvPr>
          <p:cNvCxnSpPr/>
          <p:nvPr/>
        </p:nvCxnSpPr>
        <p:spPr>
          <a:xfrm>
            <a:off x="2161465" y="2553320"/>
            <a:ext cx="1858586" cy="1241144"/>
          </a:xfrm>
          <a:prstGeom prst="bentConnector3">
            <a:avLst>
              <a:gd name="adj1" fmla="val 53929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Connettore 2 10">
            <a:extLst>
              <a:ext uri="{FF2B5EF4-FFF2-40B4-BE49-F238E27FC236}">
                <a16:creationId xmlns:a16="http://schemas.microsoft.com/office/drawing/2014/main" id="{C3EC72CF-BF95-7FD3-5A5F-BE9189F6032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2310056" y="3794465"/>
            <a:ext cx="1709995" cy="1061913"/>
          </a:xfrm>
          <a:prstGeom prst="bentConnector3">
            <a:avLst>
              <a:gd name="adj1" fmla="val 50000"/>
            </a:avLst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7F7A1D58-3DB1-FDD5-A811-548CEAB7AC7C}"/>
              </a:ext>
            </a:extLst>
          </p:cNvPr>
          <p:cNvCxnSpPr/>
          <p:nvPr/>
        </p:nvCxnSpPr>
        <p:spPr>
          <a:xfrm flipV="1">
            <a:off x="8664162" y="3798135"/>
            <a:ext cx="1432338" cy="585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/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A" sz="2000" dirty="0"/>
                  <a:t>Weights</a:t>
                </a:r>
                <a:r>
                  <a:rPr lang="it-IT" sz="2000" dirty="0"/>
                  <a:t> update </a:t>
                </a:r>
                <a14:m>
                  <m:oMath xmlns:m="http://schemas.openxmlformats.org/officeDocument/2006/math">
                    <m:r>
                      <a:rPr lang="it-IT" sz="2000" b="1" i="1">
                        <a:latin typeface="Cambria Math" panose="02040503050406030204" pitchFamily="18" charset="0"/>
                      </a:rPr>
                      <m:t>𝒘</m:t>
                    </m:r>
                  </m:oMath>
                </a14:m>
                <a:endParaRPr lang="it-IT" sz="2000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4CFDEF92-E4EE-3644-A079-01D09E482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1950" y="4613375"/>
                <a:ext cx="4210050" cy="400110"/>
              </a:xfrm>
              <a:prstGeom prst="rect">
                <a:avLst/>
              </a:prstGeom>
              <a:blipFill>
                <a:blip r:embed="rId7"/>
                <a:stretch>
                  <a:fillRect t="-7692" b="-2923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onnettore 2 9">
            <a:extLst>
              <a:ext uri="{FF2B5EF4-FFF2-40B4-BE49-F238E27FC236}">
                <a16:creationId xmlns:a16="http://schemas.microsoft.com/office/drawing/2014/main" id="{AD788616-2188-82CC-B5FE-FA2F737C4448}"/>
              </a:ext>
            </a:extLst>
          </p:cNvPr>
          <p:cNvCxnSpPr/>
          <p:nvPr/>
        </p:nvCxnSpPr>
        <p:spPr>
          <a:xfrm>
            <a:off x="10086975" y="3803429"/>
            <a:ext cx="0" cy="774086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Connettore 2 10">
            <a:extLst>
              <a:ext uri="{FF2B5EF4-FFF2-40B4-BE49-F238E27FC236}">
                <a16:creationId xmlns:a16="http://schemas.microsoft.com/office/drawing/2014/main" id="{3518E37E-ABFD-7177-0AD1-B40137CEB218}"/>
              </a:ext>
            </a:extLst>
          </p:cNvPr>
          <p:cNvCxnSpPr/>
          <p:nvPr/>
        </p:nvCxnSpPr>
        <p:spPr>
          <a:xfrm flipH="1">
            <a:off x="10103644" y="5335430"/>
            <a:ext cx="2381" cy="41684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BE688706-2075-3EC4-F59E-CAF2A8ACE49E}"/>
              </a:ext>
            </a:extLst>
          </p:cNvPr>
          <p:cNvCxnSpPr/>
          <p:nvPr/>
        </p:nvCxnSpPr>
        <p:spPr>
          <a:xfrm flipH="1" flipV="1">
            <a:off x="7869293" y="5753119"/>
            <a:ext cx="2244119" cy="1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2012EE24-BB29-C455-3EF3-189E5084F868}"/>
              </a:ext>
            </a:extLst>
          </p:cNvPr>
          <p:cNvSpPr txBox="1"/>
          <p:nvPr/>
        </p:nvSpPr>
        <p:spPr>
          <a:xfrm>
            <a:off x="4427968" y="5553064"/>
            <a:ext cx="33079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it-IT" sz="2000" dirty="0"/>
              <a:t>New </a:t>
            </a:r>
            <a:r>
              <a:rPr lang="it-IT" sz="2000" dirty="0" err="1"/>
              <a:t>predictions</a:t>
            </a:r>
            <a:r>
              <a:rPr lang="it-IT" sz="2000" dirty="0"/>
              <a:t> </a:t>
            </a:r>
            <a:r>
              <a:rPr lang="it-IT" sz="2000" dirty="0" err="1"/>
              <a:t>computed</a:t>
            </a:r>
            <a:endParaRPr lang="it-IT" sz="2000" dirty="0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842EC6FE-3D3D-D0F5-384A-DAC8E8FF468D}"/>
              </a:ext>
            </a:extLst>
          </p:cNvPr>
          <p:cNvCxnSpPr>
            <a:cxnSpLocks/>
          </p:cNvCxnSpPr>
          <p:nvPr/>
        </p:nvCxnSpPr>
        <p:spPr>
          <a:xfrm>
            <a:off x="412199" y="5789149"/>
            <a:ext cx="3889158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Connettore 2 15">
            <a:extLst>
              <a:ext uri="{FF2B5EF4-FFF2-40B4-BE49-F238E27FC236}">
                <a16:creationId xmlns:a16="http://schemas.microsoft.com/office/drawing/2014/main" id="{EE4C0807-F6D3-7FF8-C48F-87E315299438}"/>
              </a:ext>
            </a:extLst>
          </p:cNvPr>
          <p:cNvCxnSpPr/>
          <p:nvPr/>
        </p:nvCxnSpPr>
        <p:spPr>
          <a:xfrm flipH="1" flipV="1">
            <a:off x="421725" y="4884980"/>
            <a:ext cx="4518" cy="896642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6BE32A2F-44AB-B02D-3F4C-BCAFDCADB553}"/>
              </a:ext>
            </a:extLst>
          </p:cNvPr>
          <p:cNvSpPr txBox="1"/>
          <p:nvPr/>
        </p:nvSpPr>
        <p:spPr>
          <a:xfrm>
            <a:off x="8162002" y="4874838"/>
            <a:ext cx="38499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600" dirty="0"/>
              <a:t>(Loss </a:t>
            </a:r>
            <a:r>
              <a:rPr lang="it-IT" sz="1600" dirty="0" err="1"/>
              <a:t>function</a:t>
            </a:r>
            <a:r>
              <a:rPr lang="it-IT" sz="1600" dirty="0"/>
              <a:t> </a:t>
            </a:r>
            <a:r>
              <a:rPr lang="it-IT" sz="1600" dirty="0" err="1"/>
              <a:t>minimized</a:t>
            </a:r>
            <a:r>
              <a:rPr lang="it-IT" sz="1600" dirty="0"/>
              <a:t>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309F898-4784-D7B4-4E9B-E70BE0076864}"/>
              </a:ext>
            </a:extLst>
          </p:cNvPr>
          <p:cNvSpPr txBox="1"/>
          <p:nvPr/>
        </p:nvSpPr>
        <p:spPr>
          <a:xfrm>
            <a:off x="426546" y="2725888"/>
            <a:ext cx="21688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x input</a:t>
            </a:r>
          </a:p>
          <a:p>
            <a:pPr algn="ctr"/>
            <a:r>
              <a:rPr lang="it-IT" dirty="0"/>
              <a:t>y label</a:t>
            </a:r>
          </a:p>
          <a:p>
            <a:pPr algn="ctr"/>
            <a:r>
              <a:rPr lang="it-IT" dirty="0" err="1"/>
              <a:t>Idetify</a:t>
            </a:r>
            <a:r>
              <a:rPr lang="it-IT" dirty="0"/>
              <a:t> the class</a:t>
            </a:r>
          </a:p>
          <a:p>
            <a:pPr algn="ctr"/>
            <a:r>
              <a:rPr lang="it-IT" sz="1600" dirty="0"/>
              <a:t>(</a:t>
            </a:r>
            <a:r>
              <a:rPr lang="it-IT" sz="1600" dirty="0" err="1"/>
              <a:t>Desired</a:t>
            </a:r>
            <a:r>
              <a:rPr lang="it-IT" sz="1600" dirty="0"/>
              <a:t> output)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64D513A-6D62-5B1A-DAF6-74E73DB1C3FA}"/>
              </a:ext>
            </a:extLst>
          </p:cNvPr>
          <p:cNvSpPr txBox="1"/>
          <p:nvPr/>
        </p:nvSpPr>
        <p:spPr>
          <a:xfrm>
            <a:off x="767304" y="5065588"/>
            <a:ext cx="143158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Model</a:t>
            </a:r>
          </a:p>
          <a:p>
            <a:pPr algn="ctr"/>
            <a:r>
              <a:rPr lang="it-IT" sz="1600" b="1" dirty="0"/>
              <a:t>w</a:t>
            </a:r>
            <a:r>
              <a:rPr lang="it-IT" sz="1600" dirty="0"/>
              <a:t> </a:t>
            </a:r>
            <a:r>
              <a:rPr lang="it-IT" sz="1600" dirty="0" err="1"/>
              <a:t>parameters</a:t>
            </a:r>
            <a:endParaRPr lang="it-IT" sz="1600" dirty="0"/>
          </a:p>
        </p:txBody>
      </p:sp>
      <p:cxnSp>
        <p:nvCxnSpPr>
          <p:cNvPr id="21" name="Connettore 2 20">
            <a:extLst>
              <a:ext uri="{FF2B5EF4-FFF2-40B4-BE49-F238E27FC236}">
                <a16:creationId xmlns:a16="http://schemas.microsoft.com/office/drawing/2014/main" id="{AB96648B-4684-E3F1-8EF8-CFF04E178784}"/>
              </a:ext>
            </a:extLst>
          </p:cNvPr>
          <p:cNvCxnSpPr/>
          <p:nvPr/>
        </p:nvCxnSpPr>
        <p:spPr>
          <a:xfrm>
            <a:off x="412199" y="4897264"/>
            <a:ext cx="313160" cy="0"/>
          </a:xfrm>
          <a:prstGeom prst="straightConnector1">
            <a:avLst/>
          </a:prstGeom>
          <a:ln w="25400" cap="flat" cmpd="sng" algn="ctr">
            <a:solidFill>
              <a:srgbClr val="1F429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/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(·,</m:t>
                      </m:r>
                      <m:sSup>
                        <m:sSupPr>
                          <m:ctrlP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it-IT" sz="20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it-IT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𝑓𝑖𝑛𝑎𝑙</m:t>
                          </m:r>
                        </m:sup>
                      </m:sSup>
                      <m:r>
                        <a:rPr lang="it-IT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CasellaDiTesto 22">
                <a:extLst>
                  <a:ext uri="{FF2B5EF4-FFF2-40B4-BE49-F238E27FC236}">
                    <a16:creationId xmlns:a16="http://schemas.microsoft.com/office/drawing/2014/main" id="{DD4B0780-039B-85D5-D072-A01B0A5F38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7028" y="6334165"/>
                <a:ext cx="1664162" cy="410112"/>
              </a:xfrm>
              <a:prstGeom prst="rect">
                <a:avLst/>
              </a:prstGeom>
              <a:blipFill>
                <a:blip r:embed="rId8"/>
                <a:stretch>
                  <a:fillRect b="-17910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68ABCB28-D271-5889-DB75-22BCA3489F36}"/>
              </a:ext>
            </a:extLst>
          </p:cNvPr>
          <p:cNvSpPr txBox="1"/>
          <p:nvPr/>
        </p:nvSpPr>
        <p:spPr>
          <a:xfrm>
            <a:off x="4505076" y="6084905"/>
            <a:ext cx="328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 err="1"/>
              <a:t>Results</a:t>
            </a:r>
            <a:r>
              <a:rPr lang="it-IT" dirty="0"/>
              <a:t> of the training </a:t>
            </a:r>
            <a:r>
              <a:rPr lang="it-IT" dirty="0" err="1"/>
              <a:t>process</a:t>
            </a:r>
            <a:endParaRPr lang="it-IT" dirty="0"/>
          </a:p>
        </p:txBody>
      </p:sp>
      <p:grpSp>
        <p:nvGrpSpPr>
          <p:cNvPr id="46" name="Gruppo 45">
            <a:extLst>
              <a:ext uri="{FF2B5EF4-FFF2-40B4-BE49-F238E27FC236}">
                <a16:creationId xmlns:a16="http://schemas.microsoft.com/office/drawing/2014/main" id="{FFFA0953-65FB-FAF2-BB5B-572473425B09}"/>
              </a:ext>
            </a:extLst>
          </p:cNvPr>
          <p:cNvGrpSpPr/>
          <p:nvPr/>
        </p:nvGrpSpPr>
        <p:grpSpPr>
          <a:xfrm>
            <a:off x="7967489" y="1508521"/>
            <a:ext cx="4224109" cy="1001551"/>
            <a:chOff x="7634679" y="1303727"/>
            <a:chExt cx="4224109" cy="1001551"/>
          </a:xfrm>
        </p:grpSpPr>
        <p:sp>
          <p:nvSpPr>
            <p:cNvPr id="26" name="CasellaDiTesto 25">
              <a:extLst>
                <a:ext uri="{FF2B5EF4-FFF2-40B4-BE49-F238E27FC236}">
                  <a16:creationId xmlns:a16="http://schemas.microsoft.com/office/drawing/2014/main" id="{B6679FE0-8400-A0C1-02FD-DA54D8F48D86}"/>
                </a:ext>
              </a:extLst>
            </p:cNvPr>
            <p:cNvSpPr txBox="1"/>
            <p:nvPr/>
          </p:nvSpPr>
          <p:spPr>
            <a:xfrm>
              <a:off x="7634679" y="1307064"/>
              <a:ext cx="73342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dirty="0"/>
                <a:t>Data</a:t>
              </a:r>
            </a:p>
          </p:txBody>
        </p:sp>
        <p:sp>
          <p:nvSpPr>
            <p:cNvPr id="27" name="CasellaDiTesto 26">
              <a:extLst>
                <a:ext uri="{FF2B5EF4-FFF2-40B4-BE49-F238E27FC236}">
                  <a16:creationId xmlns:a16="http://schemas.microsoft.com/office/drawing/2014/main" id="{994A2121-9366-32EF-1EF3-B2F20F0829F3}"/>
                </a:ext>
              </a:extLst>
            </p:cNvPr>
            <p:cNvSpPr txBox="1"/>
            <p:nvPr/>
          </p:nvSpPr>
          <p:spPr>
            <a:xfrm>
              <a:off x="8334164" y="1935946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</a:t>
              </a:r>
              <a:endParaRPr lang="it-IT" sz="300" dirty="0"/>
            </a:p>
          </p:txBody>
        </p:sp>
        <p:sp>
          <p:nvSpPr>
            <p:cNvPr id="28" name="CasellaDiTesto 27">
              <a:extLst>
                <a:ext uri="{FF2B5EF4-FFF2-40B4-BE49-F238E27FC236}">
                  <a16:creationId xmlns:a16="http://schemas.microsoft.com/office/drawing/2014/main" id="{EF9A545A-987F-645E-AE65-FC1692FF425F}"/>
                </a:ext>
              </a:extLst>
            </p:cNvPr>
            <p:cNvSpPr txBox="1"/>
            <p:nvPr/>
          </p:nvSpPr>
          <p:spPr>
            <a:xfrm>
              <a:off x="10422593" y="1307064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Loss</a:t>
              </a:r>
              <a:endParaRPr lang="it-IT" sz="300" dirty="0"/>
            </a:p>
          </p:txBody>
        </p:sp>
        <p:sp>
          <p:nvSpPr>
            <p:cNvPr id="29" name="CasellaDiTesto 28">
              <a:extLst>
                <a:ext uri="{FF2B5EF4-FFF2-40B4-BE49-F238E27FC236}">
                  <a16:creationId xmlns:a16="http://schemas.microsoft.com/office/drawing/2014/main" id="{43CD6419-EAF7-0AB1-DFB0-0A533E2B6F93}"/>
                </a:ext>
              </a:extLst>
            </p:cNvPr>
            <p:cNvSpPr txBox="1"/>
            <p:nvPr/>
          </p:nvSpPr>
          <p:spPr>
            <a:xfrm>
              <a:off x="10096662" y="1935769"/>
              <a:ext cx="17621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en-CA" noProof="0" dirty="0"/>
                <a:t>Weight</a:t>
              </a:r>
              <a:r>
                <a:rPr lang="it-IT" dirty="0"/>
                <a:t> update</a:t>
              </a:r>
              <a:endParaRPr lang="it-IT" sz="300" dirty="0"/>
            </a:p>
          </p:txBody>
        </p:sp>
        <p:cxnSp>
          <p:nvCxnSpPr>
            <p:cNvPr id="30" name="Connettore 2 29">
              <a:extLst>
                <a:ext uri="{FF2B5EF4-FFF2-40B4-BE49-F238E27FC236}">
                  <a16:creationId xmlns:a16="http://schemas.microsoft.com/office/drawing/2014/main" id="{2A86D111-24C5-CE19-5201-9DDBA63CA229}"/>
                </a:ext>
              </a:extLst>
            </p:cNvPr>
            <p:cNvCxnSpPr>
              <a:cxnSpLocks/>
              <a:stCxn id="28" idx="2"/>
              <a:endCxn id="29" idx="0"/>
            </p:cNvCxnSpPr>
            <p:nvPr/>
          </p:nvCxnSpPr>
          <p:spPr>
            <a:xfrm flipH="1">
              <a:off x="10977725" y="1676396"/>
              <a:ext cx="1" cy="25937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Connettore 2 30">
              <a:extLst>
                <a:ext uri="{FF2B5EF4-FFF2-40B4-BE49-F238E27FC236}">
                  <a16:creationId xmlns:a16="http://schemas.microsoft.com/office/drawing/2014/main" id="{11EA17EB-0C27-D9B7-9DDC-57CF76AEA872}"/>
                </a:ext>
              </a:extLst>
            </p:cNvPr>
            <p:cNvCxnSpPr>
              <a:cxnSpLocks/>
              <a:stCxn id="29" idx="1"/>
              <a:endCxn id="27" idx="3"/>
            </p:cNvCxnSpPr>
            <p:nvPr/>
          </p:nvCxnSpPr>
          <p:spPr>
            <a:xfrm flipH="1">
              <a:off x="9444429" y="2120435"/>
              <a:ext cx="652233" cy="1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D5781E7B-C6E4-B108-4ECD-3B785C126F61}"/>
                </a:ext>
              </a:extLst>
            </p:cNvPr>
            <p:cNvCxnSpPr>
              <a:cxnSpLocks/>
              <a:stCxn id="26" idx="3"/>
              <a:endCxn id="34" idx="1"/>
            </p:cNvCxnSpPr>
            <p:nvPr/>
          </p:nvCxnSpPr>
          <p:spPr>
            <a:xfrm flipV="1">
              <a:off x="8368104" y="1488393"/>
              <a:ext cx="516832" cy="33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Connettore a gomito 32">
              <a:extLst>
                <a:ext uri="{FF2B5EF4-FFF2-40B4-BE49-F238E27FC236}">
                  <a16:creationId xmlns:a16="http://schemas.microsoft.com/office/drawing/2014/main" id="{3AB70CE9-E6F9-0922-D938-862C8F80896D}"/>
                </a:ext>
              </a:extLst>
            </p:cNvPr>
            <p:cNvCxnSpPr>
              <a:cxnSpLocks/>
              <a:stCxn id="27" idx="0"/>
              <a:endCxn id="34" idx="1"/>
            </p:cNvCxnSpPr>
            <p:nvPr/>
          </p:nvCxnSpPr>
          <p:spPr>
            <a:xfrm rot="16200000" flipV="1">
              <a:off x="8663341" y="1709989"/>
              <a:ext cx="447553" cy="4361"/>
            </a:xfrm>
            <a:prstGeom prst="bentConnector4">
              <a:avLst>
                <a:gd name="adj1" fmla="val 29369"/>
                <a:gd name="adj2" fmla="val 8545563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CasellaDiTesto 33">
              <a:extLst>
                <a:ext uri="{FF2B5EF4-FFF2-40B4-BE49-F238E27FC236}">
                  <a16:creationId xmlns:a16="http://schemas.microsoft.com/office/drawing/2014/main" id="{1262CA71-A10A-3EB2-2028-5DA7AA47DD3F}"/>
                </a:ext>
              </a:extLst>
            </p:cNvPr>
            <p:cNvSpPr txBox="1"/>
            <p:nvPr/>
          </p:nvSpPr>
          <p:spPr>
            <a:xfrm>
              <a:off x="8884936" y="1303727"/>
              <a:ext cx="1316208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 err="1"/>
                <a:t>Predictions</a:t>
              </a:r>
              <a:endParaRPr lang="it-IT" sz="300" dirty="0"/>
            </a:p>
          </p:txBody>
        </p:sp>
        <p:cxnSp>
          <p:nvCxnSpPr>
            <p:cNvPr id="35" name="Connettore 2 34">
              <a:extLst>
                <a:ext uri="{FF2B5EF4-FFF2-40B4-BE49-F238E27FC236}">
                  <a16:creationId xmlns:a16="http://schemas.microsoft.com/office/drawing/2014/main" id="{4FF2B70D-8C46-152D-0B13-029973883993}"/>
                </a:ext>
              </a:extLst>
            </p:cNvPr>
            <p:cNvCxnSpPr>
              <a:cxnSpLocks/>
              <a:stCxn id="34" idx="3"/>
              <a:endCxn id="28" idx="1"/>
            </p:cNvCxnSpPr>
            <p:nvPr/>
          </p:nvCxnSpPr>
          <p:spPr>
            <a:xfrm>
              <a:off x="10201144" y="1488393"/>
              <a:ext cx="221449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/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it-IT" sz="1800" dirty="0" err="1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Predictions</a:t>
                </a:r>
                <a:endParaRPr lang="it-IT" sz="18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it-IT" sz="1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it-IT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it-IT" sz="1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sz="18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it-IT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it-IT" sz="18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it-IT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it-IT" sz="1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CasellaDiTesto 47">
                <a:extLst>
                  <a:ext uri="{FF2B5EF4-FFF2-40B4-BE49-F238E27FC236}">
                    <a16:creationId xmlns:a16="http://schemas.microsoft.com/office/drawing/2014/main" id="{0C2C0795-1215-C7F1-C0F1-E4B64E108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6693" y="3061187"/>
                <a:ext cx="1661410" cy="646331"/>
              </a:xfrm>
              <a:prstGeom prst="rect">
                <a:avLst/>
              </a:prstGeom>
              <a:blipFill>
                <a:blip r:embed="rId9"/>
                <a:stretch>
                  <a:fillRect t="-5660" b="-849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ttangolo 41">
            <a:extLst>
              <a:ext uri="{FF2B5EF4-FFF2-40B4-BE49-F238E27FC236}">
                <a16:creationId xmlns:a16="http://schemas.microsoft.com/office/drawing/2014/main" id="{444F0270-366D-691C-D7B9-987520531D7F}"/>
              </a:ext>
            </a:extLst>
          </p:cNvPr>
          <p:cNvSpPr/>
          <p:nvPr/>
        </p:nvSpPr>
        <p:spPr>
          <a:xfrm>
            <a:off x="91010" y="349397"/>
            <a:ext cx="1514764" cy="15483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6" name="Immagine 35">
            <a:extLst>
              <a:ext uri="{FF2B5EF4-FFF2-40B4-BE49-F238E27FC236}">
                <a16:creationId xmlns:a16="http://schemas.microsoft.com/office/drawing/2014/main" id="{6FE84D75-3AEA-29A5-A1EE-40B4CB23C19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853"/>
            <a:ext cx="1033118" cy="1033118"/>
          </a:xfrm>
          <a:prstGeom prst="rect">
            <a:avLst/>
          </a:prstGeom>
        </p:spPr>
      </p:pic>
      <p:pic>
        <p:nvPicPr>
          <p:cNvPr id="40" name="Immagine 39">
            <a:extLst>
              <a:ext uri="{FF2B5EF4-FFF2-40B4-BE49-F238E27FC236}">
                <a16:creationId xmlns:a16="http://schemas.microsoft.com/office/drawing/2014/main" id="{6F418247-0417-BEC0-51E8-AD4BEA87820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0" y="1138454"/>
            <a:ext cx="1012854" cy="1054195"/>
          </a:xfrm>
          <a:prstGeom prst="rect">
            <a:avLst/>
          </a:prstGeom>
        </p:spPr>
      </p:pic>
      <p:cxnSp>
        <p:nvCxnSpPr>
          <p:cNvPr id="44" name="Connettore 2 43">
            <a:extLst>
              <a:ext uri="{FF2B5EF4-FFF2-40B4-BE49-F238E27FC236}">
                <a16:creationId xmlns:a16="http://schemas.microsoft.com/office/drawing/2014/main" id="{878B4E6F-F9E3-758D-3E05-0E1EFE57A645}"/>
              </a:ext>
            </a:extLst>
          </p:cNvPr>
          <p:cNvCxnSpPr>
            <a:cxnSpLocks/>
          </p:cNvCxnSpPr>
          <p:nvPr/>
        </p:nvCxnSpPr>
        <p:spPr>
          <a:xfrm>
            <a:off x="1139103" y="1065997"/>
            <a:ext cx="403814" cy="5706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tangolo 49">
            <a:extLst>
              <a:ext uri="{FF2B5EF4-FFF2-40B4-BE49-F238E27FC236}">
                <a16:creationId xmlns:a16="http://schemas.microsoft.com/office/drawing/2014/main" id="{E962996A-9FEC-6476-EB8E-F37CCB7A1BDC}"/>
              </a:ext>
            </a:extLst>
          </p:cNvPr>
          <p:cNvSpPr/>
          <p:nvPr/>
        </p:nvSpPr>
        <p:spPr>
          <a:xfrm>
            <a:off x="3052380" y="940382"/>
            <a:ext cx="240550" cy="3169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cxnSp>
        <p:nvCxnSpPr>
          <p:cNvPr id="52" name="Connettore 2 51">
            <a:extLst>
              <a:ext uri="{FF2B5EF4-FFF2-40B4-BE49-F238E27FC236}">
                <a16:creationId xmlns:a16="http://schemas.microsoft.com/office/drawing/2014/main" id="{220FA8B7-6BA2-3616-FC20-F4E16F9C3BA6}"/>
              </a:ext>
            </a:extLst>
          </p:cNvPr>
          <p:cNvCxnSpPr>
            <a:cxnSpLocks/>
          </p:cNvCxnSpPr>
          <p:nvPr/>
        </p:nvCxnSpPr>
        <p:spPr>
          <a:xfrm>
            <a:off x="3119758" y="1170868"/>
            <a:ext cx="429319" cy="170442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ttore 2 48">
            <a:extLst>
              <a:ext uri="{FF2B5EF4-FFF2-40B4-BE49-F238E27FC236}">
                <a16:creationId xmlns:a16="http://schemas.microsoft.com/office/drawing/2014/main" id="{097AD262-FCDD-101B-73A4-757D438F94E4}"/>
              </a:ext>
            </a:extLst>
          </p:cNvPr>
          <p:cNvCxnSpPr>
            <a:cxnSpLocks/>
          </p:cNvCxnSpPr>
          <p:nvPr/>
        </p:nvCxnSpPr>
        <p:spPr>
          <a:xfrm flipV="1">
            <a:off x="3118373" y="914102"/>
            <a:ext cx="411031" cy="103065"/>
          </a:xfrm>
          <a:prstGeom prst="straightConnector1">
            <a:avLst/>
          </a:prstGeom>
          <a:ln w="28575">
            <a:solidFill>
              <a:srgbClr val="1F429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87295315-461C-AA9B-D94F-4A398204D382}"/>
              </a:ext>
            </a:extLst>
          </p:cNvPr>
          <p:cNvSpPr txBox="1"/>
          <p:nvPr/>
        </p:nvSpPr>
        <p:spPr>
          <a:xfrm>
            <a:off x="3704670" y="653675"/>
            <a:ext cx="6292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CAT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A61E58F9-D9C8-CBD9-DCC1-0043A9A3C406}"/>
              </a:ext>
            </a:extLst>
          </p:cNvPr>
          <p:cNvSpPr txBox="1"/>
          <p:nvPr/>
        </p:nvSpPr>
        <p:spPr>
          <a:xfrm>
            <a:off x="3672409" y="125370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DOG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FF01050-B6CF-17D5-A8C8-6313FBC34E7E}"/>
              </a:ext>
            </a:extLst>
          </p:cNvPr>
          <p:cNvSpPr txBox="1"/>
          <p:nvPr/>
        </p:nvSpPr>
        <p:spPr>
          <a:xfrm>
            <a:off x="4333881" y="655817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[0]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DFCA97E-3FC4-C8F1-2E3C-B232A476F2CA}"/>
              </a:ext>
            </a:extLst>
          </p:cNvPr>
          <p:cNvSpPr txBox="1"/>
          <p:nvPr/>
        </p:nvSpPr>
        <p:spPr>
          <a:xfrm>
            <a:off x="4345485" y="124200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[1]</a:t>
            </a:r>
          </a:p>
        </p:txBody>
      </p:sp>
      <p:sp>
        <p:nvSpPr>
          <p:cNvPr id="38" name="Ovale 37">
            <a:extLst>
              <a:ext uri="{FF2B5EF4-FFF2-40B4-BE49-F238E27FC236}">
                <a16:creationId xmlns:a16="http://schemas.microsoft.com/office/drawing/2014/main" id="{5252C2A7-6183-8465-81AB-EA5DFC34632A}"/>
              </a:ext>
            </a:extLst>
          </p:cNvPr>
          <p:cNvSpPr/>
          <p:nvPr/>
        </p:nvSpPr>
        <p:spPr>
          <a:xfrm>
            <a:off x="1623251" y="75232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9" name="Ovale 38">
            <a:extLst>
              <a:ext uri="{FF2B5EF4-FFF2-40B4-BE49-F238E27FC236}">
                <a16:creationId xmlns:a16="http://schemas.microsoft.com/office/drawing/2014/main" id="{0FA57FC2-0BC5-F4E3-544B-834772085799}"/>
              </a:ext>
            </a:extLst>
          </p:cNvPr>
          <p:cNvSpPr/>
          <p:nvPr/>
        </p:nvSpPr>
        <p:spPr>
          <a:xfrm>
            <a:off x="1623251" y="101073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3" name="Ovale 42">
            <a:extLst>
              <a:ext uri="{FF2B5EF4-FFF2-40B4-BE49-F238E27FC236}">
                <a16:creationId xmlns:a16="http://schemas.microsoft.com/office/drawing/2014/main" id="{6EF5C3FD-2D6B-5B20-6BEF-519505AE00CA}"/>
              </a:ext>
            </a:extLst>
          </p:cNvPr>
          <p:cNvSpPr/>
          <p:nvPr/>
        </p:nvSpPr>
        <p:spPr>
          <a:xfrm>
            <a:off x="1623251" y="124125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8" name="Ovale 57">
            <a:extLst>
              <a:ext uri="{FF2B5EF4-FFF2-40B4-BE49-F238E27FC236}">
                <a16:creationId xmlns:a16="http://schemas.microsoft.com/office/drawing/2014/main" id="{2FF8E1AD-477B-B7DC-8D9A-7BE106039811}"/>
              </a:ext>
            </a:extLst>
          </p:cNvPr>
          <p:cNvSpPr/>
          <p:nvPr/>
        </p:nvSpPr>
        <p:spPr>
          <a:xfrm>
            <a:off x="2108893" y="88599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9" name="Ovale 58">
            <a:extLst>
              <a:ext uri="{FF2B5EF4-FFF2-40B4-BE49-F238E27FC236}">
                <a16:creationId xmlns:a16="http://schemas.microsoft.com/office/drawing/2014/main" id="{B1237167-182A-C512-D239-CBB916C99650}"/>
              </a:ext>
            </a:extLst>
          </p:cNvPr>
          <p:cNvSpPr/>
          <p:nvPr/>
        </p:nvSpPr>
        <p:spPr>
          <a:xfrm>
            <a:off x="2102079" y="1126028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0" name="Ovale 59">
            <a:extLst>
              <a:ext uri="{FF2B5EF4-FFF2-40B4-BE49-F238E27FC236}">
                <a16:creationId xmlns:a16="http://schemas.microsoft.com/office/drawing/2014/main" id="{6285E3A1-81E2-7395-C727-7908FF55DC73}"/>
              </a:ext>
            </a:extLst>
          </p:cNvPr>
          <p:cNvSpPr/>
          <p:nvPr/>
        </p:nvSpPr>
        <p:spPr>
          <a:xfrm>
            <a:off x="2101167" y="1360315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Ovale 60">
            <a:extLst>
              <a:ext uri="{FF2B5EF4-FFF2-40B4-BE49-F238E27FC236}">
                <a16:creationId xmlns:a16="http://schemas.microsoft.com/office/drawing/2014/main" id="{B1E22940-0BC5-44DF-81E2-F142E4440CBF}"/>
              </a:ext>
            </a:extLst>
          </p:cNvPr>
          <p:cNvSpPr/>
          <p:nvPr/>
        </p:nvSpPr>
        <p:spPr>
          <a:xfrm>
            <a:off x="2108893" y="645846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6" name="Ovale 65">
            <a:extLst>
              <a:ext uri="{FF2B5EF4-FFF2-40B4-BE49-F238E27FC236}">
                <a16:creationId xmlns:a16="http://schemas.microsoft.com/office/drawing/2014/main" id="{1F57BA00-62F4-193D-E73F-827C49852ABB}"/>
              </a:ext>
            </a:extLst>
          </p:cNvPr>
          <p:cNvSpPr/>
          <p:nvPr/>
        </p:nvSpPr>
        <p:spPr>
          <a:xfrm>
            <a:off x="2850740" y="99987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4242FB7-0293-E576-A214-4B82A9B0F11C}"/>
              </a:ext>
            </a:extLst>
          </p:cNvPr>
          <p:cNvSpPr/>
          <p:nvPr/>
        </p:nvSpPr>
        <p:spPr>
          <a:xfrm>
            <a:off x="2505279" y="754950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8" name="Ovale 67">
            <a:extLst>
              <a:ext uri="{FF2B5EF4-FFF2-40B4-BE49-F238E27FC236}">
                <a16:creationId xmlns:a16="http://schemas.microsoft.com/office/drawing/2014/main" id="{144F964E-4EB2-B405-0133-AB77B7FA766A}"/>
              </a:ext>
            </a:extLst>
          </p:cNvPr>
          <p:cNvSpPr/>
          <p:nvPr/>
        </p:nvSpPr>
        <p:spPr>
          <a:xfrm>
            <a:off x="2501469" y="1017167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9" name="Ovale 68">
            <a:extLst>
              <a:ext uri="{FF2B5EF4-FFF2-40B4-BE49-F238E27FC236}">
                <a16:creationId xmlns:a16="http://schemas.microsoft.com/office/drawing/2014/main" id="{25E35D3D-AE57-4B05-BABF-5332F26FD78C}"/>
              </a:ext>
            </a:extLst>
          </p:cNvPr>
          <p:cNvSpPr/>
          <p:nvPr/>
        </p:nvSpPr>
        <p:spPr>
          <a:xfrm>
            <a:off x="2504009" y="1240072"/>
            <a:ext cx="180000" cy="180000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749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" grpId="0"/>
      <p:bldP spid="4" grpId="0"/>
      <p:bldP spid="5" grpId="0"/>
      <p:bldP spid="9" grpId="0"/>
      <p:bldP spid="14" grpId="0"/>
      <p:bldP spid="18" grpId="0"/>
      <p:bldP spid="19" grpId="0"/>
      <p:bldP spid="20" grpId="0"/>
      <p:bldP spid="23" grpId="0"/>
      <p:bldP spid="24" grpId="0"/>
      <p:bldP spid="48" grpId="0"/>
      <p:bldP spid="54" grpId="0"/>
      <p:bldP spid="55" grpId="0"/>
      <p:bldP spid="2" grpId="0"/>
      <p:bldP spid="22" grpId="0"/>
      <p:bldP spid="38" grpId="0" animBg="1"/>
      <p:bldP spid="39" grpId="0" animBg="1"/>
      <p:bldP spid="43" grpId="0" animBg="1"/>
      <p:bldP spid="58" grpId="0" animBg="1"/>
      <p:bldP spid="59" grpId="0" animBg="1"/>
      <p:bldP spid="60" grpId="0" animBg="1"/>
      <p:bldP spid="61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AAE7C8F5-99C1-8A20-5965-484531401B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278193" y="1345517"/>
            <a:ext cx="3742147" cy="4166966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6077310E-E5C2-C975-73E2-66AD0FB564F1}"/>
              </a:ext>
            </a:extLst>
          </p:cNvPr>
          <p:cNvSpPr txBox="1"/>
          <p:nvPr/>
        </p:nvSpPr>
        <p:spPr>
          <a:xfrm>
            <a:off x="3027130" y="111441"/>
            <a:ext cx="5402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B9964B3-637F-16D1-3F17-426BA5B851E8}"/>
              </a:ext>
            </a:extLst>
          </p:cNvPr>
          <p:cNvSpPr txBox="1"/>
          <p:nvPr/>
        </p:nvSpPr>
        <p:spPr>
          <a:xfrm>
            <a:off x="0" y="1166842"/>
            <a:ext cx="796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Deep learning frameworks are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software libraries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that make it easier to design, build, train, and deploy deep learning models, especially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neural networks.</a:t>
            </a: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Instead of starting from scratch and writing low-level code to handle things like matrix operations or GPU acceleration, these frameworks provide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ready-made tools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51468C7-6E8A-C15C-B352-DBE29E710FA6}"/>
              </a:ext>
            </a:extLst>
          </p:cNvPr>
          <p:cNvSpPr txBox="1"/>
          <p:nvPr/>
        </p:nvSpPr>
        <p:spPr>
          <a:xfrm>
            <a:off x="-1" y="3224102"/>
            <a:ext cx="75584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None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They help in: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Building models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layer by layer (e.g., feedforward, convolutional or recurrent)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Training models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efficiently using CPUs or GPUs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Visualizing progress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(e.g., accuracy and loss over time)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Saving and deploying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trained models to web apps, mobile devices, or servers</a:t>
            </a:r>
          </a:p>
          <a:p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53AB608-5C0F-C615-EFA3-B978EA46ADE7}"/>
              </a:ext>
            </a:extLst>
          </p:cNvPr>
          <p:cNvSpPr txBox="1"/>
          <p:nvPr/>
        </p:nvSpPr>
        <p:spPr>
          <a:xfrm>
            <a:off x="-1" y="5184136"/>
            <a:ext cx="7962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Different frameworks have different strengths. Some are great for beginners, while others offer more control and flexibility for research or large-scale applications.</a:t>
            </a:r>
            <a:endParaRPr lang="it-IT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882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Immagine 13">
            <a:extLst>
              <a:ext uri="{FF2B5EF4-FFF2-40B4-BE49-F238E27FC236}">
                <a16:creationId xmlns:a16="http://schemas.microsoft.com/office/drawing/2014/main" id="{DCE506F5-BDE4-CCF8-DDE0-1FC0496A8B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24926" y="1496927"/>
            <a:ext cx="3742147" cy="416696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1D61E142-0DEE-C6A8-3C03-8583984C2993}"/>
              </a:ext>
            </a:extLst>
          </p:cNvPr>
          <p:cNvSpPr txBox="1"/>
          <p:nvPr/>
        </p:nvSpPr>
        <p:spPr>
          <a:xfrm>
            <a:off x="438970" y="1811535"/>
            <a:ext cx="3628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Can model Complex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so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Quite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Easy visualization tools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Most popular in the Industry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F9DDECF-CB24-95ED-8790-8C3EB074D8B5}"/>
              </a:ext>
            </a:extLst>
          </p:cNvPr>
          <p:cNvSpPr txBox="1"/>
          <p:nvPr/>
        </p:nvSpPr>
        <p:spPr>
          <a:xfrm>
            <a:off x="8321769" y="1722755"/>
            <a:ext cx="370838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High-Level API (it is a TF interface)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Basic</a:t>
            </a: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Very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Limited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Best choice for newbies 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E69F7108-0C5A-4E66-6385-66CB3D3BC5DE}"/>
              </a:ext>
            </a:extLst>
          </p:cNvPr>
          <p:cNvSpPr txBox="1"/>
          <p:nvPr/>
        </p:nvSpPr>
        <p:spPr>
          <a:xfrm>
            <a:off x="465941" y="4142508"/>
            <a:ext cx="36283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Can model Complex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so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Very Flexible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Needs more lines of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Most po</a:t>
            </a:r>
            <a:r>
              <a:rPr lang="en-ZW" dirty="0" err="1">
                <a:latin typeface="Calibri" panose="020F0502020204030204" pitchFamily="34" charset="0"/>
                <a:cs typeface="Calibri" panose="020F0502020204030204" pitchFamily="34" charset="0"/>
              </a:rPr>
              <a:t>pular</a:t>
            </a:r>
            <a:r>
              <a:rPr lang="en-ZW" dirty="0">
                <a:latin typeface="Calibri" panose="020F0502020204030204" pitchFamily="34" charset="0"/>
                <a:cs typeface="Calibri" panose="020F0502020204030204" pitchFamily="34" charset="0"/>
              </a:rPr>
              <a:t> in Academia</a:t>
            </a:r>
            <a:endParaRPr lang="en-ZW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A9F40B5-A44A-9E27-33A0-EF09882EA9A2}"/>
              </a:ext>
            </a:extLst>
          </p:cNvPr>
          <p:cNvSpPr txBox="1"/>
          <p:nvPr/>
        </p:nvSpPr>
        <p:spPr>
          <a:xfrm>
            <a:off x="8383391" y="4142508"/>
            <a:ext cx="270958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a proper DLF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Not free (needs license)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Specialized toolboxes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Quite 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W" noProof="0" dirty="0">
                <a:latin typeface="Calibri" panose="020F0502020204030204" pitchFamily="34" charset="0"/>
                <a:cs typeface="Calibri" panose="020F0502020204030204" pitchFamily="34" charset="0"/>
              </a:rPr>
              <a:t>Limited Flexibility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2653BB1-552F-6C35-0040-8F70A0B1ECE8}"/>
              </a:ext>
            </a:extLst>
          </p:cNvPr>
          <p:cNvSpPr txBox="1"/>
          <p:nvPr/>
        </p:nvSpPr>
        <p:spPr>
          <a:xfrm>
            <a:off x="569121" y="6288815"/>
            <a:ext cx="27689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 err="1">
                <a:hlinkClick r:id="rId4"/>
              </a:rPr>
              <a:t>PyTorch</a:t>
            </a:r>
            <a:r>
              <a:rPr lang="it-IT" sz="1400" dirty="0">
                <a:hlinkClick r:id="rId4"/>
              </a:rPr>
              <a:t> vs </a:t>
            </a:r>
            <a:r>
              <a:rPr lang="it-IT" sz="1400" dirty="0" err="1">
                <a:hlinkClick r:id="rId4"/>
              </a:rPr>
              <a:t>TensorFlow</a:t>
            </a:r>
            <a:r>
              <a:rPr lang="it-IT" sz="1400" dirty="0">
                <a:hlinkClick r:id="rId4"/>
              </a:rPr>
              <a:t> vs </a:t>
            </a:r>
            <a:r>
              <a:rPr lang="it-IT" sz="1400" dirty="0" err="1">
                <a:hlinkClick r:id="rId4"/>
              </a:rPr>
              <a:t>Keras</a:t>
            </a:r>
            <a:endParaRPr lang="it-IT" sz="1400" dirty="0"/>
          </a:p>
        </p:txBody>
      </p:sp>
      <p:sp>
        <p:nvSpPr>
          <p:cNvPr id="10" name="Figura a mano libera: forma 9">
            <a:extLst>
              <a:ext uri="{FF2B5EF4-FFF2-40B4-BE49-F238E27FC236}">
                <a16:creationId xmlns:a16="http://schemas.microsoft.com/office/drawing/2014/main" id="{4DCEC9E7-7607-B2A6-1EA2-2730CEBD6361}"/>
              </a:ext>
            </a:extLst>
          </p:cNvPr>
          <p:cNvSpPr/>
          <p:nvPr/>
        </p:nvSpPr>
        <p:spPr>
          <a:xfrm>
            <a:off x="4098302" y="1350916"/>
            <a:ext cx="4053840" cy="4183380"/>
          </a:xfrm>
          <a:custGeom>
            <a:avLst/>
            <a:gdLst>
              <a:gd name="csX0" fmla="*/ 7620 w 4053840"/>
              <a:gd name="csY0" fmla="*/ 0 h 4183380"/>
              <a:gd name="csX1" fmla="*/ 0 w 4053840"/>
              <a:gd name="csY1" fmla="*/ 4152900 h 4183380"/>
              <a:gd name="csX2" fmla="*/ 1935480 w 4053840"/>
              <a:gd name="csY2" fmla="*/ 4183380 h 4183380"/>
              <a:gd name="csX3" fmla="*/ 1927860 w 4053840"/>
              <a:gd name="csY3" fmla="*/ 2301240 h 4183380"/>
              <a:gd name="csX4" fmla="*/ 4030980 w 4053840"/>
              <a:gd name="csY4" fmla="*/ 2301240 h 4183380"/>
              <a:gd name="csX5" fmla="*/ 4053840 w 4053840"/>
              <a:gd name="csY5" fmla="*/ 22860 h 4183380"/>
              <a:gd name="csX6" fmla="*/ 7620 w 4053840"/>
              <a:gd name="csY6" fmla="*/ 0 h 4183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4053840" h="4183380">
                <a:moveTo>
                  <a:pt x="7620" y="0"/>
                </a:moveTo>
                <a:lnTo>
                  <a:pt x="0" y="4152900"/>
                </a:lnTo>
                <a:lnTo>
                  <a:pt x="1935480" y="4183380"/>
                </a:lnTo>
                <a:lnTo>
                  <a:pt x="1927860" y="2301240"/>
                </a:lnTo>
                <a:lnTo>
                  <a:pt x="4030980" y="2301240"/>
                </a:lnTo>
                <a:lnTo>
                  <a:pt x="4053840" y="22860"/>
                </a:lnTo>
                <a:lnTo>
                  <a:pt x="7620" y="0"/>
                </a:lnTo>
                <a:close/>
              </a:path>
            </a:pathLst>
          </a:cu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7490BE8-9812-0023-49DE-C1BE46F8CAFC}"/>
              </a:ext>
            </a:extLst>
          </p:cNvPr>
          <p:cNvSpPr txBox="1"/>
          <p:nvPr/>
        </p:nvSpPr>
        <p:spPr>
          <a:xfrm>
            <a:off x="5093160" y="908579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Python Libraries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386C76F8-E2DB-E0D4-1CB3-DC1CDE6B1B12}"/>
              </a:ext>
            </a:extLst>
          </p:cNvPr>
          <p:cNvSpPr txBox="1"/>
          <p:nvPr/>
        </p:nvSpPr>
        <p:spPr>
          <a:xfrm>
            <a:off x="3027130" y="111441"/>
            <a:ext cx="5402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</p:spTree>
    <p:extLst>
      <p:ext uri="{BB962C8B-B14F-4D97-AF65-F5344CB8AC3E}">
        <p14:creationId xmlns:p14="http://schemas.microsoft.com/office/powerpoint/2010/main" val="726538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A2991-F4B8-1399-DDBE-685E08AF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!!Immagine 13">
            <a:extLst>
              <a:ext uri="{FF2B5EF4-FFF2-40B4-BE49-F238E27FC236}">
                <a16:creationId xmlns:a16="http://schemas.microsoft.com/office/drawing/2014/main" id="{9C14D88F-FFD2-0B38-FD73-E870AD97A8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50353" y="885015"/>
            <a:ext cx="3742147" cy="416696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FDDAD9A-BB5A-0F38-F44D-7C3D00747C55}"/>
              </a:ext>
            </a:extLst>
          </p:cNvPr>
          <p:cNvSpPr txBox="1"/>
          <p:nvPr/>
        </p:nvSpPr>
        <p:spPr>
          <a:xfrm>
            <a:off x="3027130" y="111441"/>
            <a:ext cx="54024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Deep Learning Frameworks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306BD686-EDD4-D258-A381-115A4D21EC33}"/>
              </a:ext>
            </a:extLst>
          </p:cNvPr>
          <p:cNvSpPr txBox="1"/>
          <p:nvPr/>
        </p:nvSpPr>
        <p:spPr>
          <a:xfrm>
            <a:off x="0" y="1024229"/>
            <a:ext cx="744103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b="1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is API for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algn="just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An </a:t>
            </a: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(Application Programming Interface) is a set of tools that allows two pieces of software to communicate with each other.</a:t>
            </a: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4728205A-D6A6-8782-A4E4-97F93AF37AEA}"/>
              </a:ext>
            </a:extLst>
          </p:cNvPr>
          <p:cNvSpPr/>
          <p:nvPr/>
        </p:nvSpPr>
        <p:spPr>
          <a:xfrm>
            <a:off x="7698731" y="3024087"/>
            <a:ext cx="4493269" cy="194498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2FE8BE6-2F5D-AD64-74D1-0E3B1DFEBF91}"/>
              </a:ext>
            </a:extLst>
          </p:cNvPr>
          <p:cNvSpPr txBox="1"/>
          <p:nvPr/>
        </p:nvSpPr>
        <p:spPr>
          <a:xfrm>
            <a:off x="0" y="3079916"/>
            <a:ext cx="119589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It provides a set of easy-to-use commands (functions, classes, tools)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You don’t need to understand all the complex math or hardware underneath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You just call the functions, give them your data, and they do the work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You can see it is like a bridge that connects different programs (your Python script vs deep learning framework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Tensorflow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), allowing them to exchange information and functionality without having to share source code.</a:t>
            </a:r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37973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D8D3-29C9-B85E-04BA-033FC7CB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uppo 96">
            <a:extLst>
              <a:ext uri="{FF2B5EF4-FFF2-40B4-BE49-F238E27FC236}">
                <a16:creationId xmlns:a16="http://schemas.microsoft.com/office/drawing/2014/main" id="{8E2F420A-5529-BE5C-0B35-62A4C3DA5B68}"/>
              </a:ext>
            </a:extLst>
          </p:cNvPr>
          <p:cNvGrpSpPr/>
          <p:nvPr/>
        </p:nvGrpSpPr>
        <p:grpSpPr>
          <a:xfrm>
            <a:off x="1586959" y="1655792"/>
            <a:ext cx="7428229" cy="2967089"/>
            <a:chOff x="1457569" y="1502092"/>
            <a:chExt cx="7428229" cy="2967089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6228861E-6A8B-91FF-5E03-55CBD5743C96}"/>
                </a:ext>
              </a:extLst>
            </p:cNvPr>
            <p:cNvSpPr txBox="1"/>
            <p:nvPr/>
          </p:nvSpPr>
          <p:spPr>
            <a:xfrm>
              <a:off x="1908699" y="1606859"/>
              <a:ext cx="28408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CD27DCF5-BC71-307E-06F8-A095B99BA77B}"/>
                    </a:ext>
                  </a:extLst>
                </p:cNvPr>
                <p:cNvSpPr txBox="1"/>
                <p:nvPr/>
              </p:nvSpPr>
              <p:spPr>
                <a:xfrm>
                  <a:off x="1464622" y="1502092"/>
                  <a:ext cx="488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0DE120C0-AAE1-DF17-B5B1-15AECBF33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4622" y="1502092"/>
                  <a:ext cx="48866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9877" t="-10000" b="-2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6D8915B8-888D-CBE1-F293-D1AF85E3D385}"/>
                    </a:ext>
                  </a:extLst>
                </p:cNvPr>
                <p:cNvSpPr txBox="1"/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1E79A151-1150-DB4D-FF21-1AEA75382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blipFill>
                  <a:blip r:embed="rId3"/>
                  <a:stretch>
                    <a:fillRect l="-10667" t="-1179" b="-283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91EF953F-FC7B-868F-AB4F-17CB5A2C012D}"/>
                </a:ext>
              </a:extLst>
            </p:cNvPr>
            <p:cNvSpPr/>
            <p:nvPr/>
          </p:nvSpPr>
          <p:spPr>
            <a:xfrm>
              <a:off x="5272516" y="2175597"/>
              <a:ext cx="1625515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AA9F1D87-BBB0-485C-23F2-DCEA55143755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2050742" y="1791525"/>
              <a:ext cx="3174712" cy="10667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EA6DBB55-55F7-CA79-7CDE-5A40A8DA8C29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2050742" y="2059619"/>
              <a:ext cx="3174712" cy="798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FCA5C0B4-36DE-180C-B488-58B37FC6229E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2050742" y="2334542"/>
              <a:ext cx="3174712" cy="523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4D07FAF6-50D2-FE99-2946-C71DFC2A32D1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843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53B965BC-DEC2-E2AE-0E30-1944773D6021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13675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diritto 38">
              <a:extLst>
                <a:ext uri="{FF2B5EF4-FFF2-40B4-BE49-F238E27FC236}">
                  <a16:creationId xmlns:a16="http://schemas.microsoft.com/office/drawing/2014/main" id="{2006C4E2-413C-D20D-7B29-21B58640E932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2050742" y="2607271"/>
              <a:ext cx="3174712" cy="2509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AF4579EC-C678-C66B-A1A4-2B25895516BD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1092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D41B321D-29D7-D741-7B6B-4144241E193F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329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diritto 60">
              <a:extLst>
                <a:ext uri="{FF2B5EF4-FFF2-40B4-BE49-F238E27FC236}">
                  <a16:creationId xmlns:a16="http://schemas.microsoft.com/office/drawing/2014/main" id="{F0CE8695-A248-06C7-FDA2-DF6926E4C0D4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193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diritto 64">
              <a:extLst>
                <a:ext uri="{FF2B5EF4-FFF2-40B4-BE49-F238E27FC236}">
                  <a16:creationId xmlns:a16="http://schemas.microsoft.com/office/drawing/2014/main" id="{33A515E0-4DF7-F9B1-991E-56684C15531D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 flipV="1">
              <a:off x="2050742" y="2858268"/>
              <a:ext cx="3174712" cy="570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asellaDiTesto 69">
                  <a:extLst>
                    <a:ext uri="{FF2B5EF4-FFF2-40B4-BE49-F238E27FC236}">
                      <a16:creationId xmlns:a16="http://schemas.microsoft.com/office/drawing/2014/main" id="{834BB01B-5193-CB0B-819B-8BA339C3261B}"/>
                    </a:ext>
                  </a:extLst>
                </p:cNvPr>
                <p:cNvSpPr txBox="1"/>
                <p:nvPr/>
              </p:nvSpPr>
              <p:spPr>
                <a:xfrm>
                  <a:off x="3610535" y="1805435"/>
                  <a:ext cx="44512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70" name="CasellaDiTesto 69">
                  <a:extLst>
                    <a:ext uri="{FF2B5EF4-FFF2-40B4-BE49-F238E27FC236}">
                      <a16:creationId xmlns:a16="http://schemas.microsoft.com/office/drawing/2014/main" id="{834BB01B-5193-CB0B-819B-8BA339C326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0535" y="1805435"/>
                  <a:ext cx="445122" cy="369332"/>
                </a:xfrm>
                <a:prstGeom prst="rect">
                  <a:avLst/>
                </a:prstGeom>
                <a:blipFill>
                  <a:blip r:embed="rId4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00A082BC-42FF-B408-0521-ECF44F35279B}"/>
                    </a:ext>
                  </a:extLst>
                </p:cNvPr>
                <p:cNvSpPr txBox="1"/>
                <p:nvPr/>
              </p:nvSpPr>
              <p:spPr>
                <a:xfrm>
                  <a:off x="5225454" y="2673602"/>
                  <a:ext cx="17204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00A082BC-42FF-B408-0521-ECF44F35279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5454" y="2673602"/>
                  <a:ext cx="1720471" cy="369332"/>
                </a:xfrm>
                <a:prstGeom prst="rect">
                  <a:avLst/>
                </a:prstGeom>
                <a:blipFill>
                  <a:blip r:embed="rId5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Connettore diritto 93">
              <a:extLst>
                <a:ext uri="{FF2B5EF4-FFF2-40B4-BE49-F238E27FC236}">
                  <a16:creationId xmlns:a16="http://schemas.microsoft.com/office/drawing/2014/main" id="{4F04C649-CDB6-AC72-F700-239C59F6EF1C}"/>
                </a:ext>
              </a:extLst>
            </p:cNvPr>
            <p:cNvCxnSpPr>
              <a:cxnSpLocks/>
              <a:stCxn id="90" idx="3"/>
            </p:cNvCxnSpPr>
            <p:nvPr/>
          </p:nvCxnSpPr>
          <p:spPr>
            <a:xfrm>
              <a:off x="6945925" y="2858268"/>
              <a:ext cx="937527" cy="31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0941EA33-CDEE-7B1F-E991-3BD9F640E51B}"/>
                </a:ext>
              </a:extLst>
            </p:cNvPr>
            <p:cNvSpPr txBox="1"/>
            <p:nvPr/>
          </p:nvSpPr>
          <p:spPr>
            <a:xfrm>
              <a:off x="7948272" y="2673602"/>
              <a:ext cx="9375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Output</a:t>
              </a:r>
            </a:p>
          </p:txBody>
        </p:sp>
      </p:grp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8E733E5B-3D8D-E30A-FA06-D98FF244F936}"/>
              </a:ext>
            </a:extLst>
          </p:cNvPr>
          <p:cNvSpPr txBox="1"/>
          <p:nvPr/>
        </p:nvSpPr>
        <p:spPr>
          <a:xfrm>
            <a:off x="2989732" y="4741526"/>
            <a:ext cx="5551019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Poor performance</a:t>
            </a:r>
          </a:p>
          <a:p>
            <a:endParaRPr lang="en-PH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400" b="1" dirty="0">
                <a:latin typeface="Calibri" panose="020F0502020204030204" pitchFamily="34" charset="0"/>
                <a:cs typeface="Calibri" panose="020F0502020204030204" pitchFamily="34" charset="0"/>
              </a:rPr>
              <a:t>Can we improve?</a:t>
            </a:r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PH" sz="2000" dirty="0" err="1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Cybenko</a:t>
            </a:r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  <a:hlinkClick r:id="rId6"/>
              </a:rPr>
              <a:t> universal approximation theorem 1989</a:t>
            </a:r>
            <a:endParaRPr lang="en-PH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7987D0-AC4F-D4E5-70BC-150F8C4FB099}"/>
              </a:ext>
            </a:extLst>
          </p:cNvPr>
          <p:cNvSpPr txBox="1"/>
          <p:nvPr/>
        </p:nvSpPr>
        <p:spPr>
          <a:xfrm>
            <a:off x="3367772" y="111441"/>
            <a:ext cx="47211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Task to be </a:t>
            </a:r>
            <a:r>
              <a:rPr lang="it-IT" sz="3200" b="1" dirty="0" err="1">
                <a:latin typeface="Book Antiqua" panose="02040602050305030304" pitchFamily="18" charset="0"/>
              </a:rPr>
              <a:t>solved</a:t>
            </a:r>
            <a:r>
              <a:rPr lang="it-IT" sz="3200" b="1" dirty="0">
                <a:latin typeface="Book Antiqua" panose="02040602050305030304" pitchFamily="18" charset="0"/>
              </a:rPr>
              <a:t>: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Identifying the phases of the 2D Ising model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Logistic regression as 1 Neuron network</a:t>
            </a:r>
            <a:endParaRPr lang="it-IT" dirty="0">
              <a:latin typeface="Book Antiqua" panose="02040602050305030304" pitchFamily="18" charset="0"/>
            </a:endParaRP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388A8CE6-4069-3F3D-E16B-192760B3F5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355" y="794308"/>
            <a:ext cx="3257634" cy="172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277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uppo 96">
            <a:extLst>
              <a:ext uri="{FF2B5EF4-FFF2-40B4-BE49-F238E27FC236}">
                <a16:creationId xmlns:a16="http://schemas.microsoft.com/office/drawing/2014/main" id="{C7512D3F-6714-BF30-7FD6-ADBB20F98EDA}"/>
              </a:ext>
            </a:extLst>
          </p:cNvPr>
          <p:cNvGrpSpPr/>
          <p:nvPr/>
        </p:nvGrpSpPr>
        <p:grpSpPr>
          <a:xfrm>
            <a:off x="1586959" y="1602087"/>
            <a:ext cx="9106027" cy="3020641"/>
            <a:chOff x="1457569" y="1448540"/>
            <a:chExt cx="9106027" cy="3020641"/>
          </a:xfrm>
        </p:grpSpPr>
        <p:sp>
          <p:nvSpPr>
            <p:cNvPr id="4" name="CasellaDiTesto 3">
              <a:extLst>
                <a:ext uri="{FF2B5EF4-FFF2-40B4-BE49-F238E27FC236}">
                  <a16:creationId xmlns:a16="http://schemas.microsoft.com/office/drawing/2014/main" id="{DD38FE9A-DC02-1CA7-5E06-70D20C0C0D4D}"/>
                </a:ext>
              </a:extLst>
            </p:cNvPr>
            <p:cNvSpPr txBox="1"/>
            <p:nvPr/>
          </p:nvSpPr>
          <p:spPr>
            <a:xfrm>
              <a:off x="1908699" y="1606859"/>
              <a:ext cx="28408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it-IT" dirty="0"/>
                <a:t>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0DE120C0-AAE1-DF17-B5B1-15AECBF33393}"/>
                    </a:ext>
                  </a:extLst>
                </p:cNvPr>
                <p:cNvSpPr txBox="1"/>
                <p:nvPr/>
              </p:nvSpPr>
              <p:spPr>
                <a:xfrm>
                  <a:off x="1464622" y="1502092"/>
                  <a:ext cx="4886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0DE120C0-AAE1-DF17-B5B1-15AECBF333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64622" y="1502092"/>
                  <a:ext cx="488660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9877" t="-10000" b="-26667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1E79A151-1150-DB4D-FF21-1AEA753829F1}"/>
                    </a:ext>
                  </a:extLst>
                </p:cNvPr>
                <p:cNvSpPr txBox="1"/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dirty="0"/>
                    <a:t>.</a:t>
                  </a:r>
                </a:p>
                <a:p>
                  <a:pPr algn="ctr"/>
                  <a:r>
                    <a:rPr lang="it-IT" b="0" dirty="0"/>
                    <a:t>x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a14:m>
                  <a:endParaRPr lang="it-IT" b="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CasellaDiTesto 5">
                  <a:extLst>
                    <a:ext uri="{FF2B5EF4-FFF2-40B4-BE49-F238E27FC236}">
                      <a16:creationId xmlns:a16="http://schemas.microsoft.com/office/drawing/2014/main" id="{1E79A151-1150-DB4D-FF21-1AEA753829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57569" y="1791525"/>
                  <a:ext cx="456792" cy="2585323"/>
                </a:xfrm>
                <a:prstGeom prst="rect">
                  <a:avLst/>
                </a:prstGeom>
                <a:blipFill>
                  <a:blip r:embed="rId3"/>
                  <a:stretch>
                    <a:fillRect l="-10667" t="-1179" b="-2830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Ovale 7">
              <a:extLst>
                <a:ext uri="{FF2B5EF4-FFF2-40B4-BE49-F238E27FC236}">
                  <a16:creationId xmlns:a16="http://schemas.microsoft.com/office/drawing/2014/main" id="{92DE91FC-4985-33A5-DE1F-4AE5EE4B2BF0}"/>
                </a:ext>
              </a:extLst>
            </p:cNvPr>
            <p:cNvSpPr/>
            <p:nvPr/>
          </p:nvSpPr>
          <p:spPr>
            <a:xfrm>
              <a:off x="4103350" y="1448540"/>
              <a:ext cx="1533928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E8EC405A-8D22-1878-081D-2C664C35E8B4}"/>
                </a:ext>
              </a:extLst>
            </p:cNvPr>
            <p:cNvSpPr/>
            <p:nvPr/>
          </p:nvSpPr>
          <p:spPr>
            <a:xfrm>
              <a:off x="6950314" y="2149875"/>
              <a:ext cx="1625515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24" name="Connettore diritto 23">
              <a:extLst>
                <a:ext uri="{FF2B5EF4-FFF2-40B4-BE49-F238E27FC236}">
                  <a16:creationId xmlns:a16="http://schemas.microsoft.com/office/drawing/2014/main" id="{B59A74C7-08F3-C74D-CE75-C670E363A97A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050742" y="1791525"/>
              <a:ext cx="2052608" cy="358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ttore diritto 25">
              <a:extLst>
                <a:ext uri="{FF2B5EF4-FFF2-40B4-BE49-F238E27FC236}">
                  <a16:creationId xmlns:a16="http://schemas.microsoft.com/office/drawing/2014/main" id="{EC1E69A1-C2E6-BBB4-3BC2-A1DEC151AAA8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2050742" y="2059619"/>
              <a:ext cx="2052608" cy="902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ttore diritto 27">
              <a:extLst>
                <a:ext uri="{FF2B5EF4-FFF2-40B4-BE49-F238E27FC236}">
                  <a16:creationId xmlns:a16="http://schemas.microsoft.com/office/drawing/2014/main" id="{23942A37-12BB-3DEF-7B6E-561B0A7D214A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1846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3A8C992C-BC27-FF95-62BA-0BD020CF750C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1552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95BC3428-2C51-5963-868E-203D5368AA60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207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diritto 33">
              <a:extLst>
                <a:ext uri="{FF2B5EF4-FFF2-40B4-BE49-F238E27FC236}">
                  <a16:creationId xmlns:a16="http://schemas.microsoft.com/office/drawing/2014/main" id="{75C6387B-8F83-2D32-3D11-B777565D1C48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610035"/>
              <a:ext cx="2052607" cy="11754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diritto 38">
              <a:extLst>
                <a:ext uri="{FF2B5EF4-FFF2-40B4-BE49-F238E27FC236}">
                  <a16:creationId xmlns:a16="http://schemas.microsoft.com/office/drawing/2014/main" id="{BFE23C0B-43B3-A650-2973-0A5D233C2327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4573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diritto 40">
              <a:extLst>
                <a:ext uri="{FF2B5EF4-FFF2-40B4-BE49-F238E27FC236}">
                  <a16:creationId xmlns:a16="http://schemas.microsoft.com/office/drawing/2014/main" id="{E9CA3803-BFCE-5FEF-90A2-B0217C47F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3785522"/>
              <a:ext cx="2052607" cy="1650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diritto 42">
              <a:extLst>
                <a:ext uri="{FF2B5EF4-FFF2-40B4-BE49-F238E27FC236}">
                  <a16:creationId xmlns:a16="http://schemas.microsoft.com/office/drawing/2014/main" id="{918E80F4-E837-C323-6E11-350AF1D59C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3785522"/>
              <a:ext cx="2052607" cy="4741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456C2D10-07C7-2FD9-132C-44A9D75BCB92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1800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diritto 46">
              <a:extLst>
                <a:ext uri="{FF2B5EF4-FFF2-40B4-BE49-F238E27FC236}">
                  <a16:creationId xmlns:a16="http://schemas.microsoft.com/office/drawing/2014/main" id="{610B676E-99E9-D051-0D5F-39B2FA50D006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673592"/>
              <a:ext cx="2052607" cy="111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04385893-BD0E-68CA-8AE5-E6932CD6637F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429000"/>
              <a:ext cx="2052607" cy="356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36258B79-5B29-6953-FBCB-86B46FFE5700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10379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Connettore diritto 52">
              <a:extLst>
                <a:ext uri="{FF2B5EF4-FFF2-40B4-BE49-F238E27FC236}">
                  <a16:creationId xmlns:a16="http://schemas.microsoft.com/office/drawing/2014/main" id="{8C7F77BA-ED4D-1376-AEA3-3CA15DAE708A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864898"/>
              <a:ext cx="2052607" cy="9206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ttore diritto 54">
              <a:extLst>
                <a:ext uri="{FF2B5EF4-FFF2-40B4-BE49-F238E27FC236}">
                  <a16:creationId xmlns:a16="http://schemas.microsoft.com/office/drawing/2014/main" id="{386AB544-4782-9FA7-A690-94862C2DA6A6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033236"/>
              <a:ext cx="2052607" cy="1752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ttore diritto 56">
              <a:extLst>
                <a:ext uri="{FF2B5EF4-FFF2-40B4-BE49-F238E27FC236}">
                  <a16:creationId xmlns:a16="http://schemas.microsoft.com/office/drawing/2014/main" id="{D8A77F43-747B-A014-6E36-1E526DAA572B}"/>
                </a:ext>
              </a:extLst>
            </p:cNvPr>
            <p:cNvCxnSpPr>
              <a:cxnSpLocks/>
            </p:cNvCxnSpPr>
            <p:nvPr/>
          </p:nvCxnSpPr>
          <p:spPr>
            <a:xfrm>
              <a:off x="2011821" y="1791525"/>
              <a:ext cx="2091528" cy="19939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ttore diritto 58">
              <a:extLst>
                <a:ext uri="{FF2B5EF4-FFF2-40B4-BE49-F238E27FC236}">
                  <a16:creationId xmlns:a16="http://schemas.microsoft.com/office/drawing/2014/main" id="{33DCE1A6-F0E8-33EE-485E-3A7A36CBA737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187823"/>
              <a:ext cx="2052607" cy="5976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ttore diritto 60">
              <a:extLst>
                <a:ext uri="{FF2B5EF4-FFF2-40B4-BE49-F238E27FC236}">
                  <a16:creationId xmlns:a16="http://schemas.microsoft.com/office/drawing/2014/main" id="{D60DC6D0-9359-E961-6C41-C99329A86C5A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7277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ttore diritto 62">
              <a:extLst>
                <a:ext uri="{FF2B5EF4-FFF2-40B4-BE49-F238E27FC236}">
                  <a16:creationId xmlns:a16="http://schemas.microsoft.com/office/drawing/2014/main" id="{47C2A3AD-2DE8-FD32-12DE-1F2D8A1F65CE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329547"/>
              <a:ext cx="2052607" cy="14559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ttore diritto 64">
              <a:extLst>
                <a:ext uri="{FF2B5EF4-FFF2-40B4-BE49-F238E27FC236}">
                  <a16:creationId xmlns:a16="http://schemas.microsoft.com/office/drawing/2014/main" id="{0722517E-AF89-F9E3-A1CD-032C924E368D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2050742" y="2149876"/>
              <a:ext cx="2052608" cy="12791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ttore diritto 66">
              <a:extLst>
                <a:ext uri="{FF2B5EF4-FFF2-40B4-BE49-F238E27FC236}">
                  <a16:creationId xmlns:a16="http://schemas.microsoft.com/office/drawing/2014/main" id="{EB6BC203-C1AE-735B-1705-BC5F2403AF41}"/>
                </a:ext>
              </a:extLst>
            </p:cNvPr>
            <p:cNvCxnSpPr>
              <a:cxnSpLocks/>
              <a:stCxn id="8" idx="6"/>
              <a:endCxn id="9" idx="2"/>
            </p:cNvCxnSpPr>
            <p:nvPr/>
          </p:nvCxnSpPr>
          <p:spPr>
            <a:xfrm>
              <a:off x="5637278" y="2149876"/>
              <a:ext cx="1313036" cy="70133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9" name="Connettore diritto 68">
              <a:extLst>
                <a:ext uri="{FF2B5EF4-FFF2-40B4-BE49-F238E27FC236}">
                  <a16:creationId xmlns:a16="http://schemas.microsoft.com/office/drawing/2014/main" id="{FBDA911F-C57A-B7CD-8862-287F1FF41F75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5635852" y="2851211"/>
              <a:ext cx="1314462" cy="9343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asellaDiTesto 69">
                  <a:extLst>
                    <a:ext uri="{FF2B5EF4-FFF2-40B4-BE49-F238E27FC236}">
                      <a16:creationId xmlns:a16="http://schemas.microsoft.com/office/drawing/2014/main" id="{2A6254B2-EFDB-82A8-1A1E-9780D2B2D40E}"/>
                    </a:ext>
                  </a:extLst>
                </p:cNvPr>
                <p:cNvSpPr txBox="1"/>
                <p:nvPr/>
              </p:nvSpPr>
              <p:spPr>
                <a:xfrm>
                  <a:off x="2751830" y="1588859"/>
                  <a:ext cx="512448" cy="4150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bSup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70" name="CasellaDiTesto 69">
                  <a:extLst>
                    <a:ext uri="{FF2B5EF4-FFF2-40B4-BE49-F238E27FC236}">
                      <a16:creationId xmlns:a16="http://schemas.microsoft.com/office/drawing/2014/main" id="{2A6254B2-EFDB-82A8-1A1E-9780D2B2D4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1830" y="1588859"/>
                  <a:ext cx="512448" cy="415050"/>
                </a:xfrm>
                <a:prstGeom prst="rect">
                  <a:avLst/>
                </a:prstGeom>
                <a:blipFill>
                  <a:blip r:embed="rId4"/>
                  <a:stretch>
                    <a:fillRect b="-735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CasellaDiTesto 70">
              <a:extLst>
                <a:ext uri="{FF2B5EF4-FFF2-40B4-BE49-F238E27FC236}">
                  <a16:creationId xmlns:a16="http://schemas.microsoft.com/office/drawing/2014/main" id="{3B57391E-91A7-967F-1291-294ECB777642}"/>
                </a:ext>
              </a:extLst>
            </p:cNvPr>
            <p:cNvSpPr txBox="1"/>
            <p:nvPr/>
          </p:nvSpPr>
          <p:spPr>
            <a:xfrm>
              <a:off x="6365289" y="224220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it-IT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asellaDiTesto 71">
                  <a:extLst>
                    <a:ext uri="{FF2B5EF4-FFF2-40B4-BE49-F238E27FC236}">
                      <a16:creationId xmlns:a16="http://schemas.microsoft.com/office/drawing/2014/main" id="{61332CF0-7FDA-D288-651C-3E40DF8489E3}"/>
                    </a:ext>
                  </a:extLst>
                </p:cNvPr>
                <p:cNvSpPr txBox="1"/>
                <p:nvPr/>
              </p:nvSpPr>
              <p:spPr>
                <a:xfrm>
                  <a:off x="6307037" y="2240606"/>
                  <a:ext cx="497187" cy="3725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72" name="CasellaDiTesto 71">
                  <a:extLst>
                    <a:ext uri="{FF2B5EF4-FFF2-40B4-BE49-F238E27FC236}">
                      <a16:creationId xmlns:a16="http://schemas.microsoft.com/office/drawing/2014/main" id="{61332CF0-7FDA-D288-651C-3E40DF8489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07037" y="2240606"/>
                  <a:ext cx="497187" cy="372538"/>
                </a:xfrm>
                <a:prstGeom prst="rect">
                  <a:avLst/>
                </a:prstGeom>
                <a:blipFill>
                  <a:blip r:embed="rId5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asellaDiTesto 72">
                  <a:extLst>
                    <a:ext uri="{FF2B5EF4-FFF2-40B4-BE49-F238E27FC236}">
                      <a16:creationId xmlns:a16="http://schemas.microsoft.com/office/drawing/2014/main" id="{A1CC37D0-009C-839E-B218-C9BD81E97154}"/>
                    </a:ext>
                  </a:extLst>
                </p:cNvPr>
                <p:cNvSpPr txBox="1"/>
                <p:nvPr/>
              </p:nvSpPr>
              <p:spPr>
                <a:xfrm>
                  <a:off x="6365289" y="3307922"/>
                  <a:ext cx="485966" cy="37305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73" name="CasellaDiTesto 72">
                  <a:extLst>
                    <a:ext uri="{FF2B5EF4-FFF2-40B4-BE49-F238E27FC236}">
                      <a16:creationId xmlns:a16="http://schemas.microsoft.com/office/drawing/2014/main" id="{A1CC37D0-009C-839E-B218-C9BD81E971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65289" y="3307922"/>
                  <a:ext cx="485966" cy="373051"/>
                </a:xfrm>
                <a:prstGeom prst="rect">
                  <a:avLst/>
                </a:prstGeom>
                <a:blipFill>
                  <a:blip r:embed="rId6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asellaDiTesto 73">
                  <a:extLst>
                    <a:ext uri="{FF2B5EF4-FFF2-40B4-BE49-F238E27FC236}">
                      <a16:creationId xmlns:a16="http://schemas.microsoft.com/office/drawing/2014/main" id="{ADA18207-4AEA-88CF-521E-474377F447EA}"/>
                    </a:ext>
                  </a:extLst>
                </p:cNvPr>
                <p:cNvSpPr txBox="1"/>
                <p:nvPr/>
              </p:nvSpPr>
              <p:spPr>
                <a:xfrm>
                  <a:off x="4051988" y="1956980"/>
                  <a:ext cx="1730858" cy="3871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74" name="CasellaDiTesto 73">
                  <a:extLst>
                    <a:ext uri="{FF2B5EF4-FFF2-40B4-BE49-F238E27FC236}">
                      <a16:creationId xmlns:a16="http://schemas.microsoft.com/office/drawing/2014/main" id="{ADA18207-4AEA-88CF-521E-474377F44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988" y="1956980"/>
                  <a:ext cx="1730858" cy="387157"/>
                </a:xfrm>
                <a:prstGeom prst="rect">
                  <a:avLst/>
                </a:prstGeom>
                <a:blipFill>
                  <a:blip r:embed="rId7"/>
                  <a:stretch>
                    <a:fillRect b="-1406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6" name="Ovale 85">
              <a:extLst>
                <a:ext uri="{FF2B5EF4-FFF2-40B4-BE49-F238E27FC236}">
                  <a16:creationId xmlns:a16="http://schemas.microsoft.com/office/drawing/2014/main" id="{D7B104CC-9DB8-DD7A-1C0C-BD72A3FD8666}"/>
                </a:ext>
              </a:extLst>
            </p:cNvPr>
            <p:cNvSpPr/>
            <p:nvPr/>
          </p:nvSpPr>
          <p:spPr>
            <a:xfrm>
              <a:off x="4101924" y="3053877"/>
              <a:ext cx="1533928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CasellaDiTesto 86">
                  <a:extLst>
                    <a:ext uri="{FF2B5EF4-FFF2-40B4-BE49-F238E27FC236}">
                      <a16:creationId xmlns:a16="http://schemas.microsoft.com/office/drawing/2014/main" id="{600AA8F6-0BFF-66AF-ECED-6418D11FE659}"/>
                    </a:ext>
                  </a:extLst>
                </p:cNvPr>
                <p:cNvSpPr txBox="1"/>
                <p:nvPr/>
              </p:nvSpPr>
              <p:spPr>
                <a:xfrm>
                  <a:off x="4050562" y="3562317"/>
                  <a:ext cx="1730858" cy="38715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Sup>
                          <m:sSubSup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  <m:sup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p>
                        </m:sSubSup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87" name="CasellaDiTesto 86">
                  <a:extLst>
                    <a:ext uri="{FF2B5EF4-FFF2-40B4-BE49-F238E27FC236}">
                      <a16:creationId xmlns:a16="http://schemas.microsoft.com/office/drawing/2014/main" id="{600AA8F6-0BFF-66AF-ECED-6418D11FE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0562" y="3562317"/>
                  <a:ext cx="1730858" cy="387157"/>
                </a:xfrm>
                <a:prstGeom prst="rect">
                  <a:avLst/>
                </a:prstGeom>
                <a:blipFill>
                  <a:blip r:embed="rId8"/>
                  <a:stretch>
                    <a:fillRect b="-14286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CF16B301-D506-38F1-9921-26F1729EE078}"/>
                    </a:ext>
                  </a:extLst>
                </p:cNvPr>
                <p:cNvSpPr txBox="1"/>
                <p:nvPr/>
              </p:nvSpPr>
              <p:spPr>
                <a:xfrm>
                  <a:off x="6903252" y="2647880"/>
                  <a:ext cx="1648015" cy="3755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dirty="0"/>
                </a:p>
              </p:txBody>
            </p:sp>
          </mc:Choice>
          <mc:Fallback xmlns=""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CF16B301-D506-38F1-9921-26F1729EE0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03252" y="2647880"/>
                  <a:ext cx="1648015" cy="375552"/>
                </a:xfrm>
                <a:prstGeom prst="rect">
                  <a:avLst/>
                </a:prstGeom>
                <a:blipFill>
                  <a:blip r:embed="rId9"/>
                  <a:stretch>
                    <a:fillRect b="-16393"/>
                  </a:stretch>
                </a:blipFill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4" name="Connettore diritto 93">
              <a:extLst>
                <a:ext uri="{FF2B5EF4-FFF2-40B4-BE49-F238E27FC236}">
                  <a16:creationId xmlns:a16="http://schemas.microsoft.com/office/drawing/2014/main" id="{7875EA2D-890E-272C-2F85-4E79EB3E3DF3}"/>
                </a:ext>
              </a:extLst>
            </p:cNvPr>
            <p:cNvCxnSpPr>
              <a:stCxn id="90" idx="3"/>
            </p:cNvCxnSpPr>
            <p:nvPr/>
          </p:nvCxnSpPr>
          <p:spPr>
            <a:xfrm>
              <a:off x="8551267" y="2835656"/>
              <a:ext cx="10099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CasellaDiTesto 94">
              <a:extLst>
                <a:ext uri="{FF2B5EF4-FFF2-40B4-BE49-F238E27FC236}">
                  <a16:creationId xmlns:a16="http://schemas.microsoft.com/office/drawing/2014/main" id="{686D9993-7ED8-D98D-6278-EAC399D8D942}"/>
                </a:ext>
              </a:extLst>
            </p:cNvPr>
            <p:cNvSpPr txBox="1"/>
            <p:nvPr/>
          </p:nvSpPr>
          <p:spPr>
            <a:xfrm>
              <a:off x="9626069" y="2647880"/>
              <a:ext cx="9375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Output</a:t>
              </a:r>
            </a:p>
          </p:txBody>
        </p:sp>
      </p:grp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FF5F6919-A4D5-7000-BD2D-9E9FF2A8D21E}"/>
              </a:ext>
            </a:extLst>
          </p:cNvPr>
          <p:cNvSpPr txBox="1"/>
          <p:nvPr/>
        </p:nvSpPr>
        <p:spPr>
          <a:xfrm>
            <a:off x="2989732" y="4741526"/>
            <a:ext cx="456874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Poor performance</a:t>
            </a:r>
          </a:p>
          <a:p>
            <a:endParaRPr lang="en-PH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PH" sz="2400" b="1" dirty="0">
                <a:latin typeface="Calibri" panose="020F0502020204030204" pitchFamily="34" charset="0"/>
                <a:cs typeface="Calibri" panose="020F0502020204030204" pitchFamily="34" charset="0"/>
              </a:rPr>
              <a:t>Hard task to build ‘by hand’ the gradients</a:t>
            </a:r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, even for a small network – </a:t>
            </a:r>
            <a:r>
              <a:rPr lang="en-PH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Keras</a:t>
            </a:r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 can help us !!!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PH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82243135-6B5D-0A77-5BC5-002A8FC85F23}"/>
              </a:ext>
            </a:extLst>
          </p:cNvPr>
          <p:cNvSpPr txBox="1"/>
          <p:nvPr/>
        </p:nvSpPr>
        <p:spPr>
          <a:xfrm>
            <a:off x="3367772" y="111441"/>
            <a:ext cx="4721164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3200" b="1" dirty="0">
                <a:latin typeface="Book Antiqua" panose="02040602050305030304" pitchFamily="18" charset="0"/>
              </a:rPr>
              <a:t>Task to be </a:t>
            </a:r>
            <a:r>
              <a:rPr lang="it-IT" sz="3200" b="1" dirty="0" err="1">
                <a:latin typeface="Book Antiqua" panose="02040602050305030304" pitchFamily="18" charset="0"/>
              </a:rPr>
              <a:t>solved</a:t>
            </a:r>
            <a:r>
              <a:rPr lang="it-IT" sz="3200" b="1" dirty="0">
                <a:latin typeface="Book Antiqua" panose="02040602050305030304" pitchFamily="18" charset="0"/>
              </a:rPr>
              <a:t>: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Identifying the phases of the 2D Ising model</a:t>
            </a:r>
          </a:p>
          <a:p>
            <a:pPr algn="ctr"/>
            <a:r>
              <a:rPr lang="en-US" dirty="0">
                <a:latin typeface="Book Antiqua" panose="02040602050305030304" pitchFamily="18" charset="0"/>
              </a:rPr>
              <a:t>Network with 1 hidden layer</a:t>
            </a:r>
            <a:endParaRPr lang="it-IT" dirty="0">
              <a:latin typeface="Book Antiqua" panose="02040602050305030304" pitchFamily="18" charset="0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68F8695-3D9B-63E1-395D-E7CCB1E5795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355" y="794308"/>
            <a:ext cx="3257634" cy="1722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618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0F43C52F-D4AF-3106-455C-7EF14F9404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911" y="1981077"/>
            <a:ext cx="6397342" cy="241336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95EE2474-6E4F-ACFC-94EF-4597DD11F1A1}"/>
              </a:ext>
            </a:extLst>
          </p:cNvPr>
          <p:cNvSpPr txBox="1"/>
          <p:nvPr/>
        </p:nvSpPr>
        <p:spPr>
          <a:xfrm>
            <a:off x="3291045" y="4873840"/>
            <a:ext cx="51430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2400" dirty="0">
                <a:latin typeface="Calibri" panose="020F0502020204030204" pitchFamily="34" charset="0"/>
                <a:cs typeface="Calibri" panose="020F0502020204030204" pitchFamily="34" charset="0"/>
              </a:rPr>
              <a:t>How to build gradients ‘by hand’ here?</a:t>
            </a:r>
          </a:p>
          <a:p>
            <a:pPr algn="ctr"/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I think impossible (in adequate times)!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49224AE-3AA0-BED0-FE66-91526BD78E03}"/>
              </a:ext>
            </a:extLst>
          </p:cNvPr>
          <p:cNvSpPr txBox="1"/>
          <p:nvPr/>
        </p:nvSpPr>
        <p:spPr>
          <a:xfrm>
            <a:off x="3793330" y="424465"/>
            <a:ext cx="41385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PH" sz="2400" dirty="0">
                <a:latin typeface="Calibri" panose="020F0502020204030204" pitchFamily="34" charset="0"/>
                <a:cs typeface="Calibri" panose="020F0502020204030204" pitchFamily="34" charset="0"/>
              </a:rPr>
              <a:t>How to improve performances?</a:t>
            </a:r>
          </a:p>
          <a:p>
            <a:pPr algn="ctr"/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MORE LAYERS</a:t>
            </a:r>
          </a:p>
          <a:p>
            <a:pPr algn="ctr"/>
            <a:r>
              <a:rPr lang="en-PH" sz="2000" dirty="0">
                <a:latin typeface="Calibri" panose="020F0502020204030204" pitchFamily="34" charset="0"/>
                <a:cs typeface="Calibri" panose="020F0502020204030204" pitchFamily="34" charset="0"/>
              </a:rPr>
              <a:t>More model expressivity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8DEE4E9-E62C-0B83-5403-37A29051B336}"/>
              </a:ext>
            </a:extLst>
          </p:cNvPr>
          <p:cNvSpPr txBox="1"/>
          <p:nvPr/>
        </p:nvSpPr>
        <p:spPr>
          <a:xfrm>
            <a:off x="3681463" y="5858720"/>
            <a:ext cx="38494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dirty="0" err="1">
                <a:hlinkClick r:id="rId3"/>
              </a:rPr>
              <a:t>Deep_Dense_ising.ipynb</a:t>
            </a:r>
            <a:r>
              <a:rPr lang="it-IT" dirty="0">
                <a:hlinkClick r:id="rId3"/>
              </a:rPr>
              <a:t> – </a:t>
            </a:r>
            <a:r>
              <a:rPr lang="it-IT" dirty="0" err="1">
                <a:hlinkClick r:id="rId3"/>
              </a:rPr>
              <a:t>Colab</a:t>
            </a:r>
            <a:endParaRPr lang="it-IT" dirty="0"/>
          </a:p>
          <a:p>
            <a:pPr algn="ctr"/>
            <a:r>
              <a:rPr lang="it-IT" dirty="0"/>
              <a:t>Code for </a:t>
            </a:r>
            <a:r>
              <a:rPr lang="it-IT" dirty="0" err="1"/>
              <a:t>this</a:t>
            </a:r>
            <a:r>
              <a:rPr lang="it-IT" dirty="0"/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416928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1A0DE0-3271-AE42-3785-DD83F5E22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o 1">
            <a:extLst>
              <a:ext uri="{FF2B5EF4-FFF2-40B4-BE49-F238E27FC236}">
                <a16:creationId xmlns:a16="http://schemas.microsoft.com/office/drawing/2014/main" id="{C1471C82-7DB4-D726-256C-765F19C9FC3A}"/>
              </a:ext>
            </a:extLst>
          </p:cNvPr>
          <p:cNvGrpSpPr/>
          <p:nvPr/>
        </p:nvGrpSpPr>
        <p:grpSpPr>
          <a:xfrm>
            <a:off x="1092624" y="611866"/>
            <a:ext cx="3236147" cy="1543690"/>
            <a:chOff x="2050742" y="1791525"/>
            <a:chExt cx="5832710" cy="2434246"/>
          </a:xfrm>
        </p:grpSpPr>
        <p:sp>
          <p:nvSpPr>
            <p:cNvPr id="9" name="Ovale 8">
              <a:extLst>
                <a:ext uri="{FF2B5EF4-FFF2-40B4-BE49-F238E27FC236}">
                  <a16:creationId xmlns:a16="http://schemas.microsoft.com/office/drawing/2014/main" id="{6407A9C2-0474-2981-7C84-2791E759A5B0}"/>
                </a:ext>
              </a:extLst>
            </p:cNvPr>
            <p:cNvSpPr/>
            <p:nvPr/>
          </p:nvSpPr>
          <p:spPr>
            <a:xfrm>
              <a:off x="5272516" y="2175597"/>
              <a:ext cx="1625515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10" name="Connettore diritto 9">
              <a:extLst>
                <a:ext uri="{FF2B5EF4-FFF2-40B4-BE49-F238E27FC236}">
                  <a16:creationId xmlns:a16="http://schemas.microsoft.com/office/drawing/2014/main" id="{1D7ABBF1-C97B-D384-E9B6-D0473D73B567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1791525"/>
              <a:ext cx="3174712" cy="106674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ttore diritto 10">
              <a:extLst>
                <a:ext uri="{FF2B5EF4-FFF2-40B4-BE49-F238E27FC236}">
                  <a16:creationId xmlns:a16="http://schemas.microsoft.com/office/drawing/2014/main" id="{D76EF58D-0A64-4395-93C5-43690001E3BB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059619"/>
              <a:ext cx="3174712" cy="79864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ttore diritto 11">
              <a:extLst>
                <a:ext uri="{FF2B5EF4-FFF2-40B4-BE49-F238E27FC236}">
                  <a16:creationId xmlns:a16="http://schemas.microsoft.com/office/drawing/2014/main" id="{BAED5702-71B0-EEE8-4E63-964B7AF1414A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334542"/>
              <a:ext cx="3174712" cy="5237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ttore diritto 12">
              <a:extLst>
                <a:ext uri="{FF2B5EF4-FFF2-40B4-BE49-F238E27FC236}">
                  <a16:creationId xmlns:a16="http://schemas.microsoft.com/office/drawing/2014/main" id="{02CC6A02-4218-28C1-80AF-611731F1DE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8437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ttore diritto 13">
              <a:extLst>
                <a:ext uri="{FF2B5EF4-FFF2-40B4-BE49-F238E27FC236}">
                  <a16:creationId xmlns:a16="http://schemas.microsoft.com/office/drawing/2014/main" id="{CAAA2E9E-4C46-97D0-F3D8-51C1589080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136750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ttore diritto 14">
              <a:extLst>
                <a:ext uri="{FF2B5EF4-FFF2-40B4-BE49-F238E27FC236}">
                  <a16:creationId xmlns:a16="http://schemas.microsoft.com/office/drawing/2014/main" id="{F7AB6398-5A82-BB33-2D3B-436339BD90B6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607271"/>
              <a:ext cx="3174712" cy="2509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ttore diritto 15">
              <a:extLst>
                <a:ext uri="{FF2B5EF4-FFF2-40B4-BE49-F238E27FC236}">
                  <a16:creationId xmlns:a16="http://schemas.microsoft.com/office/drawing/2014/main" id="{4F872F4A-EB05-1DD1-6AD3-2D15A4DC3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10922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ttore diritto 16">
              <a:extLst>
                <a:ext uri="{FF2B5EF4-FFF2-40B4-BE49-F238E27FC236}">
                  <a16:creationId xmlns:a16="http://schemas.microsoft.com/office/drawing/2014/main" id="{26948879-CD45-27D9-0FC6-F559D35019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3295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ttore diritto 17">
              <a:extLst>
                <a:ext uri="{FF2B5EF4-FFF2-40B4-BE49-F238E27FC236}">
                  <a16:creationId xmlns:a16="http://schemas.microsoft.com/office/drawing/2014/main" id="{604B91C2-9BC4-C8B8-B32F-ED299B28AB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193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ttore diritto 18">
              <a:extLst>
                <a:ext uri="{FF2B5EF4-FFF2-40B4-BE49-F238E27FC236}">
                  <a16:creationId xmlns:a16="http://schemas.microsoft.com/office/drawing/2014/main" id="{D13364D6-5908-BCDF-9774-29BBBDD8A1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2858268"/>
              <a:ext cx="3174712" cy="57073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30BF6E54-D35D-5782-1C76-E0CCA8C8AF37}"/>
                </a:ext>
              </a:extLst>
            </p:cNvPr>
            <p:cNvCxnSpPr>
              <a:cxnSpLocks/>
            </p:cNvCxnSpPr>
            <p:nvPr/>
          </p:nvCxnSpPr>
          <p:spPr>
            <a:xfrm>
              <a:off x="6945925" y="2858268"/>
              <a:ext cx="937527" cy="311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55DC3360-3051-4EF4-E0AB-29E45DFB7D6A}"/>
              </a:ext>
            </a:extLst>
          </p:cNvPr>
          <p:cNvGrpSpPr/>
          <p:nvPr/>
        </p:nvGrpSpPr>
        <p:grpSpPr>
          <a:xfrm>
            <a:off x="1036060" y="2548523"/>
            <a:ext cx="4123169" cy="1714602"/>
            <a:chOff x="2011821" y="1448540"/>
            <a:chExt cx="7549429" cy="3008008"/>
          </a:xfrm>
        </p:grpSpPr>
        <p:sp>
          <p:nvSpPr>
            <p:cNvPr id="28" name="Ovale 27">
              <a:extLst>
                <a:ext uri="{FF2B5EF4-FFF2-40B4-BE49-F238E27FC236}">
                  <a16:creationId xmlns:a16="http://schemas.microsoft.com/office/drawing/2014/main" id="{F5F9CE0E-F69D-0B90-2CFC-BF9D091AC862}"/>
                </a:ext>
              </a:extLst>
            </p:cNvPr>
            <p:cNvSpPr/>
            <p:nvPr/>
          </p:nvSpPr>
          <p:spPr>
            <a:xfrm>
              <a:off x="4103350" y="1448540"/>
              <a:ext cx="1533928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9" name="Ovale 28">
              <a:extLst>
                <a:ext uri="{FF2B5EF4-FFF2-40B4-BE49-F238E27FC236}">
                  <a16:creationId xmlns:a16="http://schemas.microsoft.com/office/drawing/2014/main" id="{23D2BB1B-5CC0-29E6-D5F7-B18D877612E0}"/>
                </a:ext>
              </a:extLst>
            </p:cNvPr>
            <p:cNvSpPr/>
            <p:nvPr/>
          </p:nvSpPr>
          <p:spPr>
            <a:xfrm>
              <a:off x="6950314" y="2149875"/>
              <a:ext cx="1625515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30" name="Connettore diritto 29">
              <a:extLst>
                <a:ext uri="{FF2B5EF4-FFF2-40B4-BE49-F238E27FC236}">
                  <a16:creationId xmlns:a16="http://schemas.microsoft.com/office/drawing/2014/main" id="{B9617209-E0E2-6C8B-D2AF-F42286C5E079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2050742" y="1791525"/>
              <a:ext cx="2052608" cy="3583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ttore diritto 30">
              <a:extLst>
                <a:ext uri="{FF2B5EF4-FFF2-40B4-BE49-F238E27FC236}">
                  <a16:creationId xmlns:a16="http://schemas.microsoft.com/office/drawing/2014/main" id="{D2511645-D357-E455-90E4-16C301B70C5D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>
              <a:off x="2050742" y="2059619"/>
              <a:ext cx="2052608" cy="902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ttore diritto 31">
              <a:extLst>
                <a:ext uri="{FF2B5EF4-FFF2-40B4-BE49-F238E27FC236}">
                  <a16:creationId xmlns:a16="http://schemas.microsoft.com/office/drawing/2014/main" id="{BCFB8D75-F69D-F3F9-EEA4-C729A88DB18E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1846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ttore diritto 32">
              <a:extLst>
                <a:ext uri="{FF2B5EF4-FFF2-40B4-BE49-F238E27FC236}">
                  <a16:creationId xmlns:a16="http://schemas.microsoft.com/office/drawing/2014/main" id="{F571574E-B197-39F1-AA78-71D60CFBC7C6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155211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ttore diritto 33">
              <a:extLst>
                <a:ext uri="{FF2B5EF4-FFF2-40B4-BE49-F238E27FC236}">
                  <a16:creationId xmlns:a16="http://schemas.microsoft.com/office/drawing/2014/main" id="{6E813D8D-D48D-04E8-F5F3-B301857FF6CF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207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ttore diritto 34">
              <a:extLst>
                <a:ext uri="{FF2B5EF4-FFF2-40B4-BE49-F238E27FC236}">
                  <a16:creationId xmlns:a16="http://schemas.microsoft.com/office/drawing/2014/main" id="{26091C0E-1DE4-02E0-08CC-65AFC64E9EE6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610035"/>
              <a:ext cx="2052607" cy="11754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ttore diritto 35">
              <a:extLst>
                <a:ext uri="{FF2B5EF4-FFF2-40B4-BE49-F238E27FC236}">
                  <a16:creationId xmlns:a16="http://schemas.microsoft.com/office/drawing/2014/main" id="{E1DBDBD0-2B94-2675-A39B-83463422AAB9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4573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ttore diritto 36">
              <a:extLst>
                <a:ext uri="{FF2B5EF4-FFF2-40B4-BE49-F238E27FC236}">
                  <a16:creationId xmlns:a16="http://schemas.microsoft.com/office/drawing/2014/main" id="{9D8E03A0-28F0-7193-B021-C344CC922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3785522"/>
              <a:ext cx="2052607" cy="16504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ttore diritto 37">
              <a:extLst>
                <a:ext uri="{FF2B5EF4-FFF2-40B4-BE49-F238E27FC236}">
                  <a16:creationId xmlns:a16="http://schemas.microsoft.com/office/drawing/2014/main" id="{DD7C3A5D-E30F-00B1-A31F-4B4289582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0742" y="3785522"/>
              <a:ext cx="2052607" cy="47415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ttore diritto 38">
              <a:extLst>
                <a:ext uri="{FF2B5EF4-FFF2-40B4-BE49-F238E27FC236}">
                  <a16:creationId xmlns:a16="http://schemas.microsoft.com/office/drawing/2014/main" id="{7D35619F-81CF-782D-A9D4-C1749C6B5C03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1800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ttore diritto 39">
              <a:extLst>
                <a:ext uri="{FF2B5EF4-FFF2-40B4-BE49-F238E27FC236}">
                  <a16:creationId xmlns:a16="http://schemas.microsoft.com/office/drawing/2014/main" id="{DBAA27C0-816B-236A-DC12-0CA3A0748C47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673592"/>
              <a:ext cx="2052607" cy="11193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ttore diritto 40">
              <a:extLst>
                <a:ext uri="{FF2B5EF4-FFF2-40B4-BE49-F238E27FC236}">
                  <a16:creationId xmlns:a16="http://schemas.microsoft.com/office/drawing/2014/main" id="{75F48803-CE44-891F-B3CF-A826F563BE8E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429000"/>
              <a:ext cx="2052607" cy="35652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nettore diritto 41">
              <a:extLst>
                <a:ext uri="{FF2B5EF4-FFF2-40B4-BE49-F238E27FC236}">
                  <a16:creationId xmlns:a16="http://schemas.microsoft.com/office/drawing/2014/main" id="{849C2980-8F81-0FD7-610D-72A60FABC7F6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103794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ttore diritto 42">
              <a:extLst>
                <a:ext uri="{FF2B5EF4-FFF2-40B4-BE49-F238E27FC236}">
                  <a16:creationId xmlns:a16="http://schemas.microsoft.com/office/drawing/2014/main" id="{0DBA8388-3702-17F9-B7F0-F686280F79E9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864898"/>
              <a:ext cx="2052607" cy="9206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ttore diritto 43">
              <a:extLst>
                <a:ext uri="{FF2B5EF4-FFF2-40B4-BE49-F238E27FC236}">
                  <a16:creationId xmlns:a16="http://schemas.microsoft.com/office/drawing/2014/main" id="{8BC4B354-A858-5EB0-B454-B1AA6AB993A2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033236"/>
              <a:ext cx="2052607" cy="175228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ttore diritto 44">
              <a:extLst>
                <a:ext uri="{FF2B5EF4-FFF2-40B4-BE49-F238E27FC236}">
                  <a16:creationId xmlns:a16="http://schemas.microsoft.com/office/drawing/2014/main" id="{63AD8F02-30F2-27FE-8C5D-6D25350F0957}"/>
                </a:ext>
              </a:extLst>
            </p:cNvPr>
            <p:cNvCxnSpPr>
              <a:cxnSpLocks/>
            </p:cNvCxnSpPr>
            <p:nvPr/>
          </p:nvCxnSpPr>
          <p:spPr>
            <a:xfrm>
              <a:off x="2011821" y="1791525"/>
              <a:ext cx="2091528" cy="19939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ttore diritto 45">
              <a:extLst>
                <a:ext uri="{FF2B5EF4-FFF2-40B4-BE49-F238E27FC236}">
                  <a16:creationId xmlns:a16="http://schemas.microsoft.com/office/drawing/2014/main" id="{980F7855-D2F8-0A51-3C64-44531AF3DAA1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3187823"/>
              <a:ext cx="2052607" cy="59769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ttore diritto 46">
              <a:extLst>
                <a:ext uri="{FF2B5EF4-FFF2-40B4-BE49-F238E27FC236}">
                  <a16:creationId xmlns:a16="http://schemas.microsoft.com/office/drawing/2014/main" id="{F0174567-45A1-0A12-8B61-8F594ED70805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7277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Connettore diritto 47">
              <a:extLst>
                <a:ext uri="{FF2B5EF4-FFF2-40B4-BE49-F238E27FC236}">
                  <a16:creationId xmlns:a16="http://schemas.microsoft.com/office/drawing/2014/main" id="{7A683135-F116-D446-BF08-332EED8D0390}"/>
                </a:ext>
              </a:extLst>
            </p:cNvPr>
            <p:cNvCxnSpPr>
              <a:cxnSpLocks/>
            </p:cNvCxnSpPr>
            <p:nvPr/>
          </p:nvCxnSpPr>
          <p:spPr>
            <a:xfrm>
              <a:off x="2050742" y="2329547"/>
              <a:ext cx="2052607" cy="14559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ttore diritto 48">
              <a:extLst>
                <a:ext uri="{FF2B5EF4-FFF2-40B4-BE49-F238E27FC236}">
                  <a16:creationId xmlns:a16="http://schemas.microsoft.com/office/drawing/2014/main" id="{4140C8F2-9E3C-9C19-1869-5A2B70DA87C1}"/>
                </a:ext>
              </a:extLst>
            </p:cNvPr>
            <p:cNvCxnSpPr>
              <a:cxnSpLocks/>
              <a:endCxn id="28" idx="2"/>
            </p:cNvCxnSpPr>
            <p:nvPr/>
          </p:nvCxnSpPr>
          <p:spPr>
            <a:xfrm flipV="1">
              <a:off x="2050742" y="2149876"/>
              <a:ext cx="2052608" cy="127912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ttore diritto 49">
              <a:extLst>
                <a:ext uri="{FF2B5EF4-FFF2-40B4-BE49-F238E27FC236}">
                  <a16:creationId xmlns:a16="http://schemas.microsoft.com/office/drawing/2014/main" id="{590AC457-DD71-73FC-B7EA-A884FB19E577}"/>
                </a:ext>
              </a:extLst>
            </p:cNvPr>
            <p:cNvCxnSpPr>
              <a:cxnSpLocks/>
              <a:stCxn id="28" idx="6"/>
              <a:endCxn id="29" idx="2"/>
            </p:cNvCxnSpPr>
            <p:nvPr/>
          </p:nvCxnSpPr>
          <p:spPr>
            <a:xfrm>
              <a:off x="5637278" y="2149876"/>
              <a:ext cx="1313036" cy="701335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1" name="Connettore diritto 50">
              <a:extLst>
                <a:ext uri="{FF2B5EF4-FFF2-40B4-BE49-F238E27FC236}">
                  <a16:creationId xmlns:a16="http://schemas.microsoft.com/office/drawing/2014/main" id="{D005B352-E517-B793-3AA2-3A19579A6C5D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V="1">
              <a:off x="5635852" y="2851211"/>
              <a:ext cx="1314462" cy="9343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53" name="CasellaDiTesto 52">
              <a:extLst>
                <a:ext uri="{FF2B5EF4-FFF2-40B4-BE49-F238E27FC236}">
                  <a16:creationId xmlns:a16="http://schemas.microsoft.com/office/drawing/2014/main" id="{A1EF24E6-F95B-EE97-8AE9-F89A9F6069C7}"/>
                </a:ext>
              </a:extLst>
            </p:cNvPr>
            <p:cNvSpPr txBox="1"/>
            <p:nvPr/>
          </p:nvSpPr>
          <p:spPr>
            <a:xfrm>
              <a:off x="6365289" y="2242209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it-IT" dirty="0"/>
            </a:p>
          </p:txBody>
        </p:sp>
        <p:sp>
          <p:nvSpPr>
            <p:cNvPr id="57" name="Ovale 56">
              <a:extLst>
                <a:ext uri="{FF2B5EF4-FFF2-40B4-BE49-F238E27FC236}">
                  <a16:creationId xmlns:a16="http://schemas.microsoft.com/office/drawing/2014/main" id="{A074FDA0-BC23-10A7-5F05-54DC6057A39E}"/>
                </a:ext>
              </a:extLst>
            </p:cNvPr>
            <p:cNvSpPr/>
            <p:nvPr/>
          </p:nvSpPr>
          <p:spPr>
            <a:xfrm>
              <a:off x="4101924" y="3053877"/>
              <a:ext cx="1533928" cy="1402671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cxnSp>
          <p:nvCxnSpPr>
            <p:cNvPr id="60" name="Connettore diritto 59">
              <a:extLst>
                <a:ext uri="{FF2B5EF4-FFF2-40B4-BE49-F238E27FC236}">
                  <a16:creationId xmlns:a16="http://schemas.microsoft.com/office/drawing/2014/main" id="{C0BA5BAA-D3CD-A17A-93A5-E8A07AEA5F23}"/>
                </a:ext>
              </a:extLst>
            </p:cNvPr>
            <p:cNvCxnSpPr>
              <a:cxnSpLocks/>
            </p:cNvCxnSpPr>
            <p:nvPr/>
          </p:nvCxnSpPr>
          <p:spPr>
            <a:xfrm>
              <a:off x="8551267" y="2835656"/>
              <a:ext cx="100998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2" name="Immagine 61">
            <a:extLst>
              <a:ext uri="{FF2B5EF4-FFF2-40B4-BE49-F238E27FC236}">
                <a16:creationId xmlns:a16="http://schemas.microsoft.com/office/drawing/2014/main" id="{3B2C1CC6-136F-B0A7-4CA2-5785F1DE1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159" y="4829504"/>
            <a:ext cx="3402749" cy="1283672"/>
          </a:xfrm>
          <a:prstGeom prst="rect">
            <a:avLst/>
          </a:prstGeom>
        </p:spPr>
      </p:pic>
      <p:sp>
        <p:nvSpPr>
          <p:cNvPr id="63" name="CasellaDiTesto 62">
            <a:extLst>
              <a:ext uri="{FF2B5EF4-FFF2-40B4-BE49-F238E27FC236}">
                <a16:creationId xmlns:a16="http://schemas.microsoft.com/office/drawing/2014/main" id="{0CC390FC-AC2A-50E6-AFFE-7165DC3D8E43}"/>
              </a:ext>
            </a:extLst>
          </p:cNvPr>
          <p:cNvSpPr txBox="1"/>
          <p:nvPr/>
        </p:nvSpPr>
        <p:spPr>
          <a:xfrm>
            <a:off x="5268286" y="212492"/>
            <a:ext cx="6853807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noProof="0" dirty="0">
                <a:latin typeface="Book Antiqua" panose="02040602050305030304" pitchFamily="18" charset="0"/>
              </a:rPr>
              <a:t>We will</a:t>
            </a:r>
          </a:p>
          <a:p>
            <a:pPr algn="ctr"/>
            <a:endParaRPr lang="it-IT" sz="1050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dirty="0">
                <a:latin typeface="Book Antiqua" panose="02040602050305030304" pitchFamily="18" charset="0"/>
              </a:rPr>
              <a:t>Build the three models we discussed (using </a:t>
            </a:r>
            <a:r>
              <a:rPr lang="en-US" sz="1700" dirty="0" err="1">
                <a:latin typeface="Book Antiqua" panose="02040602050305030304" pitchFamily="18" charset="0"/>
                <a:hlinkClick r:id="rId3"/>
              </a:rPr>
              <a:t>Keras</a:t>
            </a:r>
            <a:r>
              <a:rPr lang="en-US" sz="1700" dirty="0">
                <a:latin typeface="Book Antiqua" panose="02040602050305030304" pitchFamily="18" charset="0"/>
              </a:rPr>
              <a:t>)</a:t>
            </a:r>
            <a:br>
              <a:rPr lang="en-US" sz="1700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(Deep learning Framework)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Take our first look at </a:t>
            </a:r>
            <a:r>
              <a:rPr lang="en-US" dirty="0">
                <a:latin typeface="Book Antiqua" panose="02040602050305030304" pitchFamily="18" charset="0"/>
                <a:hlinkClick r:id="rId4"/>
              </a:rPr>
              <a:t>Google </a:t>
            </a:r>
            <a:r>
              <a:rPr lang="en-US" dirty="0" err="1">
                <a:latin typeface="Book Antiqua" panose="02040602050305030304" pitchFamily="18" charset="0"/>
                <a:hlinkClick r:id="rId4"/>
              </a:rPr>
              <a:t>Colab</a:t>
            </a:r>
            <a:r>
              <a:rPr lang="en-US" dirty="0">
                <a:latin typeface="Book Antiqua" panose="02040602050305030304" pitchFamily="18" charset="0"/>
              </a:rPr>
              <a:t> (</a:t>
            </a:r>
            <a:r>
              <a:rPr lang="en-US" dirty="0">
                <a:latin typeface="Book Antiqua" panose="02040602050305030304" pitchFamily="18" charset="0"/>
                <a:hlinkClick r:id="rId5"/>
              </a:rPr>
              <a:t>Start with </a:t>
            </a:r>
            <a:r>
              <a:rPr lang="en-US" dirty="0" err="1">
                <a:latin typeface="Book Antiqua" panose="02040602050305030304" pitchFamily="18" charset="0"/>
                <a:hlinkClick r:id="rId5"/>
              </a:rPr>
              <a:t>Colab</a:t>
            </a:r>
            <a:r>
              <a:rPr lang="en-US" dirty="0">
                <a:latin typeface="Book Antiqua" panose="02040602050305030304" pitchFamily="18" charset="0"/>
              </a:rPr>
              <a:t>)</a:t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(Computational resources offered by Google)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Run Python in </a:t>
            </a:r>
            <a:r>
              <a:rPr lang="en-US" dirty="0">
                <a:latin typeface="Book Antiqua" panose="02040602050305030304" pitchFamily="18" charset="0"/>
                <a:hlinkClick r:id="rId6"/>
              </a:rPr>
              <a:t>notebooks</a:t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(Way to run python interactively)</a:t>
            </a:r>
          </a:p>
          <a:p>
            <a:endParaRPr lang="en-US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Book Antiqua" panose="02040602050305030304" pitchFamily="18" charset="0"/>
              </a:rPr>
              <a:t>Have our first interaction with </a:t>
            </a:r>
            <a:r>
              <a:rPr lang="en-US" dirty="0">
                <a:latin typeface="Book Antiqua" panose="02040602050305030304" pitchFamily="18" charset="0"/>
                <a:hlinkClick r:id="rId7"/>
              </a:rPr>
              <a:t>GitHub</a:t>
            </a:r>
            <a:r>
              <a:rPr lang="en-US" dirty="0">
                <a:latin typeface="Book Antiqua" panose="02040602050305030304" pitchFamily="18" charset="0"/>
              </a:rPr>
              <a:t> </a:t>
            </a:r>
            <a:br>
              <a:rPr lang="en-US" dirty="0">
                <a:latin typeface="Book Antiqua" panose="02040602050305030304" pitchFamily="18" charset="0"/>
              </a:rPr>
            </a:br>
            <a:r>
              <a:rPr lang="en-US" dirty="0">
                <a:latin typeface="Book Antiqua" panose="02040602050305030304" pitchFamily="18" charset="0"/>
              </a:rPr>
              <a:t>(repositories “folders” to store and share code)</a:t>
            </a:r>
            <a:endParaRPr lang="it-IT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700" dirty="0">
              <a:latin typeface="Book Antiqua" panose="02040602050305030304" pitchFamily="18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9EA6836-1EBB-5A91-B613-07C01494F89C}"/>
              </a:ext>
            </a:extLst>
          </p:cNvPr>
          <p:cNvSpPr txBox="1"/>
          <p:nvPr/>
        </p:nvSpPr>
        <p:spPr>
          <a:xfrm>
            <a:off x="4883424" y="4501844"/>
            <a:ext cx="746730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W" sz="2400" dirty="0">
                <a:latin typeface="Calibri" panose="020F0502020204030204" pitchFamily="34" charset="0"/>
                <a:cs typeface="Calibri" panose="020F0502020204030204" pitchFamily="34" charset="0"/>
              </a:rPr>
              <a:t>All the material is loaded in </a:t>
            </a:r>
            <a:r>
              <a:rPr lang="en-ZW" sz="2400" dirty="0">
                <a:latin typeface="Calibri" panose="020F0502020204030204" pitchFamily="34" charset="0"/>
                <a:cs typeface="Calibri" panose="020F0502020204030204" pitchFamily="34" charset="0"/>
                <a:hlinkClick r:id="rId8"/>
              </a:rPr>
              <a:t>this folder</a:t>
            </a:r>
            <a:r>
              <a:rPr lang="en-ZW" sz="24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r>
              <a:rPr lang="en-ZW" sz="2400" dirty="0">
                <a:latin typeface="Calibri" panose="020F0502020204030204" pitchFamily="34" charset="0"/>
                <a:cs typeface="Calibri" panose="020F0502020204030204" pitchFamily="34" charset="0"/>
              </a:rPr>
              <a:t>The main useful files are:</a:t>
            </a:r>
          </a:p>
          <a:p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FCA_DeepNeuralNework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with TensorFlow_lezione.pptx</a:t>
            </a:r>
          </a:p>
          <a:p>
            <a:r>
              <a:rPr lang="en-ZW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Deep_Dense_MNIST.ipynb</a:t>
            </a:r>
            <a:endParaRPr lang="en-ZW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ZW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Deep_Convolutional_MNIST.ipynb</a:t>
            </a:r>
            <a:endParaRPr lang="en-ZW" sz="2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599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magine 14">
            <a:extLst>
              <a:ext uri="{FF2B5EF4-FFF2-40B4-BE49-F238E27FC236}">
                <a16:creationId xmlns:a16="http://schemas.microsoft.com/office/drawing/2014/main" id="{AD999A0C-A454-4641-56F5-DBA5A8BD7C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396" y="4423680"/>
            <a:ext cx="2605476" cy="982904"/>
          </a:xfrm>
          <a:prstGeom prst="rect">
            <a:avLst/>
          </a:prstGeom>
        </p:spPr>
      </p:pic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54D4B41-893F-FF18-14A7-E86464D06A4B}"/>
              </a:ext>
            </a:extLst>
          </p:cNvPr>
          <p:cNvSpPr txBox="1"/>
          <p:nvPr/>
        </p:nvSpPr>
        <p:spPr>
          <a:xfrm>
            <a:off x="8661827" y="5673131"/>
            <a:ext cx="1762126" cy="923330"/>
          </a:xfrm>
          <a:prstGeom prst="rect">
            <a:avLst/>
          </a:prstGeom>
          <a:solidFill>
            <a:srgbClr val="FFC000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Fully</a:t>
            </a:r>
            <a:endParaRPr lang="it-IT" b="1" dirty="0">
              <a:latin typeface="Georgia" panose="02040502050405020303" pitchFamily="18" charset="0"/>
            </a:endParaRPr>
          </a:p>
          <a:p>
            <a:pPr algn="ctr"/>
            <a:r>
              <a:rPr lang="it-IT" b="1" dirty="0" err="1">
                <a:latin typeface="Georgia" panose="02040502050405020303" pitchFamily="18" charset="0"/>
              </a:rPr>
              <a:t>Connected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6DA2688E-22DB-C0DA-2E1A-E166A4ADFE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80" y="3916772"/>
            <a:ext cx="3421677" cy="2941228"/>
          </a:xfrm>
          <a:prstGeom prst="rect">
            <a:avLst/>
          </a:prstGeom>
        </p:spPr>
      </p:pic>
      <p:grpSp>
        <p:nvGrpSpPr>
          <p:cNvPr id="12" name="Gruppo 11">
            <a:extLst>
              <a:ext uri="{FF2B5EF4-FFF2-40B4-BE49-F238E27FC236}">
                <a16:creationId xmlns:a16="http://schemas.microsoft.com/office/drawing/2014/main" id="{B2EDFD89-48F0-FE94-BCE7-7FD3B8CEF332}"/>
              </a:ext>
            </a:extLst>
          </p:cNvPr>
          <p:cNvGrpSpPr/>
          <p:nvPr/>
        </p:nvGrpSpPr>
        <p:grpSpPr>
          <a:xfrm>
            <a:off x="254343" y="3730492"/>
            <a:ext cx="3855839" cy="3077988"/>
            <a:chOff x="254343" y="3923814"/>
            <a:chExt cx="3718903" cy="2884666"/>
          </a:xfrm>
        </p:grpSpPr>
        <p:pic>
          <p:nvPicPr>
            <p:cNvPr id="4" name="Immagine 3">
              <a:extLst>
                <a:ext uri="{FF2B5EF4-FFF2-40B4-BE49-F238E27FC236}">
                  <a16:creationId xmlns:a16="http://schemas.microsoft.com/office/drawing/2014/main" id="{BB3C2F52-4204-383C-1E25-8A24C69CA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54343" y="4108480"/>
              <a:ext cx="3718903" cy="2700000"/>
            </a:xfrm>
            <a:prstGeom prst="rect">
              <a:avLst/>
            </a:prstGeom>
          </p:spPr>
        </p:pic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B3D23749-DE3F-268C-30D2-C5139678F3DE}"/>
                </a:ext>
              </a:extLst>
            </p:cNvPr>
            <p:cNvSpPr txBox="1"/>
            <p:nvPr/>
          </p:nvSpPr>
          <p:spPr>
            <a:xfrm>
              <a:off x="718446" y="3923814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it-IT" b="1" dirty="0">
                  <a:latin typeface="Book Antiqua" panose="02040602050305030304" pitchFamily="18" charset="0"/>
                </a:rPr>
                <a:t>Input</a:t>
              </a:r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1518AE30-46D7-45AA-092F-8FEAE47A2A61}"/>
                </a:ext>
              </a:extLst>
            </p:cNvPr>
            <p:cNvSpPr txBox="1"/>
            <p:nvPr/>
          </p:nvSpPr>
          <p:spPr>
            <a:xfrm>
              <a:off x="2321344" y="4478774"/>
              <a:ext cx="14122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it-IT" b="1" dirty="0">
                  <a:latin typeface="Book Antiqua" panose="02040602050305030304" pitchFamily="18" charset="0"/>
                </a:rPr>
                <a:t>Output</a:t>
              </a:r>
            </a:p>
          </p:txBody>
        </p:sp>
      </p:grp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E021267-A76C-D48D-774D-D2FEA09C6338}"/>
              </a:ext>
            </a:extLst>
          </p:cNvPr>
          <p:cNvSpPr txBox="1"/>
          <p:nvPr/>
        </p:nvSpPr>
        <p:spPr>
          <a:xfrm>
            <a:off x="3226754" y="5974475"/>
            <a:ext cx="1907581" cy="646331"/>
          </a:xfrm>
          <a:prstGeom prst="rect">
            <a:avLst/>
          </a:prstGeom>
          <a:solidFill>
            <a:srgbClr val="FFC000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Convolutional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9439E8E-69C0-D331-43E0-542CEEF937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724" y="0"/>
            <a:ext cx="8134618" cy="300228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923A10A0-A854-346D-5922-5A282C5C9FFA}"/>
              </a:ext>
            </a:extLst>
          </p:cNvPr>
          <p:cNvSpPr txBox="1"/>
          <p:nvPr/>
        </p:nvSpPr>
        <p:spPr>
          <a:xfrm>
            <a:off x="2692325" y="2542229"/>
            <a:ext cx="21210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>
                <a:latin typeface="Book Antiqua" panose="02040602050305030304" pitchFamily="18" charset="0"/>
              </a:rPr>
              <a:t>Input</a:t>
            </a:r>
          </a:p>
          <a:p>
            <a:pPr algn="ctr"/>
            <a:r>
              <a:rPr lang="it-IT" dirty="0">
                <a:latin typeface="Book Antiqua" panose="02040602050305030304" pitchFamily="18" charset="0"/>
              </a:rPr>
              <a:t>(or </a:t>
            </a:r>
            <a:r>
              <a:rPr lang="it-IT" dirty="0" err="1">
                <a:latin typeface="Book Antiqua" panose="02040602050305030304" pitchFamily="18" charset="0"/>
              </a:rPr>
              <a:t>previous</a:t>
            </a:r>
            <a:r>
              <a:rPr lang="it-IT" dirty="0">
                <a:latin typeface="Book Antiqua" panose="02040602050305030304" pitchFamily="18" charset="0"/>
              </a:rPr>
              <a:t> </a:t>
            </a:r>
            <a:r>
              <a:rPr lang="it-IT" dirty="0" err="1">
                <a:latin typeface="Book Antiqua" panose="02040602050305030304" pitchFamily="18" charset="0"/>
              </a:rPr>
              <a:t>layer</a:t>
            </a:r>
            <a:r>
              <a:rPr lang="it-IT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F89B00F-771D-D0D6-66F0-B9FE362C3CAF}"/>
              </a:ext>
            </a:extLst>
          </p:cNvPr>
          <p:cNvSpPr txBox="1"/>
          <p:nvPr/>
        </p:nvSpPr>
        <p:spPr>
          <a:xfrm>
            <a:off x="5587837" y="2125924"/>
            <a:ext cx="1172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>
                <a:latin typeface="Book Antiqua" panose="02040602050305030304" pitchFamily="18" charset="0"/>
              </a:rPr>
              <a:t>Kernel</a:t>
            </a:r>
          </a:p>
          <a:p>
            <a:pPr algn="ctr"/>
            <a:r>
              <a:rPr lang="it-IT" dirty="0">
                <a:latin typeface="Book Antiqua" panose="02040602050305030304" pitchFamily="18" charset="0"/>
              </a:rPr>
              <a:t>(weights)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F831536-F254-CF43-8F6C-52B922C8B1F2}"/>
              </a:ext>
            </a:extLst>
          </p:cNvPr>
          <p:cNvSpPr txBox="1"/>
          <p:nvPr/>
        </p:nvSpPr>
        <p:spPr>
          <a:xfrm>
            <a:off x="8470854" y="3002280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b="1" dirty="0">
                <a:latin typeface="Book Antiqua" panose="02040602050305030304" pitchFamily="18" charset="0"/>
              </a:rPr>
              <a:t>Output</a:t>
            </a:r>
          </a:p>
          <a:p>
            <a:pPr algn="ctr"/>
            <a:r>
              <a:rPr lang="it-IT" dirty="0">
                <a:latin typeface="Book Antiqua" panose="02040602050305030304" pitchFamily="18" charset="0"/>
              </a:rPr>
              <a:t>(</a:t>
            </a:r>
            <a:r>
              <a:rPr lang="it-IT" dirty="0" err="1">
                <a:latin typeface="Book Antiqua" panose="02040602050305030304" pitchFamily="18" charset="0"/>
              </a:rPr>
              <a:t>convolution</a:t>
            </a:r>
            <a:r>
              <a:rPr lang="it-IT" dirty="0">
                <a:latin typeface="Book Antiqua" panose="02040602050305030304" pitchFamily="18" charset="0"/>
              </a:rPr>
              <a:t>)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5D77EE5D-F9A0-0444-5DE0-9A6D5045AAE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9477" y="3961992"/>
            <a:ext cx="3186761" cy="2700000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F9B9B20-0261-0109-9115-EF9FEB53C781}"/>
              </a:ext>
            </a:extLst>
          </p:cNvPr>
          <p:cNvSpPr txBox="1"/>
          <p:nvPr/>
        </p:nvSpPr>
        <p:spPr>
          <a:xfrm>
            <a:off x="84287" y="759911"/>
            <a:ext cx="30477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Book</a:t>
            </a:r>
          </a:p>
          <a:p>
            <a:r>
              <a:rPr lang="it-IT" dirty="0">
                <a:hlinkClick r:id="rId7"/>
              </a:rPr>
              <a:t>Deep Learning, Bishop 2024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BDB8328-3DB9-C307-8BC0-BF6FC11EBA96}"/>
              </a:ext>
            </a:extLst>
          </p:cNvPr>
          <p:cNvSpPr txBox="1"/>
          <p:nvPr/>
        </p:nvSpPr>
        <p:spPr>
          <a:xfrm>
            <a:off x="4291231" y="3546517"/>
            <a:ext cx="40277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adjust</a:t>
            </a:r>
            <a:r>
              <a:rPr lang="it-IT" dirty="0"/>
              <a:t> (set)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parameters</a:t>
            </a:r>
            <a:endParaRPr lang="it-IT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Kernel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Number of kernels (</a:t>
            </a:r>
            <a:r>
              <a:rPr lang="it-IT" dirty="0" err="1"/>
              <a:t>maps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Activaction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7483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70D898C2-42B9-BEBA-4301-4D24331121CC}"/>
              </a:ext>
            </a:extLst>
          </p:cNvPr>
          <p:cNvSpPr txBox="1"/>
          <p:nvPr/>
        </p:nvSpPr>
        <p:spPr>
          <a:xfrm>
            <a:off x="6909271" y="1508304"/>
            <a:ext cx="1762126" cy="92333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Fully</a:t>
            </a:r>
            <a:endParaRPr lang="it-IT" b="1" dirty="0">
              <a:latin typeface="Georgia" panose="02040502050405020303" pitchFamily="18" charset="0"/>
            </a:endParaRPr>
          </a:p>
          <a:p>
            <a:pPr algn="ctr"/>
            <a:r>
              <a:rPr lang="it-IT" b="1" dirty="0" err="1">
                <a:latin typeface="Georgia" panose="02040502050405020303" pitchFamily="18" charset="0"/>
              </a:rPr>
              <a:t>Connected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7E9199C7-12B3-5641-DBCB-8D272DD448E0}"/>
              </a:ext>
            </a:extLst>
          </p:cNvPr>
          <p:cNvSpPr txBox="1"/>
          <p:nvPr/>
        </p:nvSpPr>
        <p:spPr>
          <a:xfrm>
            <a:off x="6909271" y="1508305"/>
            <a:ext cx="1762126" cy="923330"/>
          </a:xfrm>
          <a:prstGeom prst="rect">
            <a:avLst/>
          </a:prstGeom>
          <a:solidFill>
            <a:srgbClr val="FFC000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Fully</a:t>
            </a:r>
            <a:endParaRPr lang="it-IT" b="1" dirty="0">
              <a:latin typeface="Georgia" panose="02040502050405020303" pitchFamily="18" charset="0"/>
            </a:endParaRPr>
          </a:p>
          <a:p>
            <a:pPr algn="ctr"/>
            <a:r>
              <a:rPr lang="it-IT" b="1" dirty="0" err="1">
                <a:latin typeface="Georgia" panose="02040502050405020303" pitchFamily="18" charset="0"/>
              </a:rPr>
              <a:t>Connected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8E17394-287E-490E-D376-E8834094CB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35" y="-78508"/>
            <a:ext cx="3421677" cy="3002540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557DED67-CD22-FF62-3D1D-B2CC8DF3E11E}"/>
              </a:ext>
            </a:extLst>
          </p:cNvPr>
          <p:cNvSpPr txBox="1"/>
          <p:nvPr/>
        </p:nvSpPr>
        <p:spPr>
          <a:xfrm>
            <a:off x="3261802" y="1662546"/>
            <a:ext cx="1907581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Convolutional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1033E41D-1CA6-7FC2-41B2-5370161DD731}"/>
              </a:ext>
            </a:extLst>
          </p:cNvPr>
          <p:cNvSpPr txBox="1"/>
          <p:nvPr/>
        </p:nvSpPr>
        <p:spPr>
          <a:xfrm>
            <a:off x="3261802" y="1662546"/>
            <a:ext cx="1907581" cy="646331"/>
          </a:xfrm>
          <a:prstGeom prst="rect">
            <a:avLst/>
          </a:prstGeom>
          <a:solidFill>
            <a:srgbClr val="FFC000"/>
          </a:solidFill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it-IT" b="1" dirty="0" err="1">
                <a:latin typeface="Georgia" panose="02040502050405020303" pitchFamily="18" charset="0"/>
              </a:rPr>
              <a:t>Convolutional</a:t>
            </a:r>
            <a:r>
              <a:rPr lang="it-IT" b="1" dirty="0">
                <a:latin typeface="Georgia" panose="02040502050405020303" pitchFamily="18" charset="0"/>
              </a:rPr>
              <a:t> Layer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CB80585-154F-AB57-4004-E6BD17B34E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401" y="1508304"/>
            <a:ext cx="2605476" cy="982904"/>
          </a:xfrm>
          <a:prstGeom prst="rect">
            <a:avLst/>
          </a:prstGeom>
        </p:spPr>
      </p:pic>
      <p:grpSp>
        <p:nvGrpSpPr>
          <p:cNvPr id="13" name="Gruppo 12">
            <a:extLst>
              <a:ext uri="{FF2B5EF4-FFF2-40B4-BE49-F238E27FC236}">
                <a16:creationId xmlns:a16="http://schemas.microsoft.com/office/drawing/2014/main" id="{F7D9FA2C-69DC-EFCA-2F7D-D524F7AAE319}"/>
              </a:ext>
            </a:extLst>
          </p:cNvPr>
          <p:cNvGrpSpPr/>
          <p:nvPr/>
        </p:nvGrpSpPr>
        <p:grpSpPr>
          <a:xfrm>
            <a:off x="3983945" y="148478"/>
            <a:ext cx="4224109" cy="930431"/>
            <a:chOff x="7634679" y="1303727"/>
            <a:chExt cx="4224109" cy="930431"/>
          </a:xfrm>
        </p:grpSpPr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14692E01-3D69-EE73-B962-FD41267A4166}"/>
                </a:ext>
              </a:extLst>
            </p:cNvPr>
            <p:cNvSpPr txBox="1"/>
            <p:nvPr/>
          </p:nvSpPr>
          <p:spPr>
            <a:xfrm>
              <a:off x="7634679" y="1307064"/>
              <a:ext cx="73342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algn="ctr"/>
              <a:r>
                <a:rPr lang="it-IT" dirty="0"/>
                <a:t>Data</a:t>
              </a:r>
            </a:p>
          </p:txBody>
        </p:sp>
        <p:sp>
          <p:nvSpPr>
            <p:cNvPr id="17" name="CasellaDiTesto 16">
              <a:extLst>
                <a:ext uri="{FF2B5EF4-FFF2-40B4-BE49-F238E27FC236}">
                  <a16:creationId xmlns:a16="http://schemas.microsoft.com/office/drawing/2014/main" id="{B6F652C4-8FC1-2977-0CE4-5223FE0FE390}"/>
                </a:ext>
              </a:extLst>
            </p:cNvPr>
            <p:cNvSpPr txBox="1"/>
            <p:nvPr/>
          </p:nvSpPr>
          <p:spPr>
            <a:xfrm>
              <a:off x="8334164" y="1864826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Model</a:t>
              </a:r>
              <a:endParaRPr lang="it-IT" sz="300" dirty="0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3F1FA813-D66F-37B5-AF52-5E2804535393}"/>
                </a:ext>
              </a:extLst>
            </p:cNvPr>
            <p:cNvSpPr txBox="1"/>
            <p:nvPr/>
          </p:nvSpPr>
          <p:spPr>
            <a:xfrm>
              <a:off x="10422593" y="1307064"/>
              <a:ext cx="1110265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/>
                <a:t>Loss</a:t>
              </a:r>
              <a:endParaRPr lang="it-IT" sz="300" dirty="0"/>
            </a:p>
          </p:txBody>
        </p:sp>
        <p:sp>
          <p:nvSpPr>
            <p:cNvPr id="19" name="CasellaDiTesto 18">
              <a:extLst>
                <a:ext uri="{FF2B5EF4-FFF2-40B4-BE49-F238E27FC236}">
                  <a16:creationId xmlns:a16="http://schemas.microsoft.com/office/drawing/2014/main" id="{2E701217-D731-EC3D-4D73-DCB269F03D68}"/>
                </a:ext>
              </a:extLst>
            </p:cNvPr>
            <p:cNvSpPr txBox="1"/>
            <p:nvPr/>
          </p:nvSpPr>
          <p:spPr>
            <a:xfrm>
              <a:off x="10096662" y="1864649"/>
              <a:ext cx="1762126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en-CA" noProof="0" dirty="0"/>
                <a:t>Weight</a:t>
              </a:r>
              <a:r>
                <a:rPr lang="it-IT" dirty="0"/>
                <a:t> update</a:t>
              </a:r>
              <a:endParaRPr lang="it-IT" sz="300" dirty="0"/>
            </a:p>
          </p:txBody>
        </p:sp>
        <p:cxnSp>
          <p:nvCxnSpPr>
            <p:cNvPr id="20" name="Connettore 2 19">
              <a:extLst>
                <a:ext uri="{FF2B5EF4-FFF2-40B4-BE49-F238E27FC236}">
                  <a16:creationId xmlns:a16="http://schemas.microsoft.com/office/drawing/2014/main" id="{FD523230-26E3-AF59-2880-924707412F85}"/>
                </a:ext>
              </a:extLst>
            </p:cNvPr>
            <p:cNvCxnSpPr>
              <a:cxnSpLocks/>
              <a:stCxn id="18" idx="2"/>
              <a:endCxn id="19" idx="0"/>
            </p:cNvCxnSpPr>
            <p:nvPr/>
          </p:nvCxnSpPr>
          <p:spPr>
            <a:xfrm flipH="1">
              <a:off x="10977725" y="1676396"/>
              <a:ext cx="1" cy="18825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ttore 2 20">
              <a:extLst>
                <a:ext uri="{FF2B5EF4-FFF2-40B4-BE49-F238E27FC236}">
                  <a16:creationId xmlns:a16="http://schemas.microsoft.com/office/drawing/2014/main" id="{36C095D6-3E39-AD43-5C01-9BAA99852053}"/>
                </a:ext>
              </a:extLst>
            </p:cNvPr>
            <p:cNvCxnSpPr>
              <a:cxnSpLocks/>
              <a:stCxn id="19" idx="1"/>
              <a:endCxn id="17" idx="3"/>
            </p:cNvCxnSpPr>
            <p:nvPr/>
          </p:nvCxnSpPr>
          <p:spPr>
            <a:xfrm flipH="1">
              <a:off x="9444429" y="2049315"/>
              <a:ext cx="652233" cy="17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Connettore diritto 21">
              <a:extLst>
                <a:ext uri="{FF2B5EF4-FFF2-40B4-BE49-F238E27FC236}">
                  <a16:creationId xmlns:a16="http://schemas.microsoft.com/office/drawing/2014/main" id="{4CAD85F7-D76B-64BC-C989-BD183232AE71}"/>
                </a:ext>
              </a:extLst>
            </p:cNvPr>
            <p:cNvCxnSpPr>
              <a:cxnSpLocks/>
              <a:stCxn id="15" idx="3"/>
              <a:endCxn id="24" idx="1"/>
            </p:cNvCxnSpPr>
            <p:nvPr/>
          </p:nvCxnSpPr>
          <p:spPr>
            <a:xfrm flipV="1">
              <a:off x="8368104" y="1488393"/>
              <a:ext cx="516832" cy="3337"/>
            </a:xfrm>
            <a:prstGeom prst="lin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Connettore a gomito 22">
              <a:extLst>
                <a:ext uri="{FF2B5EF4-FFF2-40B4-BE49-F238E27FC236}">
                  <a16:creationId xmlns:a16="http://schemas.microsoft.com/office/drawing/2014/main" id="{8290E9B2-5E7D-830C-7B52-3977467BF149}"/>
                </a:ext>
              </a:extLst>
            </p:cNvPr>
            <p:cNvCxnSpPr>
              <a:cxnSpLocks/>
              <a:stCxn id="17" idx="0"/>
              <a:endCxn id="24" idx="1"/>
            </p:cNvCxnSpPr>
            <p:nvPr/>
          </p:nvCxnSpPr>
          <p:spPr>
            <a:xfrm rot="16200000" flipV="1">
              <a:off x="8698901" y="1674429"/>
              <a:ext cx="376433" cy="4361"/>
            </a:xfrm>
            <a:prstGeom prst="bentConnector4">
              <a:avLst>
                <a:gd name="adj1" fmla="val 25471"/>
                <a:gd name="adj2" fmla="val 6322701"/>
              </a:avLst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CasellaDiTesto 23">
              <a:extLst>
                <a:ext uri="{FF2B5EF4-FFF2-40B4-BE49-F238E27FC236}">
                  <a16:creationId xmlns:a16="http://schemas.microsoft.com/office/drawing/2014/main" id="{7CB402F6-68DD-0DB7-1655-A20318C14C8C}"/>
                </a:ext>
              </a:extLst>
            </p:cNvPr>
            <p:cNvSpPr txBox="1"/>
            <p:nvPr/>
          </p:nvSpPr>
          <p:spPr>
            <a:xfrm>
              <a:off x="8884936" y="1303727"/>
              <a:ext cx="1316208" cy="369332"/>
            </a:xfrm>
            <a:prstGeom prst="rect">
              <a:avLst/>
            </a:prstGeom>
            <a:noFill/>
            <a:ln w="28575"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anchor="ctr">
              <a:spAutoFit/>
            </a:bodyPr>
            <a:lstStyle/>
            <a:p>
              <a:pPr algn="ctr"/>
              <a:r>
                <a:rPr lang="it-IT" dirty="0" err="1"/>
                <a:t>Predictions</a:t>
              </a:r>
              <a:endParaRPr lang="it-IT" sz="300" dirty="0"/>
            </a:p>
          </p:txBody>
        </p:sp>
        <p:cxnSp>
          <p:nvCxnSpPr>
            <p:cNvPr id="25" name="Connettore 2 24">
              <a:extLst>
                <a:ext uri="{FF2B5EF4-FFF2-40B4-BE49-F238E27FC236}">
                  <a16:creationId xmlns:a16="http://schemas.microsoft.com/office/drawing/2014/main" id="{0B6BCD8B-A389-A72F-4256-AA0C59C63CE8}"/>
                </a:ext>
              </a:extLst>
            </p:cNvPr>
            <p:cNvCxnSpPr>
              <a:cxnSpLocks/>
              <a:stCxn id="24" idx="3"/>
              <a:endCxn id="18" idx="1"/>
            </p:cNvCxnSpPr>
            <p:nvPr/>
          </p:nvCxnSpPr>
          <p:spPr>
            <a:xfrm>
              <a:off x="10201144" y="1488393"/>
              <a:ext cx="221449" cy="3337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3E1AFAFC-3E92-7B6C-EB5D-57671341D9C6}"/>
              </a:ext>
            </a:extLst>
          </p:cNvPr>
          <p:cNvSpPr txBox="1"/>
          <p:nvPr/>
        </p:nvSpPr>
        <p:spPr>
          <a:xfrm>
            <a:off x="4683430" y="708307"/>
            <a:ext cx="1110265" cy="369332"/>
          </a:xfrm>
          <a:prstGeom prst="rect">
            <a:avLst/>
          </a:prstGeom>
          <a:solidFill>
            <a:srgbClr val="FFC000"/>
          </a:solidFill>
          <a:ln w="28575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anchor="ctr">
            <a:spAutoFit/>
          </a:bodyPr>
          <a:lstStyle/>
          <a:p>
            <a:pPr algn="ctr"/>
            <a:r>
              <a:rPr lang="it-IT" dirty="0"/>
              <a:t>Model</a:t>
            </a:r>
            <a:endParaRPr lang="it-IT" sz="300" dirty="0"/>
          </a:p>
        </p:txBody>
      </p:sp>
      <p:cxnSp>
        <p:nvCxnSpPr>
          <p:cNvPr id="30" name="Connettore diritto 29">
            <a:extLst>
              <a:ext uri="{FF2B5EF4-FFF2-40B4-BE49-F238E27FC236}">
                <a16:creationId xmlns:a16="http://schemas.microsoft.com/office/drawing/2014/main" id="{205EB938-F4B4-91C8-A09E-3F39B2795460}"/>
              </a:ext>
            </a:extLst>
          </p:cNvPr>
          <p:cNvCxnSpPr>
            <a:cxnSpLocks/>
          </p:cNvCxnSpPr>
          <p:nvPr/>
        </p:nvCxnSpPr>
        <p:spPr>
          <a:xfrm flipH="1">
            <a:off x="6080702" y="1662546"/>
            <a:ext cx="15298" cy="502781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0FAEFBE3-51A2-FE80-8C2B-094629BEEB1D}"/>
              </a:ext>
            </a:extLst>
          </p:cNvPr>
          <p:cNvSpPr txBox="1"/>
          <p:nvPr/>
        </p:nvSpPr>
        <p:spPr>
          <a:xfrm>
            <a:off x="6200254" y="2912831"/>
            <a:ext cx="6032421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Global connectivity</a:t>
            </a:r>
          </a:p>
          <a:p>
            <a:r>
              <a:rPr lang="en-US" dirty="0"/>
              <a:t>Every unit is connected to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all ones </a:t>
            </a:r>
            <a:r>
              <a:rPr lang="en-US" dirty="0"/>
              <a:t>in the previous layer</a:t>
            </a:r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endParaRPr lang="en-US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No structure assumptions</a:t>
            </a:r>
          </a:p>
          <a:p>
            <a:r>
              <a:rPr lang="en-US" dirty="0"/>
              <a:t>The model does not assume local relationships of inputs</a:t>
            </a:r>
          </a:p>
          <a:p>
            <a:endParaRPr lang="it-IT" sz="600" dirty="0"/>
          </a:p>
          <a:p>
            <a:endParaRPr lang="it-IT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Sensitive to input ordering</a:t>
            </a:r>
          </a:p>
          <a:p>
            <a:r>
              <a:rPr lang="en-US" dirty="0"/>
              <a:t>Changing the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order</a:t>
            </a:r>
            <a:r>
              <a:rPr lang="en-US" dirty="0"/>
              <a:t> of input features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changes the result</a:t>
            </a:r>
          </a:p>
          <a:p>
            <a:endParaRPr lang="it-IT" sz="600" dirty="0"/>
          </a:p>
          <a:p>
            <a:endParaRPr lang="it-IT" sz="600" dirty="0"/>
          </a:p>
          <a:p>
            <a:endParaRPr lang="it-IT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 learning is global</a:t>
            </a:r>
          </a:p>
          <a:p>
            <a:r>
              <a:rPr lang="en-US" dirty="0"/>
              <a:t>Each neuron mixes information from the </a:t>
            </a:r>
            <a:r>
              <a:rPr lang="en-US" b="1" dirty="0">
                <a:solidFill>
                  <a:srgbClr val="00B0F0"/>
                </a:solidFill>
              </a:rPr>
              <a:t>entire input</a:t>
            </a:r>
            <a:endParaRPr lang="it-IT" sz="600" b="1" dirty="0">
              <a:solidFill>
                <a:srgbClr val="00B0F0"/>
              </a:solidFill>
            </a:endParaRPr>
          </a:p>
          <a:p>
            <a:endParaRPr lang="it-IT" sz="6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endParaRPr lang="it-IT" sz="6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Large number of parameters</a:t>
            </a:r>
          </a:p>
          <a:p>
            <a:r>
              <a:rPr lang="en-US" dirty="0"/>
              <a:t>Poor with </a:t>
            </a:r>
            <a:r>
              <a:rPr lang="en-US" b="1" dirty="0">
                <a:solidFill>
                  <a:srgbClr val="00B0F0"/>
                </a:solidFill>
              </a:rPr>
              <a:t>high-dimensional</a:t>
            </a:r>
            <a:r>
              <a:rPr lang="en-US" dirty="0"/>
              <a:t> inputs (e.g., images) </a:t>
            </a:r>
          </a:p>
          <a:p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36072CD2-67DF-082F-659D-A44B66FF0DE9}"/>
              </a:ext>
            </a:extLst>
          </p:cNvPr>
          <p:cNvSpPr txBox="1"/>
          <p:nvPr/>
        </p:nvSpPr>
        <p:spPr>
          <a:xfrm>
            <a:off x="-9427" y="2912831"/>
            <a:ext cx="6090129" cy="38318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Local connectivity </a:t>
            </a:r>
            <a:r>
              <a:rPr lang="en-US" dirty="0"/>
              <a:t>(receptive fields)</a:t>
            </a:r>
          </a:p>
          <a:p>
            <a:r>
              <a:rPr lang="en-US" dirty="0"/>
              <a:t>Each unit is connected only to a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local region </a:t>
            </a:r>
            <a:r>
              <a:rPr lang="en-US" dirty="0"/>
              <a:t>of the input </a:t>
            </a:r>
          </a:p>
          <a:p>
            <a:r>
              <a:rPr lang="en-US" dirty="0"/>
              <a:t>(Assumes nearby elements (ex. pixels) are more related)</a:t>
            </a:r>
          </a:p>
          <a:p>
            <a:endParaRPr lang="en-US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Parameter sharing </a:t>
            </a:r>
            <a:r>
              <a:rPr lang="en-US" dirty="0"/>
              <a:t>(filters/</a:t>
            </a:r>
            <a:r>
              <a:rPr lang="en-US" b="1" dirty="0">
                <a:solidFill>
                  <a:srgbClr val="FF0000"/>
                </a:solidFill>
              </a:rPr>
              <a:t>kernels</a:t>
            </a:r>
            <a:r>
              <a:rPr lang="en-US" dirty="0"/>
              <a:t>)</a:t>
            </a:r>
          </a:p>
          <a:p>
            <a:r>
              <a:rPr lang="en-US" dirty="0"/>
              <a:t>The same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weights</a:t>
            </a:r>
            <a:r>
              <a:rPr lang="en-US" dirty="0"/>
              <a:t> are </a:t>
            </a:r>
            <a:r>
              <a:rPr lang="en-US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reused</a:t>
            </a:r>
            <a:r>
              <a:rPr lang="en-US" dirty="0"/>
              <a:t> → fewer parameters </a:t>
            </a:r>
          </a:p>
          <a:p>
            <a:endParaRPr lang="en-US" sz="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Translation “invariant”</a:t>
            </a:r>
          </a:p>
          <a:p>
            <a:r>
              <a:rPr lang="en-US" dirty="0"/>
              <a:t>When shifting input (e.g., moving an object in an image) </a:t>
            </a:r>
          </a:p>
          <a:p>
            <a:r>
              <a:rPr lang="en-US" dirty="0"/>
              <a:t>patterns can still be detected</a:t>
            </a:r>
          </a:p>
          <a:p>
            <a:r>
              <a:rPr lang="en-US" sz="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Hierarchical feature learning</a:t>
            </a:r>
          </a:p>
          <a:p>
            <a:r>
              <a:rPr lang="en-US" dirty="0"/>
              <a:t>Early layers detect simple </a:t>
            </a:r>
            <a:r>
              <a:rPr lang="en-US" b="1" dirty="0">
                <a:solidFill>
                  <a:srgbClr val="00B0F0"/>
                </a:solidFill>
              </a:rPr>
              <a:t>features </a:t>
            </a:r>
            <a:r>
              <a:rPr lang="en-US" dirty="0"/>
              <a:t>(an eye in an image) </a:t>
            </a:r>
          </a:p>
          <a:p>
            <a:r>
              <a:rPr lang="en-US" dirty="0"/>
              <a:t>Deep layers detect complex </a:t>
            </a:r>
            <a:r>
              <a:rPr lang="en-US" b="1" dirty="0">
                <a:solidFill>
                  <a:srgbClr val="00B0F0"/>
                </a:solidFill>
              </a:rPr>
              <a:t>patterns </a:t>
            </a:r>
            <a:r>
              <a:rPr lang="en-US" dirty="0"/>
              <a:t>(an entire person)</a:t>
            </a:r>
          </a:p>
          <a:p>
            <a:endParaRPr lang="en-US" sz="600" dirty="0"/>
          </a:p>
          <a:p>
            <a:endParaRPr lang="en-US" sz="3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Much fewer parameters than fully connected layers</a:t>
            </a:r>
          </a:p>
        </p:txBody>
      </p:sp>
    </p:spTree>
    <p:extLst>
      <p:ext uri="{BB962C8B-B14F-4D97-AF65-F5344CB8AC3E}">
        <p14:creationId xmlns:p14="http://schemas.microsoft.com/office/powerpoint/2010/main" val="15233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426D9FD0-5E7A-806F-7738-F5C179FB2C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038" y="1039929"/>
            <a:ext cx="5433531" cy="3101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E26804E-933A-AEFF-94B0-1FF2B1F505FE}"/>
                  </a:ext>
                </a:extLst>
              </p:cNvPr>
              <p:cNvSpPr txBox="1"/>
              <p:nvPr/>
            </p:nvSpPr>
            <p:spPr>
              <a:xfrm>
                <a:off x="1592795" y="4204527"/>
                <a:ext cx="712193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PH" sz="2400" b="1" dirty="0"/>
                  <a:t>Sparse connectivity </a:t>
                </a:r>
                <a:r>
                  <a:rPr lang="en-PH" sz="2400" dirty="0"/>
                  <a:t>-</a:t>
                </a:r>
                <a:r>
                  <a:rPr lang="en-PH" sz="2000" dirty="0"/>
                  <a:t>&gt; retrieve spatial information</a:t>
                </a:r>
                <a:endParaRPr lang="en-PH" sz="2400" dirty="0"/>
              </a:p>
              <a:p>
                <a:endParaRPr lang="en-PH" sz="2400" b="1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PH" sz="2400" b="1" dirty="0"/>
                  <a:t>Weight sharing </a:t>
                </a:r>
                <a:r>
                  <a:rPr lang="en-PH" sz="2400" dirty="0"/>
                  <a:t>-------</a:t>
                </a:r>
                <a:r>
                  <a:rPr lang="en-PH" sz="2000" dirty="0"/>
                  <a:t>&gt; Translational invariance</a:t>
                </a:r>
              </a:p>
              <a:p>
                <a:pPr lvl="1"/>
                <a:r>
                  <a:rPr lang="en-PH" sz="2000" dirty="0"/>
                  <a:t>   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it-IT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it-IT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PH" sz="2000" dirty="0"/>
                  <a:t>)</a:t>
                </a:r>
                <a:endParaRPr lang="it-IT" sz="2000" dirty="0"/>
              </a:p>
              <a:p>
                <a:pPr lvl="1"/>
                <a:endParaRPr lang="en-PH" sz="2000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DE26804E-933A-AEFF-94B0-1FF2B1F50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2795" y="4204527"/>
                <a:ext cx="7121934" cy="1815882"/>
              </a:xfrm>
              <a:prstGeom prst="rect">
                <a:avLst/>
              </a:prstGeom>
              <a:blipFill>
                <a:blip r:embed="rId3"/>
                <a:stretch>
                  <a:fillRect l="-1112" t="-234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F2604CA-475F-259C-6DDC-F1F5D1F66FA5}"/>
                  </a:ext>
                </a:extLst>
              </p:cNvPr>
              <p:cNvSpPr txBox="1"/>
              <p:nvPr/>
            </p:nvSpPr>
            <p:spPr>
              <a:xfrm>
                <a:off x="2254112" y="2668378"/>
                <a:ext cx="56778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2800" b="1" i="1" smtClean="0">
                          <a:solidFill>
                            <a:srgbClr val="1F4291"/>
                          </a:solidFill>
                          <a:latin typeface="Cambria Math" panose="02040503050406030204" pitchFamily="18" charset="0"/>
                        </a:rPr>
                        <m:t>𝒘</m:t>
                      </m:r>
                    </m:oMath>
                  </m:oMathPara>
                </a14:m>
                <a:endParaRPr lang="it-IT" b="1" dirty="0">
                  <a:solidFill>
                    <a:srgbClr val="1F4291"/>
                  </a:solidFill>
                </a:endParaRPr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BF2604CA-475F-259C-6DDC-F1F5D1F66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4112" y="2668378"/>
                <a:ext cx="567783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B6577D95-5E14-FE86-3DAE-77C5FC179719}"/>
              </a:ext>
            </a:extLst>
          </p:cNvPr>
          <p:cNvSpPr txBox="1"/>
          <p:nvPr/>
        </p:nvSpPr>
        <p:spPr>
          <a:xfrm>
            <a:off x="0" y="35057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dirty="0"/>
              <a:t>Convolutional Neural </a:t>
            </a:r>
            <a:r>
              <a:rPr lang="en-PH" sz="2400" dirty="0" err="1"/>
              <a:t>Netowrks</a:t>
            </a:r>
            <a:endParaRPr lang="en-PH" sz="2400" dirty="0"/>
          </a:p>
          <a:p>
            <a:pPr algn="ctr"/>
            <a:r>
              <a:rPr lang="en-PH" sz="2400" dirty="0"/>
              <a:t>(CNNs)</a:t>
            </a:r>
            <a:endParaRPr lang="en-PH" sz="2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6DD8B2EA-EBF4-A2B5-87A3-3B5D812DB12C}"/>
              </a:ext>
            </a:extLst>
          </p:cNvPr>
          <p:cNvSpPr txBox="1"/>
          <p:nvPr/>
        </p:nvSpPr>
        <p:spPr>
          <a:xfrm>
            <a:off x="184961" y="6020409"/>
            <a:ext cx="31726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dirty="0"/>
              <a:t>Book</a:t>
            </a:r>
          </a:p>
          <a:p>
            <a:r>
              <a:rPr lang="it-IT" dirty="0">
                <a:hlinkClick r:id="rId5"/>
              </a:rPr>
              <a:t>Deep Learning, Bishop, 2024</a:t>
            </a:r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C4A8E99-ABCB-9630-77A7-0B809F92A0D4}"/>
              </a:ext>
            </a:extLst>
          </p:cNvPr>
          <p:cNvSpPr txBox="1"/>
          <p:nvPr/>
        </p:nvSpPr>
        <p:spPr>
          <a:xfrm>
            <a:off x="7752371" y="1437272"/>
            <a:ext cx="402770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We</a:t>
            </a:r>
            <a:r>
              <a:rPr lang="it-IT" dirty="0"/>
              <a:t> can </a:t>
            </a:r>
            <a:r>
              <a:rPr lang="it-IT" dirty="0" err="1"/>
              <a:t>adjust</a:t>
            </a:r>
            <a:r>
              <a:rPr lang="it-IT" dirty="0"/>
              <a:t> (set) </a:t>
            </a:r>
            <a:r>
              <a:rPr lang="it-IT" dirty="0" err="1"/>
              <a:t>these</a:t>
            </a:r>
            <a:r>
              <a:rPr lang="it-IT" dirty="0"/>
              <a:t> </a:t>
            </a:r>
            <a:r>
              <a:rPr lang="it-IT" dirty="0" err="1"/>
              <a:t>parameters</a:t>
            </a:r>
            <a:endParaRPr lang="it-IT" dirty="0"/>
          </a:p>
          <a:p>
            <a:endParaRPr lang="it-IT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Kernel size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Number of kernels (</a:t>
            </a:r>
            <a:r>
              <a:rPr lang="it-IT" dirty="0" err="1"/>
              <a:t>maps</a:t>
            </a:r>
            <a:r>
              <a:rPr lang="it-IT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 err="1"/>
              <a:t>Activaction</a:t>
            </a:r>
            <a:r>
              <a:rPr lang="it-IT" dirty="0"/>
              <a:t> </a:t>
            </a:r>
            <a:r>
              <a:rPr lang="it-IT" dirty="0" err="1"/>
              <a:t>function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27602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Custom 12">
      <a:dk1>
        <a:sysClr val="windowText" lastClr="000000"/>
      </a:dk1>
      <a:lt1>
        <a:sysClr val="window" lastClr="FFFFFF"/>
      </a:lt1>
      <a:dk2>
        <a:srgbClr val="323232"/>
      </a:dk2>
      <a:lt2>
        <a:srgbClr val="FFFFFF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5264495" id="{6DF9CAB6-1D2B-449F-890E-3FF7DF8EC61A}" vid="{9C4E66CF-E6C7-4030-AC57-0181577EF9E3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Forme astratte del titolo animate</Template>
  <TotalTime>131</TotalTime>
  <Words>1137</Words>
  <Application>Microsoft Office PowerPoint</Application>
  <PresentationFormat>Widescreen</PresentationFormat>
  <Paragraphs>351</Paragraphs>
  <Slides>13</Slides>
  <Notes>4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9" baseType="lpstr">
      <vt:lpstr>Arial</vt:lpstr>
      <vt:lpstr>Book Antiqua</vt:lpstr>
      <vt:lpstr>Calibri</vt:lpstr>
      <vt:lpstr>Cambria Math</vt:lpstr>
      <vt:lpstr>Georgia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Giovanni MESSUTI</dc:creator>
  <cp:keywords/>
  <dc:description/>
  <cp:lastModifiedBy>Giovanni MESSUTI</cp:lastModifiedBy>
  <cp:revision>28</cp:revision>
  <dcterms:created xsi:type="dcterms:W3CDTF">2025-04-29T10:56:45Z</dcterms:created>
  <dcterms:modified xsi:type="dcterms:W3CDTF">2026-05-06T21:02:44Z</dcterms:modified>
  <cp:category/>
</cp:coreProperties>
</file>