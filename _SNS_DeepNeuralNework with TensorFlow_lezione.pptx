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1E_81106634.xml" ContentType="application/vnd.ms-powerpoint.comments+xml"/>
  <Override PartName="/ppt/comments/modernComment_113_AD4CE242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6" r:id="rId2"/>
    <p:sldId id="275" r:id="rId3"/>
    <p:sldId id="256" r:id="rId4"/>
    <p:sldId id="257" r:id="rId5"/>
    <p:sldId id="264" r:id="rId6"/>
    <p:sldId id="285" r:id="rId7"/>
    <p:sldId id="266" r:id="rId8"/>
    <p:sldId id="258" r:id="rId9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5C06C61-55CC-1598-4B95-99902AB01CCD}" name="Giovanni MESSUTI" initials="GM" userId="S::gmessuti@unisa.it::9b3bf107-903e-417b-9c3b-0b17ad0e59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29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6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1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1E_811066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3847DF-DB43-45CE-A484-C49ADDEF1CA0}" authorId="{15C06C61-55CC-1598-4B95-99902AB01CCD}" created="2026-05-02T09:51:37.025">
    <pc:sldMkLst xmlns:pc="http://schemas.microsoft.com/office/powerpoint/2013/main/command">
      <pc:docMk/>
      <pc:sldMk cId="2165335604" sldId="286"/>
    </pc:sldMkLst>
    <p188:txBody>
      <a:bodyPr/>
      <a:lstStyle/>
      <a:p>
        <a:r>
          <a:rPr lang="it-IT"/>
          <a:t>We are going to face classification problems
And we are using Deep learning frameworks, libraries. In particular we will use TensorFlow and Keras</a:t>
        </a:r>
      </a:p>
    </p188:txBody>
  </p188:cm>
</p188:cmLst>
</file>

<file path=ppt/comments/modernComment_113_AD4CE2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194EDC-A851-43A9-8E68-1D46ED99AA4F}" authorId="{15C06C61-55CC-1598-4B95-99902AB01CCD}" created="2026-05-02T09:53:35.206">
    <pc:sldMkLst xmlns:pc="http://schemas.microsoft.com/office/powerpoint/2013/main/command">
      <pc:docMk/>
      <pc:sldMk cId="2907497026" sldId="275"/>
    </pc:sldMkLst>
    <p188:txBody>
      <a:bodyPr/>
      <a:lstStyle/>
      <a:p>
        <a:r>
          <a:rPr lang="it-IT"/>
          <a:t>We start recalling what is a classification problem (binary classification).
You have studied this: when our model, our network learns how to classify things in 2 classes: DOGs vs CATs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7CD44035-300B-447B-9181-A32114C7E2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83CD74-A933-442F-A790-73278BAD8D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B36A5-C0C2-41F1-A466-125A3C9CFDA8}" type="datetimeFigureOut">
              <a:rPr lang="it-IT" smtClean="0"/>
              <a:t>02/05/2026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6D842C-0951-41B6-9F93-0578E7E9DA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7111836-C354-438B-A45D-704EEB8E35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B763B-6419-4F89-A3B8-528C1A209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8648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2351F-C622-46DB-BDDE-413EE749618D}" type="datetimeFigureOut">
              <a:rPr lang="it-IT" noProof="0" smtClean="0"/>
              <a:t>02/05/2026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Modifica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32D8D-7840-40ED-8A37-32DFC1B0C6CB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31720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69A9-283D-DE13-4975-752F13D7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8D49F5B-590C-0F6E-110D-FB21B88CC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01D120-8E35-4E19-7E62-020426B13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9A6A66-40BF-BDE8-0E74-0DCD3F3FD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452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33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181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99C4-849E-3988-DE41-75F3EB18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97E9C0-8FBE-16BB-AE9B-0EC4EF966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41AD2F8-24D1-A91B-7FBF-70FD27714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684D11-AE9E-DA78-6B68-F16610C94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988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5D5F5A74-372F-4F1B-A8D6-C19F24AC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889" y="2873650"/>
            <a:ext cx="5494867" cy="612648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600000" lon="20399999" rev="21180000"/>
            </a:camera>
            <a:lightRig rig="threePt" dir="t"/>
          </a:scene3d>
        </p:spPr>
        <p:txBody>
          <a:bodyPr rtlCol="0"/>
          <a:lstStyle>
            <a:lvl1pPr algn="ctr">
              <a:defRPr sz="34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985462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5D5F5A74-372F-4F1B-A8D6-C19F24AC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77" y="3023292"/>
            <a:ext cx="5495544" cy="612648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0" lon="1799953" rev="0"/>
            </a:camera>
            <a:lightRig rig="threePt" dir="t"/>
          </a:scene3d>
        </p:spPr>
        <p:txBody>
          <a:bodyPr rtlCol="0"/>
          <a:lstStyle>
            <a:lvl1pPr algn="ctr">
              <a:defRPr sz="34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45328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F0041C-B704-4753-8B6B-6FB28159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2" y="2869409"/>
            <a:ext cx="10515600" cy="1325563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21000000" lon="600000" rev="0"/>
            </a:camera>
            <a:lightRig rig="threePt" dir="t"/>
          </a:scene3d>
        </p:spPr>
        <p:txBody>
          <a:bodyPr rtlCol="0" anchor="ctr"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33816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F0041C-B704-4753-8B6B-6FB28159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23" y="2997744"/>
            <a:ext cx="10515600" cy="1325563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0" lon="21000000" rev="0"/>
            </a:camera>
            <a:lightRig rig="threePt" dir="t"/>
          </a:scene3d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907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73CF9A-D9A1-417A-7AFE-48551B93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DEAB55-9FBD-2C18-5593-507945EBF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EAC928-CF06-062A-5544-D2F7A2B5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C588-2F4A-40D9-9491-0BA83DB7170F}" type="datetimeFigureOut">
              <a:rPr lang="it-IT" smtClean="0"/>
              <a:t>02/05/2026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1FDA44-EB4A-7DE0-A5DD-9EFBEEF9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E8FB7E-68EE-83F7-20B5-52001FE3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9FB-68DE-46CC-920D-87051E9D07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591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82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89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0" r:id="rId3"/>
    <p:sldLayoutId id="2147483653" r:id="rId4"/>
    <p:sldLayoutId id="2147483654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8110663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microsoft.com/office/2018/10/relationships/comments" Target="../comments/modernComment_113_AD4CE24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tacamp.com/tutorial/pytorch-vs-tensorflow-vs-kera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" TargetMode="External"/><Relationship Id="rId7" Type="http://schemas.openxmlformats.org/officeDocument/2006/relationships/hyperlink" Target="https://kinsta.com/knowledgebase/what-is-github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ode.visualstudio.com/docs/datascience/jupyter-notebooks" TargetMode="External"/><Relationship Id="rId5" Type="http://schemas.openxmlformats.org/officeDocument/2006/relationships/hyperlink" Target="https://www.marqo.ai/blog/getting-started-with-google-colab-a-beginners-guide" TargetMode="External"/><Relationship Id="rId4" Type="http://schemas.openxmlformats.org/officeDocument/2006/relationships/hyperlink" Target="https://colab.research.google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7434-CD6F-6516-A633-18C77E49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Immagine 13">
            <a:extLst>
              <a:ext uri="{FF2B5EF4-FFF2-40B4-BE49-F238E27FC236}">
                <a16:creationId xmlns:a16="http://schemas.microsoft.com/office/drawing/2014/main" id="{2F950F4F-F2CE-FE43-76B4-742350D0A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42773" y="1951240"/>
            <a:ext cx="3742147" cy="416696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88C8D8D-F76A-8CF3-A303-D8953460EC65}"/>
              </a:ext>
            </a:extLst>
          </p:cNvPr>
          <p:cNvSpPr txBox="1"/>
          <p:nvPr/>
        </p:nvSpPr>
        <p:spPr>
          <a:xfrm>
            <a:off x="0" y="54816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With Python</a:t>
            </a: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90290968-BEDA-8DE6-9C03-3DD5B645E777}"/>
              </a:ext>
            </a:extLst>
          </p:cNvPr>
          <p:cNvGrpSpPr/>
          <p:nvPr/>
        </p:nvGrpSpPr>
        <p:grpSpPr>
          <a:xfrm>
            <a:off x="-314960" y="934720"/>
            <a:ext cx="5608320" cy="5495932"/>
            <a:chOff x="-670560" y="716536"/>
            <a:chExt cx="6096000" cy="5976200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38DEE6E3-8CF2-D559-4123-36C0AD16C8A5}"/>
                </a:ext>
              </a:extLst>
            </p:cNvPr>
            <p:cNvSpPr txBox="1"/>
            <p:nvPr/>
          </p:nvSpPr>
          <p:spPr>
            <a:xfrm>
              <a:off x="-670560" y="716536"/>
              <a:ext cx="60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2000" b="1" dirty="0" err="1">
                  <a:latin typeface="Georgia" panose="02040502050405020303" pitchFamily="18" charset="0"/>
                </a:rPr>
                <a:t>Classification</a:t>
              </a:r>
              <a:r>
                <a:rPr lang="it-IT" sz="2000" b="1" dirty="0">
                  <a:latin typeface="Georgia" panose="02040502050405020303" pitchFamily="18" charset="0"/>
                </a:rPr>
                <a:t> </a:t>
              </a:r>
              <a:r>
                <a:rPr lang="it-IT" sz="2000" b="1" dirty="0" err="1">
                  <a:latin typeface="Georgia" panose="02040502050405020303" pitchFamily="18" charset="0"/>
                </a:rPr>
                <a:t>problem</a:t>
              </a:r>
              <a:endParaRPr lang="it-IT" sz="2000" b="1" dirty="0">
                <a:latin typeface="Georgia" panose="02040502050405020303" pitchFamily="18" charset="0"/>
              </a:endParaRPr>
            </a:p>
          </p:txBody>
        </p:sp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53962DEE-58A7-DA06-11F3-FBE42C69A101}"/>
                </a:ext>
              </a:extLst>
            </p:cNvPr>
            <p:cNvGrpSpPr/>
            <p:nvPr/>
          </p:nvGrpSpPr>
          <p:grpSpPr>
            <a:xfrm>
              <a:off x="265385" y="1327599"/>
              <a:ext cx="4499764" cy="1017511"/>
              <a:chOff x="7634679" y="1303727"/>
              <a:chExt cx="4499764" cy="1017511"/>
            </a:xfrm>
          </p:grpSpPr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E98988D-BB6D-BABA-BFCA-340FEE81B194}"/>
                  </a:ext>
                </a:extLst>
              </p:cNvPr>
              <p:cNvSpPr txBox="1"/>
              <p:nvPr/>
            </p:nvSpPr>
            <p:spPr>
              <a:xfrm>
                <a:off x="7634679" y="1307064"/>
                <a:ext cx="73342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it-IT" dirty="0"/>
                  <a:t>Dati</a:t>
                </a:r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236C047D-7044-C9BB-4A6C-7C3787F39976}"/>
                  </a:ext>
                </a:extLst>
              </p:cNvPr>
              <p:cNvSpPr txBox="1"/>
              <p:nvPr/>
            </p:nvSpPr>
            <p:spPr>
              <a:xfrm>
                <a:off x="8334164" y="1935946"/>
                <a:ext cx="111026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Modello</a:t>
                </a:r>
                <a:endParaRPr lang="it-IT" sz="300" dirty="0"/>
              </a:p>
            </p:txBody>
          </p:sp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D0405BB-63ED-9656-23C3-7D5BF04E367F}"/>
                  </a:ext>
                </a:extLst>
              </p:cNvPr>
              <p:cNvSpPr txBox="1"/>
              <p:nvPr/>
            </p:nvSpPr>
            <p:spPr>
              <a:xfrm>
                <a:off x="10555115" y="1307064"/>
                <a:ext cx="111026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Loss</a:t>
                </a:r>
                <a:endParaRPr lang="it-IT" sz="300" dirty="0"/>
              </a:p>
            </p:txBody>
          </p:sp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A5BC166-A548-847C-7639-FBAB9BCD5C27}"/>
                  </a:ext>
                </a:extLst>
              </p:cNvPr>
              <p:cNvSpPr txBox="1"/>
              <p:nvPr/>
            </p:nvSpPr>
            <p:spPr>
              <a:xfrm>
                <a:off x="10096662" y="1919632"/>
                <a:ext cx="2037781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Aggiornamento</a:t>
                </a:r>
                <a:endParaRPr lang="it-IT" sz="300" dirty="0"/>
              </a:p>
            </p:txBody>
          </p:sp>
          <p:cxnSp>
            <p:nvCxnSpPr>
              <p:cNvPr id="13" name="Connettore 2 12">
                <a:extLst>
                  <a:ext uri="{FF2B5EF4-FFF2-40B4-BE49-F238E27FC236}">
                    <a16:creationId xmlns:a16="http://schemas.microsoft.com/office/drawing/2014/main" id="{50C7B523-544E-8F70-68C7-8C279F0F396F}"/>
                  </a:ext>
                </a:extLst>
              </p:cNvPr>
              <p:cNvCxnSpPr>
                <a:cxnSpLocks/>
                <a:stCxn id="11" idx="2"/>
                <a:endCxn id="12" idx="0"/>
              </p:cNvCxnSpPr>
              <p:nvPr/>
            </p:nvCxnSpPr>
            <p:spPr>
              <a:xfrm>
                <a:off x="11110247" y="1676396"/>
                <a:ext cx="5305" cy="2432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Connettore 2 13">
                <a:extLst>
                  <a:ext uri="{FF2B5EF4-FFF2-40B4-BE49-F238E27FC236}">
                    <a16:creationId xmlns:a16="http://schemas.microsoft.com/office/drawing/2014/main" id="{BF988822-A21A-C6AF-D0EA-37075E5538BC}"/>
                  </a:ext>
                </a:extLst>
              </p:cNvPr>
              <p:cNvCxnSpPr>
                <a:cxnSpLocks/>
                <a:stCxn id="12" idx="1"/>
                <a:endCxn id="10" idx="3"/>
              </p:cNvCxnSpPr>
              <p:nvPr/>
            </p:nvCxnSpPr>
            <p:spPr>
              <a:xfrm flipH="1">
                <a:off x="9444429" y="2120436"/>
                <a:ext cx="652233" cy="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Connettore diritto 14">
                <a:extLst>
                  <a:ext uri="{FF2B5EF4-FFF2-40B4-BE49-F238E27FC236}">
                    <a16:creationId xmlns:a16="http://schemas.microsoft.com/office/drawing/2014/main" id="{333AA0A4-C57D-7164-D24C-7323D0C23A21}"/>
                  </a:ext>
                </a:extLst>
              </p:cNvPr>
              <p:cNvCxnSpPr>
                <a:cxnSpLocks/>
                <a:stCxn id="9" idx="3"/>
                <a:endCxn id="17" idx="1"/>
              </p:cNvCxnSpPr>
              <p:nvPr/>
            </p:nvCxnSpPr>
            <p:spPr>
              <a:xfrm flipV="1">
                <a:off x="8368104" y="1488393"/>
                <a:ext cx="516832" cy="333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Connettore a gomito 15">
                <a:extLst>
                  <a:ext uri="{FF2B5EF4-FFF2-40B4-BE49-F238E27FC236}">
                    <a16:creationId xmlns:a16="http://schemas.microsoft.com/office/drawing/2014/main" id="{9360DC08-DD84-FD76-523D-FCE9877BF360}"/>
                  </a:ext>
                </a:extLst>
              </p:cNvPr>
              <p:cNvCxnSpPr>
                <a:cxnSpLocks/>
                <a:stCxn id="10" idx="0"/>
                <a:endCxn id="17" idx="1"/>
              </p:cNvCxnSpPr>
              <p:nvPr/>
            </p:nvCxnSpPr>
            <p:spPr>
              <a:xfrm rot="16200000" flipV="1">
                <a:off x="8663341" y="1709989"/>
                <a:ext cx="447553" cy="4361"/>
              </a:xfrm>
              <a:prstGeom prst="bentConnector4">
                <a:avLst>
                  <a:gd name="adj1" fmla="val 29369"/>
                  <a:gd name="adj2" fmla="val 8545563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00742175-D46C-DCF4-3549-32DA4E46C3B2}"/>
                  </a:ext>
                </a:extLst>
              </p:cNvPr>
              <p:cNvSpPr txBox="1"/>
              <p:nvPr/>
            </p:nvSpPr>
            <p:spPr>
              <a:xfrm>
                <a:off x="8884936" y="1303727"/>
                <a:ext cx="1316208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Predizioni</a:t>
                </a:r>
                <a:endParaRPr lang="it-IT" sz="300" dirty="0"/>
              </a:p>
            </p:txBody>
          </p:sp>
          <p:cxnSp>
            <p:nvCxnSpPr>
              <p:cNvPr id="18" name="Connettore 2 17">
                <a:extLst>
                  <a:ext uri="{FF2B5EF4-FFF2-40B4-BE49-F238E27FC236}">
                    <a16:creationId xmlns:a16="http://schemas.microsoft.com/office/drawing/2014/main" id="{6D9A8519-B6B8-4BA1-3F96-25356261035C}"/>
                  </a:ext>
                </a:extLst>
              </p:cNvPr>
              <p:cNvCxnSpPr>
                <a:cxnSpLocks/>
                <a:stCxn id="17" idx="3"/>
                <a:endCxn id="11" idx="1"/>
              </p:cNvCxnSpPr>
              <p:nvPr/>
            </p:nvCxnSpPr>
            <p:spPr>
              <a:xfrm>
                <a:off x="10201143" y="1488393"/>
                <a:ext cx="353972" cy="33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B37DE8FB-9740-490D-68B9-89DB57EBEF54}"/>
                </a:ext>
              </a:extLst>
            </p:cNvPr>
            <p:cNvGrpSpPr/>
            <p:nvPr/>
          </p:nvGrpSpPr>
          <p:grpSpPr>
            <a:xfrm>
              <a:off x="998809" y="2743393"/>
              <a:ext cx="2910402" cy="1523494"/>
              <a:chOff x="7896635" y="2414817"/>
              <a:chExt cx="2910402" cy="1523494"/>
            </a:xfrm>
          </p:grpSpPr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68E9B3FD-5699-C12A-D140-313261A338AE}"/>
                  </a:ext>
                </a:extLst>
              </p:cNvPr>
              <p:cNvSpPr txBox="1"/>
              <p:nvPr/>
            </p:nvSpPr>
            <p:spPr>
              <a:xfrm>
                <a:off x="7896635" y="2414817"/>
                <a:ext cx="2910401" cy="1523494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</a:t>
                </a:r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</p:txBody>
          </p:sp>
          <p:pic>
            <p:nvPicPr>
              <p:cNvPr id="20" name="Immagine 19">
                <a:extLst>
                  <a:ext uri="{FF2B5EF4-FFF2-40B4-BE49-F238E27FC236}">
                    <a16:creationId xmlns:a16="http://schemas.microsoft.com/office/drawing/2014/main" id="{0E11D6C3-E14C-6638-AEA0-32E1559F84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0758" y="2768009"/>
                <a:ext cx="2796279" cy="1054884"/>
              </a:xfrm>
              <a:prstGeom prst="rect">
                <a:avLst/>
              </a:prstGeom>
            </p:spPr>
          </p:pic>
        </p:grp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5A8BFE19-BA72-7EED-C29C-BC8CE54555D4}"/>
                </a:ext>
              </a:extLst>
            </p:cNvPr>
            <p:cNvSpPr txBox="1"/>
            <p:nvPr/>
          </p:nvSpPr>
          <p:spPr>
            <a:xfrm>
              <a:off x="998810" y="4585024"/>
              <a:ext cx="2910400" cy="90361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Loss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r>
                <a:rPr lang="it-IT" dirty="0">
                  <a:solidFill>
                    <a:schemeClr val="tx1"/>
                  </a:solidFill>
                </a:rPr>
                <a:t>(</a:t>
              </a:r>
              <a:r>
                <a:rPr lang="it-IT" dirty="0" err="1">
                  <a:solidFill>
                    <a:schemeClr val="tx1"/>
                  </a:solidFill>
                </a:rPr>
                <a:t>Binary</a:t>
              </a:r>
              <a:r>
                <a:rPr lang="it-IT" dirty="0">
                  <a:solidFill>
                    <a:schemeClr val="tx1"/>
                  </a:solidFill>
                </a:rPr>
                <a:t>) </a:t>
              </a:r>
              <a:r>
                <a:rPr lang="it-IT" b="1" dirty="0">
                  <a:solidFill>
                    <a:schemeClr val="tx1"/>
                  </a:solidFill>
                </a:rPr>
                <a:t>Cross </a:t>
              </a:r>
              <a:r>
                <a:rPr lang="it-IT" b="1" dirty="0" err="1">
                  <a:solidFill>
                    <a:schemeClr val="tx1"/>
                  </a:solidFill>
                </a:rPr>
                <a:t>Entropy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7F688419-EA7C-5218-2A6C-4F3918521A8E}"/>
                </a:ext>
              </a:extLst>
            </p:cNvPr>
            <p:cNvSpPr txBox="1"/>
            <p:nvPr/>
          </p:nvSpPr>
          <p:spPr>
            <a:xfrm>
              <a:off x="1020254" y="5889523"/>
              <a:ext cx="2910399" cy="80321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Weights update</a:t>
              </a:r>
              <a:endParaRPr lang="it-IT" sz="800" dirty="0">
                <a:solidFill>
                  <a:schemeClr val="tx1"/>
                </a:solidFill>
              </a:endParaRPr>
            </a:p>
            <a:p>
              <a:pPr algn="ctr"/>
              <a:r>
                <a:rPr lang="it-IT" b="1" dirty="0" err="1"/>
                <a:t>Gradient</a:t>
              </a:r>
              <a:r>
                <a:rPr lang="it-IT" b="1" dirty="0"/>
                <a:t> </a:t>
              </a:r>
              <a:r>
                <a:rPr lang="it-IT" b="1" dirty="0" err="1"/>
                <a:t>descent</a:t>
              </a:r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</p:txBody>
        </p:sp>
        <p:sp>
          <p:nvSpPr>
            <p:cNvPr id="24" name="Connettore 23">
              <a:extLst>
                <a:ext uri="{FF2B5EF4-FFF2-40B4-BE49-F238E27FC236}">
                  <a16:creationId xmlns:a16="http://schemas.microsoft.com/office/drawing/2014/main" id="{950E49C7-FA59-C8BA-CE56-FFC1C7DBCF96}"/>
                </a:ext>
              </a:extLst>
            </p:cNvPr>
            <p:cNvSpPr/>
            <p:nvPr/>
          </p:nvSpPr>
          <p:spPr>
            <a:xfrm>
              <a:off x="308097" y="3415139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Connettore 24">
              <a:extLst>
                <a:ext uri="{FF2B5EF4-FFF2-40B4-BE49-F238E27FC236}">
                  <a16:creationId xmlns:a16="http://schemas.microsoft.com/office/drawing/2014/main" id="{14197469-A196-AC65-7955-BE6BA4083850}"/>
                </a:ext>
              </a:extLst>
            </p:cNvPr>
            <p:cNvSpPr/>
            <p:nvPr/>
          </p:nvSpPr>
          <p:spPr>
            <a:xfrm>
              <a:off x="308097" y="4946832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Connettore 25">
              <a:extLst>
                <a:ext uri="{FF2B5EF4-FFF2-40B4-BE49-F238E27FC236}">
                  <a16:creationId xmlns:a16="http://schemas.microsoft.com/office/drawing/2014/main" id="{D9C1048C-49D0-CA54-76E6-59E777A09F34}"/>
                </a:ext>
              </a:extLst>
            </p:cNvPr>
            <p:cNvSpPr/>
            <p:nvPr/>
          </p:nvSpPr>
          <p:spPr>
            <a:xfrm>
              <a:off x="308097" y="6135217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60FFB108-C4D2-8D66-B9C5-D86A99BBD281}"/>
              </a:ext>
            </a:extLst>
          </p:cNvPr>
          <p:cNvSpPr txBox="1"/>
          <p:nvPr/>
        </p:nvSpPr>
        <p:spPr>
          <a:xfrm rot="5400000">
            <a:off x="3335209" y="3423889"/>
            <a:ext cx="5791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____________________________________________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9431587E-3041-EBFD-DCBC-17A1FCB88E13}"/>
              </a:ext>
            </a:extLst>
          </p:cNvPr>
          <p:cNvSpPr/>
          <p:nvPr/>
        </p:nvSpPr>
        <p:spPr>
          <a:xfrm>
            <a:off x="8209280" y="1836327"/>
            <a:ext cx="3826440" cy="207527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533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F50D-FEEA-F54C-66E8-153ED878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magine 40">
            <a:extLst>
              <a:ext uri="{FF2B5EF4-FFF2-40B4-BE49-F238E27FC236}">
                <a16:creationId xmlns:a16="http://schemas.microsoft.com/office/drawing/2014/main" id="{F5D96026-0B85-C06D-7FBC-26843DD0C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23" y="624492"/>
            <a:ext cx="2572577" cy="97011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D54E191-8D5C-A77C-C0B3-F21915BC9A59}"/>
              </a:ext>
            </a:extLst>
          </p:cNvPr>
          <p:cNvSpPr txBox="1"/>
          <p:nvPr/>
        </p:nvSpPr>
        <p:spPr>
          <a:xfrm>
            <a:off x="4179358" y="2153025"/>
            <a:ext cx="4210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Loss </a:t>
            </a:r>
            <a:r>
              <a:rPr lang="it-IT" sz="2000" dirty="0" err="1"/>
              <a:t>Function</a:t>
            </a:r>
            <a:r>
              <a:rPr lang="it-IT" sz="2000" dirty="0"/>
              <a:t> computing</a:t>
            </a:r>
          </a:p>
          <a:p>
            <a:pPr algn="ctr"/>
            <a:r>
              <a:rPr lang="it-IT" sz="1600" dirty="0" err="1"/>
              <a:t>Measure</a:t>
            </a:r>
            <a:r>
              <a:rPr lang="it-IT" sz="1600" dirty="0"/>
              <a:t> of Error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F8DCE88-D324-5BA3-C618-23798926EDE5}"/>
              </a:ext>
            </a:extLst>
          </p:cNvPr>
          <p:cNvSpPr txBox="1"/>
          <p:nvPr/>
        </p:nvSpPr>
        <p:spPr>
          <a:xfrm>
            <a:off x="4505076" y="-10853"/>
            <a:ext cx="6282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 err="1">
                <a:latin typeface="Georgia" panose="02040502050405020303" pitchFamily="18" charset="0"/>
              </a:rPr>
              <a:t>Classification</a:t>
            </a:r>
            <a:r>
              <a:rPr lang="it-IT" sz="2800" b="1" dirty="0">
                <a:latin typeface="Georgia" panose="02040502050405020303" pitchFamily="18" charset="0"/>
              </a:rPr>
              <a:t> </a:t>
            </a:r>
            <a:r>
              <a:rPr lang="it-IT" sz="2800" b="1" dirty="0" err="1">
                <a:latin typeface="Georgia" panose="02040502050405020303" pitchFamily="18" charset="0"/>
              </a:rPr>
              <a:t>problem</a:t>
            </a:r>
            <a:endParaRPr lang="it-IT" sz="2800" b="1" dirty="0">
              <a:latin typeface="Georgia" panose="02040502050405020303" pitchFamily="18" charset="0"/>
            </a:endParaRPr>
          </a:p>
          <a:p>
            <a:pPr algn="ctr"/>
            <a:r>
              <a:rPr lang="it-IT" sz="2000" dirty="0" err="1"/>
              <a:t>Binary</a:t>
            </a:r>
            <a:endParaRPr lang="it-IT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8131C64-10EF-9BB9-63EA-A6222FF5C271}"/>
                  </a:ext>
                </a:extLst>
              </p:cNvPr>
              <p:cNvSpPr txBox="1"/>
              <p:nvPr/>
            </p:nvSpPr>
            <p:spPr>
              <a:xfrm>
                <a:off x="645894" y="2355486"/>
                <a:ext cx="16641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8131C64-10EF-9BB9-63EA-A6222FF5C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94" y="2355486"/>
                <a:ext cx="1664162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3F73EF9-A362-3748-D1DC-73EC39BBB145}"/>
                  </a:ext>
                </a:extLst>
              </p:cNvPr>
              <p:cNvSpPr txBox="1"/>
              <p:nvPr/>
            </p:nvSpPr>
            <p:spPr>
              <a:xfrm>
                <a:off x="1938228" y="2825052"/>
                <a:ext cx="874465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000" b="1" dirty="0">
                    <a:solidFill>
                      <a:schemeClr val="tx1"/>
                    </a:solidFill>
                  </a:rPr>
                  <a:t>L</a:t>
                </a:r>
                <a:r>
                  <a:rPr lang="it-IT" sz="2000" b="0" dirty="0">
                    <a:solidFill>
                      <a:schemeClr val="tx1"/>
                    </a:solidFill>
                  </a:rPr>
                  <a:t> =</a:t>
                </a:r>
              </a:p>
              <a:p>
                <a:pPr algn="ctr"/>
                <a:endParaRPr lang="it-IT" sz="20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it-I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− (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3F73EF9-A362-3748-D1DC-73EC39BBB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228" y="2825052"/>
                <a:ext cx="8744651" cy="1631216"/>
              </a:xfrm>
              <a:prstGeom prst="rect">
                <a:avLst/>
              </a:prstGeom>
              <a:blipFill>
                <a:blip r:embed="rId5"/>
                <a:stretch>
                  <a:fillRect t="-1493" b="-37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C385687-090F-6EC2-CE08-1E05EBD13E38}"/>
                  </a:ext>
                </a:extLst>
              </p:cNvPr>
              <p:cNvSpPr txBox="1"/>
              <p:nvPr/>
            </p:nvSpPr>
            <p:spPr>
              <a:xfrm>
                <a:off x="645894" y="4656323"/>
                <a:ext cx="16641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C385687-090F-6EC2-CE08-1E05EBD13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94" y="4656323"/>
                <a:ext cx="1664162" cy="40011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ttore 2 10">
            <a:extLst>
              <a:ext uri="{FF2B5EF4-FFF2-40B4-BE49-F238E27FC236}">
                <a16:creationId xmlns:a16="http://schemas.microsoft.com/office/drawing/2014/main" id="{6BF1BF68-1EF7-E766-D5D8-B390341B1B6D}"/>
              </a:ext>
            </a:extLst>
          </p:cNvPr>
          <p:cNvCxnSpPr/>
          <p:nvPr/>
        </p:nvCxnSpPr>
        <p:spPr>
          <a:xfrm>
            <a:off x="2161465" y="2553320"/>
            <a:ext cx="1858586" cy="1241144"/>
          </a:xfrm>
          <a:prstGeom prst="bentConnector3">
            <a:avLst>
              <a:gd name="adj1" fmla="val 53929"/>
            </a:avLst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ttore 2 10">
            <a:extLst>
              <a:ext uri="{FF2B5EF4-FFF2-40B4-BE49-F238E27FC236}">
                <a16:creationId xmlns:a16="http://schemas.microsoft.com/office/drawing/2014/main" id="{C3EC72CF-BF95-7FD3-5A5F-BE9189F6032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310056" y="3794465"/>
            <a:ext cx="1709995" cy="1061913"/>
          </a:xfrm>
          <a:prstGeom prst="bentConnector3">
            <a:avLst>
              <a:gd name="adj1" fmla="val 50000"/>
            </a:avLst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F7A1D58-3DB1-FDD5-A811-548CEAB7AC7C}"/>
              </a:ext>
            </a:extLst>
          </p:cNvPr>
          <p:cNvCxnSpPr/>
          <p:nvPr/>
        </p:nvCxnSpPr>
        <p:spPr>
          <a:xfrm flipV="1">
            <a:off x="8664162" y="3798135"/>
            <a:ext cx="1432338" cy="5856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DEF92-E4EE-3644-A079-01D09E48221D}"/>
                  </a:ext>
                </a:extLst>
              </p:cNvPr>
              <p:cNvSpPr txBox="1"/>
              <p:nvPr/>
            </p:nvSpPr>
            <p:spPr>
              <a:xfrm>
                <a:off x="7981950" y="4613375"/>
                <a:ext cx="4210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dirty="0"/>
                  <a:t>Weights</a:t>
                </a:r>
                <a:r>
                  <a:rPr lang="it-IT" sz="2000" dirty="0"/>
                  <a:t> update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it-IT" sz="2000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DEF92-E4EE-3644-A079-01D09E482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950" y="4613375"/>
                <a:ext cx="421005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D788616-2188-82CC-B5FE-FA2F737C4448}"/>
              </a:ext>
            </a:extLst>
          </p:cNvPr>
          <p:cNvCxnSpPr/>
          <p:nvPr/>
        </p:nvCxnSpPr>
        <p:spPr>
          <a:xfrm>
            <a:off x="10086975" y="3803429"/>
            <a:ext cx="0" cy="774086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518E37E-ABFD-7177-0AD1-B40137CEB218}"/>
              </a:ext>
            </a:extLst>
          </p:cNvPr>
          <p:cNvCxnSpPr/>
          <p:nvPr/>
        </p:nvCxnSpPr>
        <p:spPr>
          <a:xfrm flipH="1">
            <a:off x="10103644" y="5335430"/>
            <a:ext cx="2381" cy="416841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E688706-2075-3EC4-F59E-CAF2A8ACE49E}"/>
              </a:ext>
            </a:extLst>
          </p:cNvPr>
          <p:cNvCxnSpPr/>
          <p:nvPr/>
        </p:nvCxnSpPr>
        <p:spPr>
          <a:xfrm flipH="1" flipV="1">
            <a:off x="7869293" y="5753119"/>
            <a:ext cx="2244119" cy="1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012EE24-BB29-C455-3EF3-189E5084F868}"/>
              </a:ext>
            </a:extLst>
          </p:cNvPr>
          <p:cNvSpPr txBox="1"/>
          <p:nvPr/>
        </p:nvSpPr>
        <p:spPr>
          <a:xfrm>
            <a:off x="4427968" y="5553064"/>
            <a:ext cx="3307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dirty="0"/>
              <a:t>New </a:t>
            </a:r>
            <a:r>
              <a:rPr lang="it-IT" sz="2000" dirty="0" err="1"/>
              <a:t>predictions</a:t>
            </a:r>
            <a:r>
              <a:rPr lang="it-IT" sz="2000" dirty="0"/>
              <a:t> </a:t>
            </a:r>
            <a:r>
              <a:rPr lang="it-IT" sz="2000" dirty="0" err="1"/>
              <a:t>computed</a:t>
            </a:r>
            <a:endParaRPr lang="it-IT" sz="2000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42EC6FE-3D3D-D0F5-384A-DAC8E8FF468D}"/>
              </a:ext>
            </a:extLst>
          </p:cNvPr>
          <p:cNvCxnSpPr>
            <a:cxnSpLocks/>
          </p:cNvCxnSpPr>
          <p:nvPr/>
        </p:nvCxnSpPr>
        <p:spPr>
          <a:xfrm>
            <a:off x="412199" y="5789149"/>
            <a:ext cx="3889158" cy="0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E4C0807-F6D3-7FF8-C48F-87E315299438}"/>
              </a:ext>
            </a:extLst>
          </p:cNvPr>
          <p:cNvCxnSpPr/>
          <p:nvPr/>
        </p:nvCxnSpPr>
        <p:spPr>
          <a:xfrm flipH="1" flipV="1">
            <a:off x="421725" y="4884980"/>
            <a:ext cx="4518" cy="896642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BE32A2F-44AB-B02D-3F4C-BCAFDCADB553}"/>
              </a:ext>
            </a:extLst>
          </p:cNvPr>
          <p:cNvSpPr txBox="1"/>
          <p:nvPr/>
        </p:nvSpPr>
        <p:spPr>
          <a:xfrm>
            <a:off x="8162002" y="4874838"/>
            <a:ext cx="3849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(Loss </a:t>
            </a:r>
            <a:r>
              <a:rPr lang="it-IT" sz="1600" dirty="0" err="1"/>
              <a:t>function</a:t>
            </a:r>
            <a:r>
              <a:rPr lang="it-IT" sz="1600" dirty="0"/>
              <a:t> </a:t>
            </a:r>
            <a:r>
              <a:rPr lang="it-IT" sz="1600" dirty="0" err="1"/>
              <a:t>minimized</a:t>
            </a:r>
            <a:r>
              <a:rPr lang="it-IT" sz="1600" dirty="0"/>
              <a:t>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309F898-4784-D7B4-4E9B-E70BE0076864}"/>
              </a:ext>
            </a:extLst>
          </p:cNvPr>
          <p:cNvSpPr txBox="1"/>
          <p:nvPr/>
        </p:nvSpPr>
        <p:spPr>
          <a:xfrm>
            <a:off x="426546" y="2725888"/>
            <a:ext cx="2168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x input</a:t>
            </a:r>
          </a:p>
          <a:p>
            <a:pPr algn="ctr"/>
            <a:r>
              <a:rPr lang="it-IT" dirty="0"/>
              <a:t>y label</a:t>
            </a:r>
          </a:p>
          <a:p>
            <a:pPr algn="ctr"/>
            <a:r>
              <a:rPr lang="it-IT" dirty="0" err="1"/>
              <a:t>Idetify</a:t>
            </a:r>
            <a:r>
              <a:rPr lang="it-IT" dirty="0"/>
              <a:t> the class</a:t>
            </a:r>
          </a:p>
          <a:p>
            <a:pPr algn="ctr"/>
            <a:r>
              <a:rPr lang="it-IT" sz="1600" dirty="0"/>
              <a:t>(</a:t>
            </a:r>
            <a:r>
              <a:rPr lang="it-IT" sz="1600" dirty="0" err="1"/>
              <a:t>Desired</a:t>
            </a:r>
            <a:r>
              <a:rPr lang="it-IT" sz="1600" dirty="0"/>
              <a:t> output)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64D513A-6D62-5B1A-DAF6-74E73DB1C3FA}"/>
              </a:ext>
            </a:extLst>
          </p:cNvPr>
          <p:cNvSpPr txBox="1"/>
          <p:nvPr/>
        </p:nvSpPr>
        <p:spPr>
          <a:xfrm>
            <a:off x="767304" y="5065588"/>
            <a:ext cx="143158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Model</a:t>
            </a:r>
          </a:p>
          <a:p>
            <a:pPr algn="ctr"/>
            <a:r>
              <a:rPr lang="it-IT" sz="1600" b="1" dirty="0"/>
              <a:t>w</a:t>
            </a:r>
            <a:r>
              <a:rPr lang="it-IT" sz="1600" dirty="0"/>
              <a:t> </a:t>
            </a:r>
            <a:r>
              <a:rPr lang="it-IT" sz="1600" dirty="0" err="1"/>
              <a:t>parameters</a:t>
            </a:r>
            <a:endParaRPr lang="it-IT" sz="1600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B96648B-4684-E3F1-8EF8-CFF04E178784}"/>
              </a:ext>
            </a:extLst>
          </p:cNvPr>
          <p:cNvCxnSpPr/>
          <p:nvPr/>
        </p:nvCxnSpPr>
        <p:spPr>
          <a:xfrm>
            <a:off x="412199" y="4897264"/>
            <a:ext cx="313160" cy="0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D4B0780-039B-85D5-D072-A01B0A5F3808}"/>
                  </a:ext>
                </a:extLst>
              </p:cNvPr>
              <p:cNvSpPr txBox="1"/>
              <p:nvPr/>
            </p:nvSpPr>
            <p:spPr>
              <a:xfrm>
                <a:off x="5317028" y="6334165"/>
                <a:ext cx="1664162" cy="410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(·,</m:t>
                      </m:r>
                      <m:sSup>
                        <m:sSupPr>
                          <m:ctrlP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p>
                      </m:sSup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D4B0780-039B-85D5-D072-A01B0A5F3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28" y="6334165"/>
                <a:ext cx="1664162" cy="410112"/>
              </a:xfrm>
              <a:prstGeom prst="rect">
                <a:avLst/>
              </a:prstGeom>
              <a:blipFill>
                <a:blip r:embed="rId8"/>
                <a:stretch>
                  <a:fillRect b="-179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8ABCB28-D271-5889-DB75-22BCA3489F36}"/>
              </a:ext>
            </a:extLst>
          </p:cNvPr>
          <p:cNvSpPr txBox="1"/>
          <p:nvPr/>
        </p:nvSpPr>
        <p:spPr>
          <a:xfrm>
            <a:off x="4505076" y="6084905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 of the training </a:t>
            </a:r>
            <a:r>
              <a:rPr lang="it-IT" dirty="0" err="1"/>
              <a:t>process</a:t>
            </a:r>
            <a:endParaRPr lang="it-IT" dirty="0"/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FFFA0953-65FB-FAF2-BB5B-572473425B09}"/>
              </a:ext>
            </a:extLst>
          </p:cNvPr>
          <p:cNvGrpSpPr/>
          <p:nvPr/>
        </p:nvGrpSpPr>
        <p:grpSpPr>
          <a:xfrm>
            <a:off x="7967489" y="1831790"/>
            <a:ext cx="4224109" cy="1001551"/>
            <a:chOff x="7634679" y="1303727"/>
            <a:chExt cx="4224109" cy="1001551"/>
          </a:xfrm>
        </p:grpSpPr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B6679FE0-8400-A0C1-02FD-DA54D8F48D86}"/>
                </a:ext>
              </a:extLst>
            </p:cNvPr>
            <p:cNvSpPr txBox="1"/>
            <p:nvPr/>
          </p:nvSpPr>
          <p:spPr>
            <a:xfrm>
              <a:off x="7634679" y="1307064"/>
              <a:ext cx="73342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it-IT" dirty="0"/>
                <a:t>Data</a:t>
              </a:r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994A2121-9366-32EF-1EF3-B2F20F0829F3}"/>
                </a:ext>
              </a:extLst>
            </p:cNvPr>
            <p:cNvSpPr txBox="1"/>
            <p:nvPr/>
          </p:nvSpPr>
          <p:spPr>
            <a:xfrm>
              <a:off x="8334164" y="1935946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Model</a:t>
              </a:r>
              <a:endParaRPr lang="it-IT" sz="300" dirty="0"/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EF9A545A-987F-645E-AE65-FC1692FF425F}"/>
                </a:ext>
              </a:extLst>
            </p:cNvPr>
            <p:cNvSpPr txBox="1"/>
            <p:nvPr/>
          </p:nvSpPr>
          <p:spPr>
            <a:xfrm>
              <a:off x="10422593" y="1307064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Loss</a:t>
              </a:r>
              <a:endParaRPr lang="it-IT" sz="300" dirty="0"/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43CD6419-EAF7-0AB1-DFB0-0A533E2B6F93}"/>
                </a:ext>
              </a:extLst>
            </p:cNvPr>
            <p:cNvSpPr txBox="1"/>
            <p:nvPr/>
          </p:nvSpPr>
          <p:spPr>
            <a:xfrm>
              <a:off x="10096662" y="1935769"/>
              <a:ext cx="1762126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en-CA" noProof="0" dirty="0"/>
                <a:t>Weight</a:t>
              </a:r>
              <a:r>
                <a:rPr lang="it-IT" dirty="0"/>
                <a:t> update</a:t>
              </a:r>
              <a:endParaRPr lang="it-IT" sz="300" dirty="0"/>
            </a:p>
          </p:txBody>
        </p:sp>
        <p:cxnSp>
          <p:nvCxnSpPr>
            <p:cNvPr id="30" name="Connettore 2 29">
              <a:extLst>
                <a:ext uri="{FF2B5EF4-FFF2-40B4-BE49-F238E27FC236}">
                  <a16:creationId xmlns:a16="http://schemas.microsoft.com/office/drawing/2014/main" id="{2A86D111-24C5-CE19-5201-9DDBA63CA229}"/>
                </a:ext>
              </a:extLst>
            </p:cNvPr>
            <p:cNvCxnSpPr>
              <a:cxnSpLocks/>
              <a:stCxn id="28" idx="2"/>
              <a:endCxn id="29" idx="0"/>
            </p:cNvCxnSpPr>
            <p:nvPr/>
          </p:nvCxnSpPr>
          <p:spPr>
            <a:xfrm flipH="1">
              <a:off x="10977725" y="1676396"/>
              <a:ext cx="1" cy="25937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ttore 2 30">
              <a:extLst>
                <a:ext uri="{FF2B5EF4-FFF2-40B4-BE49-F238E27FC236}">
                  <a16:creationId xmlns:a16="http://schemas.microsoft.com/office/drawing/2014/main" id="{11EA17EB-0C27-D9B7-9DDC-57CF76AEA872}"/>
                </a:ext>
              </a:extLst>
            </p:cNvPr>
            <p:cNvCxnSpPr>
              <a:cxnSpLocks/>
              <a:stCxn id="29" idx="1"/>
              <a:endCxn id="27" idx="3"/>
            </p:cNvCxnSpPr>
            <p:nvPr/>
          </p:nvCxnSpPr>
          <p:spPr>
            <a:xfrm flipH="1">
              <a:off x="9444429" y="2120435"/>
              <a:ext cx="652233" cy="17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D5781E7B-C6E4-B108-4ECD-3B785C126F61}"/>
                </a:ext>
              </a:extLst>
            </p:cNvPr>
            <p:cNvCxnSpPr>
              <a:cxnSpLocks/>
              <a:stCxn id="26" idx="3"/>
              <a:endCxn id="34" idx="1"/>
            </p:cNvCxnSpPr>
            <p:nvPr/>
          </p:nvCxnSpPr>
          <p:spPr>
            <a:xfrm flipV="1">
              <a:off x="8368104" y="1488393"/>
              <a:ext cx="516832" cy="33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ttore a gomito 32">
              <a:extLst>
                <a:ext uri="{FF2B5EF4-FFF2-40B4-BE49-F238E27FC236}">
                  <a16:creationId xmlns:a16="http://schemas.microsoft.com/office/drawing/2014/main" id="{3AB70CE9-E6F9-0922-D938-862C8F80896D}"/>
                </a:ext>
              </a:extLst>
            </p:cNvPr>
            <p:cNvCxnSpPr>
              <a:cxnSpLocks/>
              <a:stCxn id="27" idx="0"/>
              <a:endCxn id="34" idx="1"/>
            </p:cNvCxnSpPr>
            <p:nvPr/>
          </p:nvCxnSpPr>
          <p:spPr>
            <a:xfrm rot="16200000" flipV="1">
              <a:off x="8663341" y="1709989"/>
              <a:ext cx="447553" cy="4361"/>
            </a:xfrm>
            <a:prstGeom prst="bentConnector4">
              <a:avLst>
                <a:gd name="adj1" fmla="val 29369"/>
                <a:gd name="adj2" fmla="val 8545563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1262CA71-A10A-3EB2-2028-5DA7AA47DD3F}"/>
                </a:ext>
              </a:extLst>
            </p:cNvPr>
            <p:cNvSpPr txBox="1"/>
            <p:nvPr/>
          </p:nvSpPr>
          <p:spPr>
            <a:xfrm>
              <a:off x="8884936" y="1303727"/>
              <a:ext cx="1316208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 err="1"/>
                <a:t>Predictions</a:t>
              </a:r>
              <a:endParaRPr lang="it-IT" sz="300" dirty="0"/>
            </a:p>
          </p:txBody>
        </p:sp>
        <p:cxnSp>
          <p:nvCxnSpPr>
            <p:cNvPr id="35" name="Connettore 2 34">
              <a:extLst>
                <a:ext uri="{FF2B5EF4-FFF2-40B4-BE49-F238E27FC236}">
                  <a16:creationId xmlns:a16="http://schemas.microsoft.com/office/drawing/2014/main" id="{4FF2B70D-8C46-152D-0B13-029973883993}"/>
                </a:ext>
              </a:extLst>
            </p:cNvPr>
            <p:cNvCxnSpPr>
              <a:cxnSpLocks/>
              <a:stCxn id="34" idx="3"/>
              <a:endCxn id="28" idx="1"/>
            </p:cNvCxnSpPr>
            <p:nvPr/>
          </p:nvCxnSpPr>
          <p:spPr>
            <a:xfrm>
              <a:off x="10201144" y="1488393"/>
              <a:ext cx="221449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0C2C0795-1215-C7F1-C0F1-E4B64E108AF2}"/>
                  </a:ext>
                </a:extLst>
              </p:cNvPr>
              <p:cNvSpPr txBox="1"/>
              <p:nvPr/>
            </p:nvSpPr>
            <p:spPr>
              <a:xfrm>
                <a:off x="3136693" y="3061187"/>
                <a:ext cx="166141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8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Predictions</a:t>
                </a:r>
                <a:endParaRPr lang="it-IT" sz="1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0C2C0795-1215-C7F1-C0F1-E4B64E108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693" y="3061187"/>
                <a:ext cx="1661410" cy="646331"/>
              </a:xfrm>
              <a:prstGeom prst="rect">
                <a:avLst/>
              </a:prstGeom>
              <a:blipFill>
                <a:blip r:embed="rId9"/>
                <a:stretch>
                  <a:fillRect t="-5660" b="-84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ttangolo 41">
            <a:extLst>
              <a:ext uri="{FF2B5EF4-FFF2-40B4-BE49-F238E27FC236}">
                <a16:creationId xmlns:a16="http://schemas.microsoft.com/office/drawing/2014/main" id="{444F0270-366D-691C-D7B9-987520531D7F}"/>
              </a:ext>
            </a:extLst>
          </p:cNvPr>
          <p:cNvSpPr/>
          <p:nvPr/>
        </p:nvSpPr>
        <p:spPr>
          <a:xfrm>
            <a:off x="91010" y="349397"/>
            <a:ext cx="1514764" cy="1548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6FE84D75-3AEA-29A5-A1EE-40B4CB23C1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53"/>
            <a:ext cx="1033118" cy="1033118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6F418247-0417-BEC0-51E8-AD4BEA8782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2" y="1138454"/>
            <a:ext cx="1012854" cy="1054195"/>
          </a:xfrm>
          <a:prstGeom prst="rect">
            <a:avLst/>
          </a:prstGeom>
        </p:spPr>
      </p:pic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878B4E6F-F9E3-758D-3E05-0E1EFE57A645}"/>
              </a:ext>
            </a:extLst>
          </p:cNvPr>
          <p:cNvCxnSpPr>
            <a:cxnSpLocks/>
          </p:cNvCxnSpPr>
          <p:nvPr/>
        </p:nvCxnSpPr>
        <p:spPr>
          <a:xfrm>
            <a:off x="1139103" y="1065997"/>
            <a:ext cx="403814" cy="5706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E962996A-9FEC-6476-EB8E-F37CCB7A1BDC}"/>
              </a:ext>
            </a:extLst>
          </p:cNvPr>
          <p:cNvSpPr/>
          <p:nvPr/>
        </p:nvSpPr>
        <p:spPr>
          <a:xfrm>
            <a:off x="3040950" y="940382"/>
            <a:ext cx="240550" cy="316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220FA8B7-6BA2-3616-FC20-F4E16F9C3BA6}"/>
              </a:ext>
            </a:extLst>
          </p:cNvPr>
          <p:cNvCxnSpPr>
            <a:cxnSpLocks/>
          </p:cNvCxnSpPr>
          <p:nvPr/>
        </p:nvCxnSpPr>
        <p:spPr>
          <a:xfrm>
            <a:off x="3101286" y="1132768"/>
            <a:ext cx="429319" cy="170442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097AD262-FCDD-101B-73A4-757D438F94E4}"/>
              </a:ext>
            </a:extLst>
          </p:cNvPr>
          <p:cNvCxnSpPr>
            <a:cxnSpLocks/>
          </p:cNvCxnSpPr>
          <p:nvPr/>
        </p:nvCxnSpPr>
        <p:spPr>
          <a:xfrm flipV="1">
            <a:off x="3099901" y="876002"/>
            <a:ext cx="411031" cy="103065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7295315-461C-AA9B-D94F-4A398204D382}"/>
              </a:ext>
            </a:extLst>
          </p:cNvPr>
          <p:cNvSpPr txBox="1"/>
          <p:nvPr/>
        </p:nvSpPr>
        <p:spPr>
          <a:xfrm>
            <a:off x="3686198" y="615575"/>
            <a:ext cx="629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CAT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A61E58F9-D9C8-CBD9-DCC1-0043A9A3C406}"/>
              </a:ext>
            </a:extLst>
          </p:cNvPr>
          <p:cNvSpPr txBox="1"/>
          <p:nvPr/>
        </p:nvSpPr>
        <p:spPr>
          <a:xfrm>
            <a:off x="3653937" y="125116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DOG</a:t>
            </a:r>
          </a:p>
        </p:txBody>
      </p:sp>
    </p:spTree>
    <p:extLst>
      <p:ext uri="{BB962C8B-B14F-4D97-AF65-F5344CB8AC3E}">
        <p14:creationId xmlns:p14="http://schemas.microsoft.com/office/powerpoint/2010/main" val="290749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4" grpId="0"/>
      <p:bldP spid="5" grpId="0"/>
      <p:bldP spid="9" grpId="0"/>
      <p:bldP spid="14" grpId="0"/>
      <p:bldP spid="18" grpId="0"/>
      <p:bldP spid="19" grpId="0"/>
      <p:bldP spid="20" grpId="0"/>
      <p:bldP spid="23" grpId="0"/>
      <p:bldP spid="24" grpId="0"/>
      <p:bldP spid="48" grpId="0"/>
      <p:bldP spid="54" grpId="0"/>
      <p:bldP spid="55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Immagine 13">
            <a:extLst>
              <a:ext uri="{FF2B5EF4-FFF2-40B4-BE49-F238E27FC236}">
                <a16:creationId xmlns:a16="http://schemas.microsoft.com/office/drawing/2014/main" id="{AAE7C8F5-99C1-8A20-5965-484531401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78193" y="1345517"/>
            <a:ext cx="3742147" cy="416696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77310E-E5C2-C975-73E2-66AD0FB564F1}"/>
              </a:ext>
            </a:extLst>
          </p:cNvPr>
          <p:cNvSpPr txBox="1"/>
          <p:nvPr/>
        </p:nvSpPr>
        <p:spPr>
          <a:xfrm>
            <a:off x="3027130" y="111441"/>
            <a:ext cx="5402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Frameworks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9964B3-637F-16D1-3F17-426BA5B851E8}"/>
              </a:ext>
            </a:extLst>
          </p:cNvPr>
          <p:cNvSpPr txBox="1"/>
          <p:nvPr/>
        </p:nvSpPr>
        <p:spPr>
          <a:xfrm>
            <a:off x="0" y="1166842"/>
            <a:ext cx="7962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Deep learning frameworks are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software libraries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that make it easier to design, build, train, and deploy deep learning models, especially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neural networks.</a:t>
            </a:r>
          </a:p>
          <a:p>
            <a:pPr algn="just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Instead of starting from scratch and writing low-level code to handle things like matrix operations or GPU acceleration, these frameworks provide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ready-made tools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51468C7-6E8A-C15C-B352-DBE29E710FA6}"/>
              </a:ext>
            </a:extLst>
          </p:cNvPr>
          <p:cNvSpPr txBox="1"/>
          <p:nvPr/>
        </p:nvSpPr>
        <p:spPr>
          <a:xfrm>
            <a:off x="-1" y="3224102"/>
            <a:ext cx="75584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They help in: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Building models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layer by layer (e.g., feedforward, convolutional or recurrent)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Training models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efficiently using CPUs or GPUs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Visualizing progress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(e.g., accuracy and loss over time)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Saving and deploying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trained models to web apps, mobile devices, or servers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53AB608-5C0F-C615-EFA3-B978EA46ADE7}"/>
              </a:ext>
            </a:extLst>
          </p:cNvPr>
          <p:cNvSpPr txBox="1"/>
          <p:nvPr/>
        </p:nvSpPr>
        <p:spPr>
          <a:xfrm>
            <a:off x="-1" y="5184136"/>
            <a:ext cx="796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Different frameworks have different strengths. Some are great for beginners, while others offer more control and flexibility for research or large-scale applications.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88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Immagine 13">
            <a:extLst>
              <a:ext uri="{FF2B5EF4-FFF2-40B4-BE49-F238E27FC236}">
                <a16:creationId xmlns:a16="http://schemas.microsoft.com/office/drawing/2014/main" id="{DCE506F5-BDE4-CCF8-DDE0-1FC0496A8B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24926" y="1496927"/>
            <a:ext cx="3742147" cy="416696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657D739-1771-5A07-A9C3-74F2AFF6D0A2}"/>
              </a:ext>
            </a:extLst>
          </p:cNvPr>
          <p:cNvSpPr txBox="1"/>
          <p:nvPr/>
        </p:nvSpPr>
        <p:spPr>
          <a:xfrm>
            <a:off x="0" y="11144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Frameworks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D61E142-0DEE-C6A8-3C03-8583984C2993}"/>
              </a:ext>
            </a:extLst>
          </p:cNvPr>
          <p:cNvSpPr txBox="1"/>
          <p:nvPr/>
        </p:nvSpPr>
        <p:spPr>
          <a:xfrm>
            <a:off x="438970" y="1811535"/>
            <a:ext cx="36283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Can model Complex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so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Quite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Easy visualization tools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Most popular in the Industry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F9DDECF-CB24-95ED-8790-8C3EB074D8B5}"/>
              </a:ext>
            </a:extLst>
          </p:cNvPr>
          <p:cNvSpPr txBox="1"/>
          <p:nvPr/>
        </p:nvSpPr>
        <p:spPr>
          <a:xfrm>
            <a:off x="8321769" y="1722755"/>
            <a:ext cx="37083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High-Level API (it is a TF interface)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Basic</a:t>
            </a: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Very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Limited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Best choice for newbies 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69F7108-0C5A-4E66-6385-66CB3D3BC5DE}"/>
              </a:ext>
            </a:extLst>
          </p:cNvPr>
          <p:cNvSpPr txBox="1"/>
          <p:nvPr/>
        </p:nvSpPr>
        <p:spPr>
          <a:xfrm>
            <a:off x="465941" y="4142508"/>
            <a:ext cx="36283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Can model Complex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so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Very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Needs more lines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Most po</a:t>
            </a:r>
            <a:r>
              <a:rPr lang="en-ZW" dirty="0" err="1">
                <a:latin typeface="Calibri" panose="020F0502020204030204" pitchFamily="34" charset="0"/>
                <a:cs typeface="Calibri" panose="020F0502020204030204" pitchFamily="34" charset="0"/>
              </a:rPr>
              <a:t>pular</a:t>
            </a: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 in Academia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A9F40B5-A44A-9E27-33A0-EF09882EA9A2}"/>
              </a:ext>
            </a:extLst>
          </p:cNvPr>
          <p:cNvSpPr txBox="1"/>
          <p:nvPr/>
        </p:nvSpPr>
        <p:spPr>
          <a:xfrm>
            <a:off x="8383391" y="4142508"/>
            <a:ext cx="27095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a proper DLF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free (needs license)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Specialized toolboxes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Quite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Limited Flexibility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2653BB1-552F-6C35-0040-8F70A0B1ECE8}"/>
              </a:ext>
            </a:extLst>
          </p:cNvPr>
          <p:cNvSpPr txBox="1"/>
          <p:nvPr/>
        </p:nvSpPr>
        <p:spPr>
          <a:xfrm>
            <a:off x="569121" y="6288815"/>
            <a:ext cx="2768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hlinkClick r:id="rId4"/>
              </a:rPr>
              <a:t>PyTorch</a:t>
            </a:r>
            <a:r>
              <a:rPr lang="it-IT" sz="1400" dirty="0">
                <a:hlinkClick r:id="rId4"/>
              </a:rPr>
              <a:t> vs </a:t>
            </a:r>
            <a:r>
              <a:rPr lang="it-IT" sz="1400" dirty="0" err="1">
                <a:hlinkClick r:id="rId4"/>
              </a:rPr>
              <a:t>TensorFlow</a:t>
            </a:r>
            <a:r>
              <a:rPr lang="it-IT" sz="1400" dirty="0">
                <a:hlinkClick r:id="rId4"/>
              </a:rPr>
              <a:t> vs </a:t>
            </a:r>
            <a:r>
              <a:rPr lang="it-IT" sz="1400" dirty="0" err="1">
                <a:hlinkClick r:id="rId4"/>
              </a:rPr>
              <a:t>Keras</a:t>
            </a:r>
            <a:endParaRPr lang="it-IT" sz="1400" dirty="0"/>
          </a:p>
        </p:txBody>
      </p:sp>
      <p:sp>
        <p:nvSpPr>
          <p:cNvPr id="10" name="Figura a mano libera: forma 9">
            <a:extLst>
              <a:ext uri="{FF2B5EF4-FFF2-40B4-BE49-F238E27FC236}">
                <a16:creationId xmlns:a16="http://schemas.microsoft.com/office/drawing/2014/main" id="{4DCEC9E7-7607-B2A6-1EA2-2730CEBD6361}"/>
              </a:ext>
            </a:extLst>
          </p:cNvPr>
          <p:cNvSpPr/>
          <p:nvPr/>
        </p:nvSpPr>
        <p:spPr>
          <a:xfrm>
            <a:off x="4098302" y="1350916"/>
            <a:ext cx="4053840" cy="4183380"/>
          </a:xfrm>
          <a:custGeom>
            <a:avLst/>
            <a:gdLst>
              <a:gd name="csX0" fmla="*/ 7620 w 4053840"/>
              <a:gd name="csY0" fmla="*/ 0 h 4183380"/>
              <a:gd name="csX1" fmla="*/ 0 w 4053840"/>
              <a:gd name="csY1" fmla="*/ 4152900 h 4183380"/>
              <a:gd name="csX2" fmla="*/ 1935480 w 4053840"/>
              <a:gd name="csY2" fmla="*/ 4183380 h 4183380"/>
              <a:gd name="csX3" fmla="*/ 1927860 w 4053840"/>
              <a:gd name="csY3" fmla="*/ 2301240 h 4183380"/>
              <a:gd name="csX4" fmla="*/ 4030980 w 4053840"/>
              <a:gd name="csY4" fmla="*/ 2301240 h 4183380"/>
              <a:gd name="csX5" fmla="*/ 4053840 w 4053840"/>
              <a:gd name="csY5" fmla="*/ 22860 h 4183380"/>
              <a:gd name="csX6" fmla="*/ 7620 w 4053840"/>
              <a:gd name="csY6" fmla="*/ 0 h 4183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53840" h="4183380">
                <a:moveTo>
                  <a:pt x="7620" y="0"/>
                </a:moveTo>
                <a:lnTo>
                  <a:pt x="0" y="4152900"/>
                </a:lnTo>
                <a:lnTo>
                  <a:pt x="1935480" y="4183380"/>
                </a:lnTo>
                <a:lnTo>
                  <a:pt x="1927860" y="2301240"/>
                </a:lnTo>
                <a:lnTo>
                  <a:pt x="4030980" y="2301240"/>
                </a:lnTo>
                <a:lnTo>
                  <a:pt x="4053840" y="22860"/>
                </a:lnTo>
                <a:lnTo>
                  <a:pt x="7620" y="0"/>
                </a:lnTo>
                <a:close/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7490BE8-9812-0023-49DE-C1BE46F8CAFC}"/>
              </a:ext>
            </a:extLst>
          </p:cNvPr>
          <p:cNvSpPr txBox="1"/>
          <p:nvPr/>
        </p:nvSpPr>
        <p:spPr>
          <a:xfrm>
            <a:off x="5093160" y="908579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Python Libraries</a:t>
            </a:r>
          </a:p>
        </p:txBody>
      </p:sp>
    </p:spTree>
    <p:extLst>
      <p:ext uri="{BB962C8B-B14F-4D97-AF65-F5344CB8AC3E}">
        <p14:creationId xmlns:p14="http://schemas.microsoft.com/office/powerpoint/2010/main" val="1286741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A2991-F4B8-1399-DDBE-685E08AF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!!Immagine 13">
            <a:extLst>
              <a:ext uri="{FF2B5EF4-FFF2-40B4-BE49-F238E27FC236}">
                <a16:creationId xmlns:a16="http://schemas.microsoft.com/office/drawing/2014/main" id="{9C14D88F-FFD2-0B38-FD73-E870AD97A8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50353" y="885015"/>
            <a:ext cx="3742147" cy="416696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FDDAD9A-BB5A-0F38-F44D-7C3D00747C55}"/>
              </a:ext>
            </a:extLst>
          </p:cNvPr>
          <p:cNvSpPr txBox="1"/>
          <p:nvPr/>
        </p:nvSpPr>
        <p:spPr>
          <a:xfrm>
            <a:off x="3027130" y="111441"/>
            <a:ext cx="5402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Frameworks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6BD686-EDD4-D258-A381-115A4D21EC33}"/>
              </a:ext>
            </a:extLst>
          </p:cNvPr>
          <p:cNvSpPr txBox="1"/>
          <p:nvPr/>
        </p:nvSpPr>
        <p:spPr>
          <a:xfrm>
            <a:off x="0" y="1024229"/>
            <a:ext cx="7441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API for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(Application Programming Interface) is a set of tools that allows two pieces of software to communicate with each other.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728205A-D6A6-8782-A4E4-97F93AF37AEA}"/>
              </a:ext>
            </a:extLst>
          </p:cNvPr>
          <p:cNvSpPr/>
          <p:nvPr/>
        </p:nvSpPr>
        <p:spPr>
          <a:xfrm>
            <a:off x="7698731" y="3024087"/>
            <a:ext cx="4493269" cy="19449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2FE8BE6-2F5D-AD64-74D1-0E3B1DFEBF91}"/>
              </a:ext>
            </a:extLst>
          </p:cNvPr>
          <p:cNvSpPr txBox="1"/>
          <p:nvPr/>
        </p:nvSpPr>
        <p:spPr>
          <a:xfrm>
            <a:off x="0" y="3079916"/>
            <a:ext cx="119589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It provides a set of easy-to-use commands (functions, classes, tools)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You don’t need to understand all the complex math or hardware underneath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You just call the functions, give them your data, and they do the work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 can see it is like a bridge that connects different programs (your Python script vs deep learning framework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), allowing them to exchange information and functionality without having to share source code.</a:t>
            </a:r>
            <a:endParaRPr lang="en-US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37973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4EBB-1970-3F90-E3D4-E0886E31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E030148-6D6A-ADCD-42FC-FF6844C36380}"/>
              </a:ext>
            </a:extLst>
          </p:cNvPr>
          <p:cNvSpPr txBox="1"/>
          <p:nvPr/>
        </p:nvSpPr>
        <p:spPr>
          <a:xfrm>
            <a:off x="23376" y="26263"/>
            <a:ext cx="571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 err="1">
                <a:latin typeface="Georgia" panose="02040502050405020303" pitchFamily="18" charset="0"/>
              </a:rPr>
              <a:t>Neural</a:t>
            </a:r>
            <a:r>
              <a:rPr lang="it-IT" sz="2000" b="1" dirty="0">
                <a:latin typeface="Georgia" panose="02040502050405020303" pitchFamily="18" charset="0"/>
              </a:rPr>
              <a:t> Network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496BEB4-C560-E723-0782-3BAF4DA5B22E}"/>
              </a:ext>
            </a:extLst>
          </p:cNvPr>
          <p:cNvSpPr txBox="1"/>
          <p:nvPr/>
        </p:nvSpPr>
        <p:spPr>
          <a:xfrm>
            <a:off x="229433" y="751056"/>
            <a:ext cx="5139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Building Block: </a:t>
            </a:r>
            <a:r>
              <a:rPr lang="it-IT" sz="2000" dirty="0" err="1"/>
              <a:t>Artificial</a:t>
            </a:r>
            <a:r>
              <a:rPr lang="it-IT" sz="2000" dirty="0"/>
              <a:t> </a:t>
            </a:r>
            <a:r>
              <a:rPr lang="it-IT" sz="2000" dirty="0" err="1"/>
              <a:t>neuron</a:t>
            </a:r>
            <a:endParaRPr lang="it-IT" sz="2000" dirty="0"/>
          </a:p>
          <a:p>
            <a:r>
              <a:rPr lang="it-IT" sz="2000" dirty="0"/>
              <a:t> 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73A9266-8D2E-E4E8-50FE-06AB52DDC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6" y="4424306"/>
            <a:ext cx="4957519" cy="1870202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469406A-3889-9CA9-1924-1E469C71BCBF}"/>
              </a:ext>
            </a:extLst>
          </p:cNvPr>
          <p:cNvSpPr txBox="1"/>
          <p:nvPr/>
        </p:nvSpPr>
        <p:spPr>
          <a:xfrm>
            <a:off x="124976" y="6343817"/>
            <a:ext cx="4247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 Deep learning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1623745-9B88-A892-CCB8-A5516550B7AF}"/>
              </a:ext>
            </a:extLst>
          </p:cNvPr>
          <p:cNvSpPr txBox="1"/>
          <p:nvPr/>
        </p:nvSpPr>
        <p:spPr>
          <a:xfrm rot="5400000">
            <a:off x="2494250" y="3241301"/>
            <a:ext cx="6864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_______________________________________________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35C7BC-4D9A-2417-9003-A20B91502A1C}"/>
              </a:ext>
            </a:extLst>
          </p:cNvPr>
          <p:cNvSpPr txBox="1"/>
          <p:nvPr/>
        </p:nvSpPr>
        <p:spPr>
          <a:xfrm>
            <a:off x="6096000" y="-606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 err="1">
                <a:latin typeface="Georgia" panose="02040502050405020303" pitchFamily="18" charset="0"/>
              </a:rPr>
              <a:t>Classification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problem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D5BCB1B2-F0F7-E06A-174D-E587018E4ED1}"/>
              </a:ext>
            </a:extLst>
          </p:cNvPr>
          <p:cNvGrpSpPr/>
          <p:nvPr/>
        </p:nvGrpSpPr>
        <p:grpSpPr>
          <a:xfrm>
            <a:off x="7031945" y="747238"/>
            <a:ext cx="4224109" cy="1001551"/>
            <a:chOff x="7634679" y="1303727"/>
            <a:chExt cx="4224109" cy="1001551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4727DA12-0F69-4FD0-2BE9-866212F67D03}"/>
                </a:ext>
              </a:extLst>
            </p:cNvPr>
            <p:cNvSpPr txBox="1"/>
            <p:nvPr/>
          </p:nvSpPr>
          <p:spPr>
            <a:xfrm>
              <a:off x="7634679" y="1307064"/>
              <a:ext cx="73342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it-IT" dirty="0"/>
                <a:t>Dati</a:t>
              </a: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104C2D2C-65B2-715F-9C63-6877CE357033}"/>
                </a:ext>
              </a:extLst>
            </p:cNvPr>
            <p:cNvSpPr txBox="1"/>
            <p:nvPr/>
          </p:nvSpPr>
          <p:spPr>
            <a:xfrm>
              <a:off x="8334164" y="1935946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Modello</a:t>
              </a:r>
              <a:endParaRPr lang="it-IT" sz="300" dirty="0"/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158C5110-46FA-4014-1C7C-29CC65B3DE98}"/>
                </a:ext>
              </a:extLst>
            </p:cNvPr>
            <p:cNvSpPr txBox="1"/>
            <p:nvPr/>
          </p:nvSpPr>
          <p:spPr>
            <a:xfrm>
              <a:off x="10422593" y="1307064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Loss</a:t>
              </a:r>
              <a:endParaRPr lang="it-IT" sz="300" dirty="0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21C5F2D8-830C-339A-ADC2-6A638465F992}"/>
                </a:ext>
              </a:extLst>
            </p:cNvPr>
            <p:cNvSpPr txBox="1"/>
            <p:nvPr/>
          </p:nvSpPr>
          <p:spPr>
            <a:xfrm>
              <a:off x="10096662" y="1935769"/>
              <a:ext cx="1762126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Aggiornamento</a:t>
              </a:r>
              <a:endParaRPr lang="it-IT" sz="300" dirty="0"/>
            </a:p>
          </p:txBody>
        </p:sp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56E988E3-E5C9-46DB-3171-6D3D7CBB7ACC}"/>
                </a:ext>
              </a:extLst>
            </p:cNvPr>
            <p:cNvCxnSpPr>
              <a:cxnSpLocks/>
              <a:stCxn id="18" idx="2"/>
              <a:endCxn id="21" idx="0"/>
            </p:cNvCxnSpPr>
            <p:nvPr/>
          </p:nvCxnSpPr>
          <p:spPr>
            <a:xfrm flipH="1">
              <a:off x="10977725" y="1676396"/>
              <a:ext cx="1" cy="25937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7FE3C0FC-2F16-8198-FDA1-05C4DF22E3FB}"/>
                </a:ext>
              </a:extLst>
            </p:cNvPr>
            <p:cNvCxnSpPr>
              <a:cxnSpLocks/>
              <a:stCxn id="21" idx="1"/>
              <a:endCxn id="17" idx="3"/>
            </p:cNvCxnSpPr>
            <p:nvPr/>
          </p:nvCxnSpPr>
          <p:spPr>
            <a:xfrm flipH="1">
              <a:off x="9444429" y="2120435"/>
              <a:ext cx="652233" cy="17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12142169-26B6-232A-F770-EED539865F87}"/>
                </a:ext>
              </a:extLst>
            </p:cNvPr>
            <p:cNvCxnSpPr>
              <a:cxnSpLocks/>
              <a:stCxn id="15" idx="3"/>
              <a:endCxn id="32" idx="1"/>
            </p:cNvCxnSpPr>
            <p:nvPr/>
          </p:nvCxnSpPr>
          <p:spPr>
            <a:xfrm flipV="1">
              <a:off x="8368104" y="1488393"/>
              <a:ext cx="516832" cy="33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ttore a gomito 30">
              <a:extLst>
                <a:ext uri="{FF2B5EF4-FFF2-40B4-BE49-F238E27FC236}">
                  <a16:creationId xmlns:a16="http://schemas.microsoft.com/office/drawing/2014/main" id="{13D231E4-56D7-D432-0F5C-5409CA46F58B}"/>
                </a:ext>
              </a:extLst>
            </p:cNvPr>
            <p:cNvCxnSpPr>
              <a:cxnSpLocks/>
              <a:stCxn id="17" idx="0"/>
              <a:endCxn id="32" idx="1"/>
            </p:cNvCxnSpPr>
            <p:nvPr/>
          </p:nvCxnSpPr>
          <p:spPr>
            <a:xfrm rot="16200000" flipV="1">
              <a:off x="8663341" y="1709989"/>
              <a:ext cx="447553" cy="4361"/>
            </a:xfrm>
            <a:prstGeom prst="bentConnector4">
              <a:avLst>
                <a:gd name="adj1" fmla="val 29369"/>
                <a:gd name="adj2" fmla="val 8545563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D1CDCBE4-8548-4D02-CB5F-82FBF5D496A5}"/>
                </a:ext>
              </a:extLst>
            </p:cNvPr>
            <p:cNvSpPr txBox="1"/>
            <p:nvPr/>
          </p:nvSpPr>
          <p:spPr>
            <a:xfrm>
              <a:off x="8884936" y="1303727"/>
              <a:ext cx="1316208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Predizioni</a:t>
              </a:r>
              <a:endParaRPr lang="it-IT" sz="300" dirty="0"/>
            </a:p>
          </p:txBody>
        </p:sp>
        <p:cxnSp>
          <p:nvCxnSpPr>
            <p:cNvPr id="33" name="Connettore 2 32">
              <a:extLst>
                <a:ext uri="{FF2B5EF4-FFF2-40B4-BE49-F238E27FC236}">
                  <a16:creationId xmlns:a16="http://schemas.microsoft.com/office/drawing/2014/main" id="{0E08B851-8E89-EA08-FD01-85A006BA77FB}"/>
                </a:ext>
              </a:extLst>
            </p:cNvPr>
            <p:cNvCxnSpPr>
              <a:cxnSpLocks/>
              <a:stCxn id="32" idx="3"/>
              <a:endCxn id="18" idx="1"/>
            </p:cNvCxnSpPr>
            <p:nvPr/>
          </p:nvCxnSpPr>
          <p:spPr>
            <a:xfrm>
              <a:off x="10201144" y="1488393"/>
              <a:ext cx="221449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031F508D-18CA-C0DD-FBB1-798839E8B8ED}"/>
              </a:ext>
            </a:extLst>
          </p:cNvPr>
          <p:cNvGrpSpPr/>
          <p:nvPr/>
        </p:nvGrpSpPr>
        <p:grpSpPr>
          <a:xfrm>
            <a:off x="7765369" y="2020791"/>
            <a:ext cx="2910402" cy="1523494"/>
            <a:chOff x="7896635" y="2414816"/>
            <a:chExt cx="2910402" cy="1523494"/>
          </a:xfrm>
        </p:grpSpPr>
        <p:pic>
          <p:nvPicPr>
            <p:cNvPr id="34" name="Immagine 33">
              <a:extLst>
                <a:ext uri="{FF2B5EF4-FFF2-40B4-BE49-F238E27FC236}">
                  <a16:creationId xmlns:a16="http://schemas.microsoft.com/office/drawing/2014/main" id="{F825AE51-D959-33EB-8659-B21BC32D4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0758" y="2768009"/>
              <a:ext cx="2796279" cy="1054884"/>
            </a:xfrm>
            <a:prstGeom prst="rect">
              <a:avLst/>
            </a:prstGeom>
          </p:spPr>
        </p:pic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2FF11AF6-9C99-345B-6BC1-B58DD4869D54}"/>
                </a:ext>
              </a:extLst>
            </p:cNvPr>
            <p:cNvSpPr txBox="1"/>
            <p:nvPr/>
          </p:nvSpPr>
          <p:spPr>
            <a:xfrm>
              <a:off x="7896635" y="2414816"/>
              <a:ext cx="2910401" cy="1523494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Modello</a:t>
              </a:r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</p:txBody>
        </p:sp>
      </p:grp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DF62EB6-0DAE-B8DB-4828-D15398AD436D}"/>
              </a:ext>
            </a:extLst>
          </p:cNvPr>
          <p:cNvSpPr txBox="1"/>
          <p:nvPr/>
        </p:nvSpPr>
        <p:spPr>
          <a:xfrm>
            <a:off x="7765370" y="3982771"/>
            <a:ext cx="2910400" cy="96949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Loss</a:t>
            </a: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(</a:t>
            </a:r>
            <a:r>
              <a:rPr lang="it-IT" dirty="0" err="1">
                <a:solidFill>
                  <a:schemeClr val="tx1"/>
                </a:solidFill>
              </a:rPr>
              <a:t>Binary</a:t>
            </a:r>
            <a:r>
              <a:rPr lang="it-IT" dirty="0">
                <a:solidFill>
                  <a:schemeClr val="tx1"/>
                </a:solidFill>
              </a:rPr>
              <a:t>) </a:t>
            </a:r>
            <a:r>
              <a:rPr lang="it-IT" b="1" dirty="0">
                <a:solidFill>
                  <a:schemeClr val="tx1"/>
                </a:solidFill>
              </a:rPr>
              <a:t>Cross </a:t>
            </a:r>
            <a:r>
              <a:rPr lang="it-IT" b="1" dirty="0" err="1">
                <a:solidFill>
                  <a:schemeClr val="tx1"/>
                </a:solidFill>
              </a:rPr>
              <a:t>Entropy</a:t>
            </a:r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  <a:p>
            <a:pPr algn="ctr"/>
            <a:endParaRPr lang="it-IT" sz="300" dirty="0">
              <a:solidFill>
                <a:schemeClr val="tx1"/>
              </a:solidFill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8B5A742-5AD7-36A5-21CE-015624F4A6A9}"/>
              </a:ext>
            </a:extLst>
          </p:cNvPr>
          <p:cNvSpPr txBox="1"/>
          <p:nvPr/>
        </p:nvSpPr>
        <p:spPr>
          <a:xfrm>
            <a:off x="7786814" y="5406142"/>
            <a:ext cx="2910399" cy="98488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it-IT" dirty="0"/>
              <a:t>Weights update</a:t>
            </a:r>
            <a:endParaRPr lang="it-IT" dirty="0">
              <a:solidFill>
                <a:schemeClr val="tx1"/>
              </a:solidFill>
            </a:endParaRPr>
          </a:p>
          <a:p>
            <a:pPr algn="ctr"/>
            <a:endParaRPr lang="it-IT" sz="800" dirty="0">
              <a:solidFill>
                <a:schemeClr val="tx1"/>
              </a:solidFill>
            </a:endParaRPr>
          </a:p>
          <a:p>
            <a:pPr algn="ctr"/>
            <a:endParaRPr lang="it-IT" sz="800" dirty="0">
              <a:solidFill>
                <a:schemeClr val="tx1"/>
              </a:solidFill>
            </a:endParaRPr>
          </a:p>
          <a:p>
            <a:pPr algn="ctr"/>
            <a:r>
              <a:rPr lang="it-IT" b="1" dirty="0" err="1"/>
              <a:t>Gradient</a:t>
            </a:r>
            <a:r>
              <a:rPr lang="it-IT" b="1" dirty="0"/>
              <a:t> </a:t>
            </a:r>
            <a:r>
              <a:rPr lang="it-IT" b="1" dirty="0" err="1"/>
              <a:t>descent</a:t>
            </a:r>
            <a:endParaRPr lang="it-IT" sz="300" dirty="0"/>
          </a:p>
          <a:p>
            <a:pPr algn="ctr"/>
            <a:endParaRPr lang="it-IT" sz="300" dirty="0"/>
          </a:p>
          <a:p>
            <a:pPr algn="ctr"/>
            <a:endParaRPr lang="it-IT" sz="300" dirty="0"/>
          </a:p>
        </p:txBody>
      </p:sp>
      <p:sp>
        <p:nvSpPr>
          <p:cNvPr id="2" name="Connettore 1">
            <a:extLst>
              <a:ext uri="{FF2B5EF4-FFF2-40B4-BE49-F238E27FC236}">
                <a16:creationId xmlns:a16="http://schemas.microsoft.com/office/drawing/2014/main" id="{1EB20F9F-264F-38C0-0E0A-6B56FC477FE7}"/>
              </a:ext>
            </a:extLst>
          </p:cNvPr>
          <p:cNvSpPr/>
          <p:nvPr/>
        </p:nvSpPr>
        <p:spPr>
          <a:xfrm>
            <a:off x="7074657" y="2692538"/>
            <a:ext cx="180000" cy="1800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onnettore 10">
            <a:extLst>
              <a:ext uri="{FF2B5EF4-FFF2-40B4-BE49-F238E27FC236}">
                <a16:creationId xmlns:a16="http://schemas.microsoft.com/office/drawing/2014/main" id="{DC416E1D-DE74-5CB4-A021-89F89AA765CD}"/>
              </a:ext>
            </a:extLst>
          </p:cNvPr>
          <p:cNvSpPr/>
          <p:nvPr/>
        </p:nvSpPr>
        <p:spPr>
          <a:xfrm>
            <a:off x="7074657" y="4377519"/>
            <a:ext cx="180000" cy="1800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onnettore 11">
            <a:extLst>
              <a:ext uri="{FF2B5EF4-FFF2-40B4-BE49-F238E27FC236}">
                <a16:creationId xmlns:a16="http://schemas.microsoft.com/office/drawing/2014/main" id="{3270A3AF-5507-D663-6A6E-23C90E817AED}"/>
              </a:ext>
            </a:extLst>
          </p:cNvPr>
          <p:cNvSpPr/>
          <p:nvPr/>
        </p:nvSpPr>
        <p:spPr>
          <a:xfrm>
            <a:off x="7074657" y="5742672"/>
            <a:ext cx="180000" cy="1800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FF3D38E5-6F84-3709-A958-CCF2AEA90399}"/>
              </a:ext>
            </a:extLst>
          </p:cNvPr>
          <p:cNvGrpSpPr/>
          <p:nvPr/>
        </p:nvGrpSpPr>
        <p:grpSpPr>
          <a:xfrm>
            <a:off x="107803" y="1274692"/>
            <a:ext cx="5102969" cy="2967089"/>
            <a:chOff x="1336054" y="1502092"/>
            <a:chExt cx="8071769" cy="2967089"/>
          </a:xfrm>
        </p:grpSpPr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605ABA3C-813D-3BFE-C092-1586CC102C69}"/>
                </a:ext>
              </a:extLst>
            </p:cNvPr>
            <p:cNvSpPr txBox="1"/>
            <p:nvPr/>
          </p:nvSpPr>
          <p:spPr>
            <a:xfrm>
              <a:off x="1908699" y="1606859"/>
              <a:ext cx="284086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5B0D4B69-9ED3-C0CD-1D39-688997213A20}"/>
                    </a:ext>
                  </a:extLst>
                </p:cNvPr>
                <p:cNvSpPr txBox="1"/>
                <p:nvPr/>
              </p:nvSpPr>
              <p:spPr>
                <a:xfrm>
                  <a:off x="1336054" y="1502092"/>
                  <a:ext cx="4886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it-IT" dirty="0"/>
                </a:p>
              </p:txBody>
            </p:sp>
          </mc:Choice>
          <mc:Fallback>
            <p:sp>
              <p:nvSpPr>
                <p:cNvPr id="16" name="CasellaDiTesto 15">
                  <a:extLst>
                    <a:ext uri="{FF2B5EF4-FFF2-40B4-BE49-F238E27FC236}">
                      <a16:creationId xmlns:a16="http://schemas.microsoft.com/office/drawing/2014/main" id="{5B0D4B69-9ED3-C0CD-1D39-688997213A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054" y="1502092"/>
                  <a:ext cx="48866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8000" t="-8197" r="-34000" b="-2459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1678A483-78CC-3604-8A96-6D8BA9A3AE9B}"/>
                    </a:ext>
                  </a:extLst>
                </p:cNvPr>
                <p:cNvSpPr txBox="1"/>
                <p:nvPr/>
              </p:nvSpPr>
              <p:spPr>
                <a:xfrm>
                  <a:off x="1457569" y="1791525"/>
                  <a:ext cx="456792" cy="25853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it-IT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b="0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it-IT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1E79A151-1150-DB4D-FF21-1AEA75382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569" y="1791525"/>
                  <a:ext cx="456792" cy="2585323"/>
                </a:xfrm>
                <a:prstGeom prst="rect">
                  <a:avLst/>
                </a:prstGeom>
                <a:blipFill>
                  <a:blip r:embed="rId4"/>
                  <a:stretch>
                    <a:fillRect l="-10667" t="-1179" b="-283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7E450ABC-7FD8-31CE-1AD0-71DAFBBA6E2C}"/>
                </a:ext>
              </a:extLst>
            </p:cNvPr>
            <p:cNvSpPr/>
            <p:nvPr/>
          </p:nvSpPr>
          <p:spPr>
            <a:xfrm>
              <a:off x="5272514" y="2175597"/>
              <a:ext cx="2262461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72103AF5-76AE-DAC4-DC81-0AD98987CEA4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2192785" y="1791346"/>
              <a:ext cx="3032669" cy="1066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0A87D6BD-0349-3FE8-CC20-B5354D58E07C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2192785" y="2086680"/>
              <a:ext cx="3032669" cy="77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2C974A64-8065-A710-F312-23B4D26F7224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2192785" y="2338140"/>
              <a:ext cx="3032669" cy="5201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diritto 24">
              <a:extLst>
                <a:ext uri="{FF2B5EF4-FFF2-40B4-BE49-F238E27FC236}">
                  <a16:creationId xmlns:a16="http://schemas.microsoft.com/office/drawing/2014/main" id="{ABAB69E0-C38F-5180-5801-638A8A27CF25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2192785" y="2858268"/>
              <a:ext cx="3032669" cy="79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diritto 28">
              <a:extLst>
                <a:ext uri="{FF2B5EF4-FFF2-40B4-BE49-F238E27FC236}">
                  <a16:creationId xmlns:a16="http://schemas.microsoft.com/office/drawing/2014/main" id="{DDEA575F-1FCC-A50E-4CFF-6AC8A95AE198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2192785" y="2858268"/>
              <a:ext cx="3032669" cy="1411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diritto 29">
              <a:extLst>
                <a:ext uri="{FF2B5EF4-FFF2-40B4-BE49-F238E27FC236}">
                  <a16:creationId xmlns:a16="http://schemas.microsoft.com/office/drawing/2014/main" id="{B1A47C49-F6D0-01B1-45F8-9A94BD5F7A69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2192785" y="2601384"/>
              <a:ext cx="3032669" cy="256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diritto 38">
              <a:extLst>
                <a:ext uri="{FF2B5EF4-FFF2-40B4-BE49-F238E27FC236}">
                  <a16:creationId xmlns:a16="http://schemas.microsoft.com/office/drawing/2014/main" id="{D78C2195-0336-D107-A487-EB32633ECB3E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2192785" y="2858268"/>
              <a:ext cx="3032669" cy="11029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diritto 39">
              <a:extLst>
                <a:ext uri="{FF2B5EF4-FFF2-40B4-BE49-F238E27FC236}">
                  <a16:creationId xmlns:a16="http://schemas.microsoft.com/office/drawing/2014/main" id="{5555590D-8028-09AF-C11F-55FE6BE7ECB5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2192785" y="2858268"/>
              <a:ext cx="3032669" cy="3155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diritto 40">
              <a:extLst>
                <a:ext uri="{FF2B5EF4-FFF2-40B4-BE49-F238E27FC236}">
                  <a16:creationId xmlns:a16="http://schemas.microsoft.com/office/drawing/2014/main" id="{E0FC92E4-B947-6B6A-B509-4A12F28AE655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2192785" y="2858268"/>
              <a:ext cx="303266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diritto 41">
              <a:extLst>
                <a:ext uri="{FF2B5EF4-FFF2-40B4-BE49-F238E27FC236}">
                  <a16:creationId xmlns:a16="http://schemas.microsoft.com/office/drawing/2014/main" id="{C8E8630A-9E01-AF8A-4045-F8914323E400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2192785" y="2858268"/>
              <a:ext cx="3032669" cy="5695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CasellaDiTesto 42">
                  <a:extLst>
                    <a:ext uri="{FF2B5EF4-FFF2-40B4-BE49-F238E27FC236}">
                      <a16:creationId xmlns:a16="http://schemas.microsoft.com/office/drawing/2014/main" id="{3AC485B2-E569-3160-6367-83120B334F53}"/>
                    </a:ext>
                  </a:extLst>
                </p:cNvPr>
                <p:cNvSpPr txBox="1"/>
                <p:nvPr/>
              </p:nvSpPr>
              <p:spPr>
                <a:xfrm>
                  <a:off x="3364048" y="1898485"/>
                  <a:ext cx="7681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it-IT" dirty="0"/>
                </a:p>
              </p:txBody>
            </p:sp>
          </mc:Choice>
          <mc:Fallback>
            <p:sp>
              <p:nvSpPr>
                <p:cNvPr id="43" name="CasellaDiTesto 42">
                  <a:extLst>
                    <a:ext uri="{FF2B5EF4-FFF2-40B4-BE49-F238E27FC236}">
                      <a16:creationId xmlns:a16="http://schemas.microsoft.com/office/drawing/2014/main" id="{3AC485B2-E569-3160-6367-83120B334F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4048" y="1898485"/>
                  <a:ext cx="76818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CasellaDiTesto 43">
                  <a:extLst>
                    <a:ext uri="{FF2B5EF4-FFF2-40B4-BE49-F238E27FC236}">
                      <a16:creationId xmlns:a16="http://schemas.microsoft.com/office/drawing/2014/main" id="{8D772B6D-C09F-2308-94E0-F0DDEB84DA37}"/>
                    </a:ext>
                  </a:extLst>
                </p:cNvPr>
                <p:cNvSpPr txBox="1"/>
                <p:nvPr/>
              </p:nvSpPr>
              <p:spPr>
                <a:xfrm>
                  <a:off x="5225454" y="2673602"/>
                  <a:ext cx="22624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>
            <p:sp>
              <p:nvSpPr>
                <p:cNvPr id="44" name="CasellaDiTesto 43">
                  <a:extLst>
                    <a:ext uri="{FF2B5EF4-FFF2-40B4-BE49-F238E27FC236}">
                      <a16:creationId xmlns:a16="http://schemas.microsoft.com/office/drawing/2014/main" id="{8D772B6D-C09F-2308-94E0-F0DDEB84D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5454" y="2673602"/>
                  <a:ext cx="2262461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nettore diritto 44">
              <a:extLst>
                <a:ext uri="{FF2B5EF4-FFF2-40B4-BE49-F238E27FC236}">
                  <a16:creationId xmlns:a16="http://schemas.microsoft.com/office/drawing/2014/main" id="{C1C4D96B-B0D0-4681-FE48-18AA88952389}"/>
                </a:ext>
              </a:extLst>
            </p:cNvPr>
            <p:cNvCxnSpPr>
              <a:cxnSpLocks/>
            </p:cNvCxnSpPr>
            <p:nvPr/>
          </p:nvCxnSpPr>
          <p:spPr>
            <a:xfrm>
              <a:off x="7584341" y="2858268"/>
              <a:ext cx="395536" cy="31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asellaDiTesto 45">
              <a:extLst>
                <a:ext uri="{FF2B5EF4-FFF2-40B4-BE49-F238E27FC236}">
                  <a16:creationId xmlns:a16="http://schemas.microsoft.com/office/drawing/2014/main" id="{2B4948DF-D3D7-99D9-F60C-E5012CB31D8B}"/>
                </a:ext>
              </a:extLst>
            </p:cNvPr>
            <p:cNvSpPr txBox="1"/>
            <p:nvPr/>
          </p:nvSpPr>
          <p:spPr>
            <a:xfrm>
              <a:off x="7948270" y="2673602"/>
              <a:ext cx="1459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90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0DE0-3271-AE42-3785-DD83F5E2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magine 61">
            <a:extLst>
              <a:ext uri="{FF2B5EF4-FFF2-40B4-BE49-F238E27FC236}">
                <a16:creationId xmlns:a16="http://schemas.microsoft.com/office/drawing/2014/main" id="{3B2C1CC6-136F-B0A7-4CA2-5785F1DE1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79" y="1966395"/>
            <a:ext cx="3402749" cy="1283672"/>
          </a:xfrm>
          <a:prstGeom prst="rect">
            <a:avLst/>
          </a:prstGeom>
        </p:spPr>
      </p:pic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0CC390FC-AC2A-50E6-AFFE-7165DC3D8E43}"/>
              </a:ext>
            </a:extLst>
          </p:cNvPr>
          <p:cNvSpPr txBox="1"/>
          <p:nvPr/>
        </p:nvSpPr>
        <p:spPr>
          <a:xfrm>
            <a:off x="5333398" y="392567"/>
            <a:ext cx="7082122" cy="314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noProof="0" dirty="0">
                <a:latin typeface="Book Antiqua" panose="02040602050305030304" pitchFamily="18" charset="0"/>
              </a:rPr>
              <a:t>We will</a:t>
            </a:r>
          </a:p>
          <a:p>
            <a:pPr algn="ctr"/>
            <a:endParaRPr lang="it-IT" sz="1200" b="1" dirty="0">
              <a:latin typeface="Book Antiqua" panose="0204060205030503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 Antiqua" panose="02040602050305030304" pitchFamily="18" charset="0"/>
              </a:rPr>
              <a:t>Build the Deep Learning models (using </a:t>
            </a:r>
            <a:r>
              <a:rPr lang="en-US" sz="2000" dirty="0" err="1">
                <a:latin typeface="Book Antiqua" panose="02040602050305030304" pitchFamily="18" charset="0"/>
                <a:hlinkClick r:id="rId3"/>
              </a:rPr>
              <a:t>Keras</a:t>
            </a:r>
            <a:r>
              <a:rPr lang="en-US" sz="2000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 Antiqua" panose="02040602050305030304" pitchFamily="18" charset="0"/>
              </a:rPr>
              <a:t>Take our first look at </a:t>
            </a:r>
            <a:r>
              <a:rPr lang="en-US" sz="2000" dirty="0">
                <a:latin typeface="Book Antiqua" panose="02040602050305030304" pitchFamily="18" charset="0"/>
                <a:hlinkClick r:id="rId4"/>
              </a:rPr>
              <a:t>Google </a:t>
            </a:r>
            <a:r>
              <a:rPr lang="en-US" sz="2000" dirty="0" err="1">
                <a:latin typeface="Book Antiqua" panose="02040602050305030304" pitchFamily="18" charset="0"/>
                <a:hlinkClick r:id="rId4"/>
              </a:rPr>
              <a:t>Colab</a:t>
            </a:r>
            <a:r>
              <a:rPr lang="en-US" sz="2000" dirty="0">
                <a:latin typeface="Book Antiqua" panose="02040602050305030304" pitchFamily="18" charset="0"/>
              </a:rPr>
              <a:t> (</a:t>
            </a:r>
            <a:r>
              <a:rPr lang="en-US" sz="2000" dirty="0">
                <a:latin typeface="Book Antiqua" panose="02040602050305030304" pitchFamily="18" charset="0"/>
                <a:hlinkClick r:id="rId5"/>
              </a:rPr>
              <a:t>S</a:t>
            </a:r>
            <a:r>
              <a:rPr lang="en-US" sz="2000" dirty="0">
                <a:latin typeface="Book Antiqua" panose="02040602050305030304" pitchFamily="18" charset="0"/>
                <a:hlinkClick r:id="rId5"/>
              </a:rPr>
              <a:t>tarted with </a:t>
            </a:r>
            <a:r>
              <a:rPr lang="en-US" sz="2000" dirty="0" err="1">
                <a:latin typeface="Book Antiqua" panose="02040602050305030304" pitchFamily="18" charset="0"/>
                <a:hlinkClick r:id="rId5"/>
              </a:rPr>
              <a:t>Colab</a:t>
            </a:r>
            <a:r>
              <a:rPr lang="en-US" sz="2000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 Antiqua" panose="02040602050305030304" pitchFamily="18" charset="0"/>
              </a:rPr>
              <a:t>Run Python in </a:t>
            </a:r>
            <a:r>
              <a:rPr lang="en-US" sz="2000" dirty="0">
                <a:latin typeface="Book Antiqua" panose="02040602050305030304" pitchFamily="18" charset="0"/>
                <a:hlinkClick r:id="rId6"/>
              </a:rPr>
              <a:t>notebooks</a:t>
            </a:r>
            <a:endParaRPr lang="en-US" sz="2000" dirty="0">
              <a:latin typeface="Book Antiqua" panose="0204060205030503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ook Antiqua" panose="02040602050305030304" pitchFamily="18" charset="0"/>
              </a:rPr>
              <a:t>Have our first interaction with </a:t>
            </a:r>
            <a:r>
              <a:rPr lang="en-US" sz="2000" dirty="0">
                <a:latin typeface="Book Antiqua" panose="02040602050305030304" pitchFamily="18" charset="0"/>
                <a:hlinkClick r:id="rId7"/>
              </a:rPr>
              <a:t>GitHub</a:t>
            </a:r>
            <a:endParaRPr lang="it-IT" sz="2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99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E26804E-933A-AEFF-94B0-1FF2B1F505FE}"/>
                  </a:ext>
                </a:extLst>
              </p:cNvPr>
              <p:cNvSpPr txBox="1"/>
              <p:nvPr/>
            </p:nvSpPr>
            <p:spPr>
              <a:xfrm>
                <a:off x="2535032" y="4714893"/>
                <a:ext cx="712193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PH" sz="2400" b="1" dirty="0"/>
                  <a:t>Sparse connectivity </a:t>
                </a:r>
                <a:r>
                  <a:rPr lang="en-PH" sz="2400" dirty="0"/>
                  <a:t>-</a:t>
                </a:r>
                <a:r>
                  <a:rPr lang="en-PH" sz="2000" dirty="0"/>
                  <a:t>&gt; retrieve spatial information</a:t>
                </a:r>
                <a:endParaRPr lang="en-PH" sz="2400" dirty="0"/>
              </a:p>
              <a:p>
                <a:endParaRPr lang="en-PH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PH" sz="2400" b="1" dirty="0"/>
                  <a:t>Weight sharing </a:t>
                </a:r>
                <a:r>
                  <a:rPr lang="en-PH" sz="2400" dirty="0"/>
                  <a:t>-------</a:t>
                </a:r>
                <a:r>
                  <a:rPr lang="en-PH" sz="2000" dirty="0"/>
                  <a:t>&gt; Translational invariance</a:t>
                </a:r>
              </a:p>
              <a:p>
                <a:pPr lvl="1"/>
                <a:r>
                  <a:rPr lang="en-PH" sz="2000" dirty="0"/>
                  <a:t>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PH" sz="2000" dirty="0"/>
                  <a:t>)</a:t>
                </a:r>
                <a:endParaRPr lang="it-IT" sz="2000" dirty="0"/>
              </a:p>
              <a:p>
                <a:pPr lvl="1"/>
                <a:endParaRPr lang="en-PH" sz="20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E26804E-933A-AEFF-94B0-1FF2B1F50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032" y="4714893"/>
                <a:ext cx="7121934" cy="1815882"/>
              </a:xfrm>
              <a:prstGeom prst="rect">
                <a:avLst/>
              </a:prstGeom>
              <a:blipFill>
                <a:blip r:embed="rId2"/>
                <a:stretch>
                  <a:fillRect l="-1199" t="-26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magine 16">
            <a:extLst>
              <a:ext uri="{FF2B5EF4-FFF2-40B4-BE49-F238E27FC236}">
                <a16:creationId xmlns:a16="http://schemas.microsoft.com/office/drawing/2014/main" id="{C1F27D78-E476-FEAD-8E45-29AF54BD5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285" y="1106126"/>
            <a:ext cx="8171428" cy="2942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AB3494CF-6466-4AF7-02F8-C14A24FE6215}"/>
                  </a:ext>
                </a:extLst>
              </p:cNvPr>
              <p:cNvSpPr txBox="1"/>
              <p:nvPr/>
            </p:nvSpPr>
            <p:spPr>
              <a:xfrm>
                <a:off x="3621093" y="2553614"/>
                <a:ext cx="4346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AB3494CF-6466-4AF7-02F8-C14A24FE6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093" y="2553614"/>
                <a:ext cx="43460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BF2604CA-475F-259C-6DDC-F1F5D1F66FA5}"/>
                  </a:ext>
                </a:extLst>
              </p:cNvPr>
              <p:cNvSpPr txBox="1"/>
              <p:nvPr/>
            </p:nvSpPr>
            <p:spPr>
              <a:xfrm>
                <a:off x="3621093" y="1950982"/>
                <a:ext cx="430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BF2604CA-475F-259C-6DDC-F1F5D1F66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093" y="1950982"/>
                <a:ext cx="43043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ttangolo 20">
            <a:extLst>
              <a:ext uri="{FF2B5EF4-FFF2-40B4-BE49-F238E27FC236}">
                <a16:creationId xmlns:a16="http://schemas.microsoft.com/office/drawing/2014/main" id="{68AFB27F-96E9-8706-A387-F89BBBCE243C}"/>
              </a:ext>
            </a:extLst>
          </p:cNvPr>
          <p:cNvSpPr/>
          <p:nvPr/>
        </p:nvSpPr>
        <p:spPr>
          <a:xfrm>
            <a:off x="4614863" y="2926556"/>
            <a:ext cx="64294" cy="666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4B110AC-435C-581F-6368-217C9E649B83}"/>
              </a:ext>
            </a:extLst>
          </p:cNvPr>
          <p:cNvSpPr/>
          <p:nvPr/>
        </p:nvSpPr>
        <p:spPr>
          <a:xfrm>
            <a:off x="4881562" y="2412206"/>
            <a:ext cx="64294" cy="6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6577D95-5E14-FE86-3DAE-77C5FC179719}"/>
              </a:ext>
            </a:extLst>
          </p:cNvPr>
          <p:cNvSpPr txBox="1"/>
          <p:nvPr/>
        </p:nvSpPr>
        <p:spPr>
          <a:xfrm>
            <a:off x="5429611" y="424465"/>
            <a:ext cx="865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2400" dirty="0"/>
              <a:t>CNNs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24550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Custom 12">
      <a:dk1>
        <a:sysClr val="windowText" lastClr="000000"/>
      </a:dk1>
      <a:lt1>
        <a:sysClr val="window" lastClr="FFFFFF"/>
      </a:lt1>
      <a:dk2>
        <a:srgbClr val="323232"/>
      </a:dk2>
      <a:lt2>
        <a:srgbClr val="FFFFFF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495" id="{6DF9CAB6-1D2B-449F-890E-3FF7DF8EC61A}" vid="{9C4E66CF-E6C7-4030-AC57-0181577EF9E3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Forme astratte del titolo animate</Template>
  <TotalTime>235</TotalTime>
  <Words>575</Words>
  <Application>Microsoft Office PowerPoint</Application>
  <PresentationFormat>Widescreen</PresentationFormat>
  <Paragraphs>198</Paragraphs>
  <Slides>8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Arial</vt:lpstr>
      <vt:lpstr>Book Antiqua</vt:lpstr>
      <vt:lpstr>Calibri</vt:lpstr>
      <vt:lpstr>Cambria Math</vt:lpstr>
      <vt:lpstr>Georgia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Giovanni MESSUTI</dc:creator>
  <cp:keywords/>
  <dc:description/>
  <cp:lastModifiedBy>Giovanni MESSUTI</cp:lastModifiedBy>
  <cp:revision>39</cp:revision>
  <dcterms:created xsi:type="dcterms:W3CDTF">2025-04-29T10:56:45Z</dcterms:created>
  <dcterms:modified xsi:type="dcterms:W3CDTF">2026-05-02T11:05:57Z</dcterms:modified>
  <cp:category/>
</cp:coreProperties>
</file>