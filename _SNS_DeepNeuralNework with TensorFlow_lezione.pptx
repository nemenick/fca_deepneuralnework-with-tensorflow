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1E_81106634.xml" ContentType="application/vnd.ms-powerpoint.comments+xml"/>
  <Override PartName="/ppt/comments/modernComment_113_AD4CE242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86" r:id="rId2"/>
    <p:sldId id="285" r:id="rId3"/>
    <p:sldId id="275" r:id="rId4"/>
    <p:sldId id="288" r:id="rId5"/>
    <p:sldId id="287" r:id="rId6"/>
    <p:sldId id="258" r:id="rId7"/>
    <p:sldId id="256" r:id="rId8"/>
    <p:sldId id="257" r:id="rId9"/>
    <p:sldId id="264" r:id="rId10"/>
    <p:sldId id="266" r:id="rId11"/>
    <p:sldId id="289" r:id="rId12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5C06C61-55CC-1598-4B95-99902AB01CCD}" name="Giovanni MESSUTI" initials="GM" userId="S::gmessuti@unisa.it::9b3bf107-903e-417b-9c3b-0b17ad0e599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291"/>
    <a:srgbClr val="9933FF"/>
    <a:srgbClr val="0070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6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8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018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omments/modernComment_11E_8110663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93847DF-DB43-45CE-A484-C49ADDEF1CA0}" authorId="{15C06C61-55CC-1598-4B95-99902AB01CCD}" created="2026-05-02T09:51:37.025">
    <pc:sldMkLst xmlns:pc="http://schemas.microsoft.com/office/powerpoint/2013/main/command">
      <pc:docMk/>
      <pc:sldMk cId="2165335604" sldId="286"/>
    </pc:sldMkLst>
    <p188:replyLst>
      <p188:reply id="{20EE2DDF-85ED-41A4-B072-A88398DF681A}" authorId="{15C06C61-55CC-1598-4B95-99902AB01CCD}" created="2026-05-03T15:59:43.686">
        <p188:txBody>
          <a:bodyPr/>
          <a:lstStyle/>
          <a:p>
            <a:r>
              <a:rPr lang="it-IT"/>
              <a:t>We focus on different architectures, we will explain and build a fully connected network and also a convolutional network</a:t>
            </a:r>
          </a:p>
        </p188:txBody>
      </p188:reply>
    </p188:replyLst>
    <p188:txBody>
      <a:bodyPr/>
      <a:lstStyle/>
      <a:p>
        <a:r>
          <a:rPr lang="it-IT"/>
          <a:t>We are going to face classification problems
And we are using Deep learning frameworks, libraries. In particular we will use TensorFlow and Keras</a:t>
        </a:r>
      </a:p>
    </p188:txBody>
  </p188:cm>
  <p188:cm id="{698AB4DE-781E-4A8F-952B-F4C0A20EC3D1}" authorId="{15C06C61-55CC-1598-4B95-99902AB01CCD}" created="2026-05-03T15:57:58.636">
    <pc:sldMkLst xmlns:pc="http://schemas.microsoft.com/office/powerpoint/2013/main/command">
      <pc:docMk/>
      <pc:sldMk cId="2165335604" sldId="286"/>
    </pc:sldMkLst>
    <p188:txBody>
      <a:bodyPr/>
      <a:lstStyle/>
      <a:p>
        <a:r>
          <a:rPr lang="it-IT"/>
          <a:t>With this presentation we are going to see some theory, introduce some conepts, then we will have a practical session, an hands-on session, where we are going to do some coding, solve some problems</a:t>
        </a:r>
      </a:p>
    </p188:txBody>
  </p188:cm>
</p188:cmLst>
</file>

<file path=ppt/comments/modernComment_113_AD4CE24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3194EDC-A851-43A9-8E68-1D46ED99AA4F}" authorId="{15C06C61-55CC-1598-4B95-99902AB01CCD}" created="2026-05-02T09:53:35.206">
    <pc:sldMkLst xmlns:pc="http://schemas.microsoft.com/office/powerpoint/2013/main/command">
      <pc:docMk/>
      <pc:sldMk cId="2907497026" sldId="275"/>
    </pc:sldMkLst>
    <p188:txBody>
      <a:bodyPr/>
      <a:lstStyle/>
      <a:p>
        <a:r>
          <a:rPr lang="it-IT"/>
          <a:t>We start recalling what is a classification problem (binary classification).
You have studied this: when our model, our network learns how to classify things in 2 classes: DOGs vs CATs
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7CD44035-300B-447B-9181-A32114C7E2A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A83CD74-A933-442F-A790-73278BAD8D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0B36A5-C0C2-41F1-A466-125A3C9CFDA8}" type="datetimeFigureOut">
              <a:rPr lang="it-IT" smtClean="0"/>
              <a:t>05/05/2026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E6D842C-0951-41B6-9F93-0578E7E9DA2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7111836-C354-438B-A45D-704EEB8E35E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AB763B-6419-4F89-A3B8-528C1A209DF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8648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E2351F-C622-46DB-BDDE-413EE749618D}" type="datetimeFigureOut">
              <a:rPr lang="it-IT" noProof="0" smtClean="0"/>
              <a:t>05/05/2026</a:t>
            </a:fld>
            <a:endParaRPr lang="it-IT" noProof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 noProof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 noProof="0"/>
              <a:t>Modifica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 noProof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32D8D-7840-40ED-8A37-32DFC1B0C6CB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43172007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369A9-283D-DE13-4975-752F13D79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8D49F5B-590C-0F6E-110D-FB21B88CCB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A01D120-8E35-4E19-7E62-020426B13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9A6A66-40BF-BDE8-0E74-0DCD3F3FD8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14522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3333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921819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699C4-849E-3988-DE41-75F3EB187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697E9C0-8FBE-16BB-AE9B-0EC4EF9664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41AD2F8-24D1-A91B-7FBF-70FD27714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8684D11-AE9E-DA78-6B68-F16610C94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32D8D-7840-40ED-8A37-32DFC1B0C6CB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98874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8889" y="2873650"/>
            <a:ext cx="5494867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600000" lon="20399999" rev="2118000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9854620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itolo 61">
            <a:extLst>
              <a:ext uri="{FF2B5EF4-FFF2-40B4-BE49-F238E27FC236}">
                <a16:creationId xmlns:a16="http://schemas.microsoft.com/office/drawing/2014/main" id="{5D5F5A74-372F-4F1B-A8D6-C19F24AC9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177" y="3023292"/>
            <a:ext cx="5495544" cy="612648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1799953" rev="0"/>
            </a:camera>
            <a:lightRig rig="threePt" dir="t"/>
          </a:scene3d>
        </p:spPr>
        <p:txBody>
          <a:bodyPr rtlCol="0"/>
          <a:lstStyle>
            <a:lvl1pPr algn="ctr">
              <a:defRPr sz="34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45328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2" y="2869409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21000000" lon="600000" rev="0"/>
            </a:camera>
            <a:lightRig rig="threePt" dir="t"/>
          </a:scene3d>
        </p:spPr>
        <p:txBody>
          <a:bodyPr rtlCol="0" anchor="ctr"/>
          <a:lstStyle>
            <a:lvl1pPr algn="ctr">
              <a:defRPr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33816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zione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EF0041C-B704-4753-8B6B-6FB28159D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023" y="2997744"/>
            <a:ext cx="10515600" cy="1325563"/>
          </a:xfrm>
          <a:prstGeom prst="rect">
            <a:avLst/>
          </a:prstGeom>
          <a:effectLst>
            <a:outerShdw blurRad="50800" dist="38100" dir="5400000" algn="t" rotWithShape="0">
              <a:prstClr val="black"/>
            </a:outerShdw>
          </a:effectLst>
          <a:scene3d>
            <a:camera prst="orthographicFront">
              <a:rot lat="0" lon="21000000" rev="0"/>
            </a:camera>
            <a:lightRig rig="threePt" dir="t"/>
          </a:scene3d>
        </p:spPr>
        <p:txBody>
          <a:bodyPr rtlCol="0" anchor="ctr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rtl="0"/>
            <a:r>
              <a:rPr lang="it-IT" noProof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90790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73CF9A-D9A1-417A-7AFE-48551B938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FDEAB55-9FBD-2C18-5593-507945EBF0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5EAC928-CF06-062A-5544-D2F7A2B5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7C588-2F4A-40D9-9491-0BA83DB7170F}" type="datetimeFigureOut">
              <a:rPr lang="it-IT" smtClean="0"/>
              <a:t>05/05/2026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A1FDA44-EB4A-7DE0-A5DD-9EFBEEF90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E8FB7E-68EE-83F7-20B5-52001FE3F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A839FB-68DE-46CC-920D-87051E9D07C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85913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5/5/2026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‹N›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08288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4893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0" r:id="rId3"/>
    <p:sldLayoutId id="2147483653" r:id="rId4"/>
    <p:sldLayoutId id="2147483654" r:id="rId5"/>
    <p:sldLayoutId id="21474836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E_8110663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microsoft.com/office/2018/10/relationships/comments" Target="../comments/modernComment_113_AD4CE24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0.png"/><Relationship Id="rId10" Type="http://schemas.openxmlformats.org/officeDocument/2006/relationships/image" Target="../media/image3.jpg"/><Relationship Id="rId4" Type="http://schemas.openxmlformats.org/officeDocument/2006/relationships/image" Target="../media/image30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hyperlink" Target="https://link.springer.com/chapter/10.1007/978-3-031-45468-4_10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link.springer.com/chapter/10.1007/978-3-031-45468-4_10" TargetMode="Externa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datacamp.com/tutorial/pytorch-vs-tensorflow-vs-kera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kinsta.com/knowledgebase/what-is-github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code.visualstudio.com/docs/datascience/jupyter-notebook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www.marqo.ai/blog/getting-started-with-google-colab-a-beginners-guide" TargetMode="External"/><Relationship Id="rId5" Type="http://schemas.openxmlformats.org/officeDocument/2006/relationships/hyperlink" Target="https://colab.research.google.com/" TargetMode="External"/><Relationship Id="rId4" Type="http://schemas.openxmlformats.org/officeDocument/2006/relationships/hyperlink" Target="https://keras.io/" TargetMode="External"/><Relationship Id="rId9" Type="http://schemas.openxmlformats.org/officeDocument/2006/relationships/hyperlink" Target="https://github.com/Nemenick/FCA_DeepNeuralNework-with-TensorFlow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Nemenick/FCA_DeepNeuralNework-with-TensorFlow/blob/main/Deep_Convolutional_MNIST.ipynb" TargetMode="External"/><Relationship Id="rId2" Type="http://schemas.openxmlformats.org/officeDocument/2006/relationships/hyperlink" Target="https://colab.research.google.com/github/Nemenick/FCA_DeepNeuralNework-with-TensorFlow/blob/main/Deep_Dense_MNIST.ipynb#scrollTo=89374e46" TargetMode="Externa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E7434-CD6F-6516-A633-18C77E49E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2F950F4F-F2CE-FE43-76B4-742350D0A22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67520" y="1951240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288C8D8D-F76A-8CF3-A303-D8953460EC65}"/>
              </a:ext>
            </a:extLst>
          </p:cNvPr>
          <p:cNvSpPr txBox="1"/>
          <p:nvPr/>
        </p:nvSpPr>
        <p:spPr>
          <a:xfrm>
            <a:off x="0" y="54816"/>
            <a:ext cx="12191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With Python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0FFB108-C4D2-8D66-B9C5-D86A99BBD281}"/>
              </a:ext>
            </a:extLst>
          </p:cNvPr>
          <p:cNvSpPr txBox="1"/>
          <p:nvPr/>
        </p:nvSpPr>
        <p:spPr>
          <a:xfrm rot="5400000">
            <a:off x="3335209" y="3423889"/>
            <a:ext cx="57910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dirty="0"/>
              <a:t>____________________________________________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9431587E-3041-EBFD-DCBC-17A1FCB88E13}"/>
              </a:ext>
            </a:extLst>
          </p:cNvPr>
          <p:cNvSpPr/>
          <p:nvPr/>
        </p:nvSpPr>
        <p:spPr>
          <a:xfrm>
            <a:off x="7434027" y="1836327"/>
            <a:ext cx="3826440" cy="207527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AEBBD56D-F7CF-11DC-D17F-EDFAE99EE230}"/>
              </a:ext>
            </a:extLst>
          </p:cNvPr>
          <p:cNvSpPr txBox="1"/>
          <p:nvPr/>
        </p:nvSpPr>
        <p:spPr>
          <a:xfrm>
            <a:off x="6096000" y="939340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000" b="1" dirty="0">
                <a:latin typeface="Georgia" panose="02040502050405020303" pitchFamily="18" charset="0"/>
              </a:rPr>
              <a:t>Deep Learning frameworks (libraries)</a:t>
            </a:r>
          </a:p>
        </p:txBody>
      </p: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190B2BB0-90E4-8AB2-2F90-7AF12D0A2E98}"/>
              </a:ext>
            </a:extLst>
          </p:cNvPr>
          <p:cNvSpPr txBox="1"/>
          <p:nvPr/>
        </p:nvSpPr>
        <p:spPr>
          <a:xfrm>
            <a:off x="6265226" y="2152361"/>
            <a:ext cx="1164062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use </a:t>
            </a:r>
            <a:r>
              <a:rPr lang="it-IT" b="1" dirty="0" err="1">
                <a:latin typeface="Georgia" panose="02040502050405020303" pitchFamily="18" charset="0"/>
              </a:rPr>
              <a:t>these</a:t>
            </a:r>
            <a:endParaRPr lang="it-IT" b="1" dirty="0">
              <a:latin typeface="Georgia" panose="02040502050405020303" pitchFamily="18" charset="0"/>
            </a:endParaRPr>
          </a:p>
        </p:txBody>
      </p: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C57A360C-4E53-D839-0963-27C1DD5D8F71}"/>
              </a:ext>
            </a:extLst>
          </p:cNvPr>
          <p:cNvCxnSpPr>
            <a:cxnSpLocks/>
          </p:cNvCxnSpPr>
          <p:nvPr/>
        </p:nvCxnSpPr>
        <p:spPr>
          <a:xfrm>
            <a:off x="6415405" y="2890781"/>
            <a:ext cx="90455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0CF3AE69-AB9B-E096-FFD3-3CADE40BD4D8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218025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CBC35293-DFA5-4892-7C39-AA09F562459F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grpSp>
        <p:nvGrpSpPr>
          <p:cNvPr id="14" name="Gruppo 13">
            <a:extLst>
              <a:ext uri="{FF2B5EF4-FFF2-40B4-BE49-F238E27FC236}">
                <a16:creationId xmlns:a16="http://schemas.microsoft.com/office/drawing/2014/main" id="{81F7792E-5C8C-8C95-D7F7-103AB339690A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D6878D32-B521-A046-A11A-698CDE7B5A62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2A421B-2CF4-CDFE-43B8-F09612E86575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2C764700-49CF-9DC3-CC1E-A17FCFA6315E}"/>
                  </a:ext>
                </a:extLst>
              </p:cNvPr>
              <p:cNvCxnSpPr>
                <a:cxnSpLocks/>
                <a:stCxn id="26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CasellaDiTesto 25">
                <a:extLst>
                  <a:ext uri="{FF2B5EF4-FFF2-40B4-BE49-F238E27FC236}">
                    <a16:creationId xmlns:a16="http://schemas.microsoft.com/office/drawing/2014/main" id="{196C91DD-D34B-C4DE-931F-088555DAA235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60EDF4AB-715A-A67D-FCA1-F8A84AA749FD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48" name="Connettore a gomito 47">
                <a:extLst>
                  <a:ext uri="{FF2B5EF4-FFF2-40B4-BE49-F238E27FC236}">
                    <a16:creationId xmlns:a16="http://schemas.microsoft.com/office/drawing/2014/main" id="{7F77AA4D-E78C-A8D9-CED1-A7A665A5C1EB}"/>
                  </a:ext>
                </a:extLst>
              </p:cNvPr>
              <p:cNvCxnSpPr>
                <a:cxnSpLocks/>
                <a:stCxn id="52" idx="0"/>
                <a:endCxn id="27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2" name="CasellaDiTesto 51">
                <a:extLst>
                  <a:ext uri="{FF2B5EF4-FFF2-40B4-BE49-F238E27FC236}">
                    <a16:creationId xmlns:a16="http://schemas.microsoft.com/office/drawing/2014/main" id="{983E45FF-5A99-5ACB-CBF6-F6A770CBDF43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53" name="Connettore 2 52">
                <a:extLst>
                  <a:ext uri="{FF2B5EF4-FFF2-40B4-BE49-F238E27FC236}">
                    <a16:creationId xmlns:a16="http://schemas.microsoft.com/office/drawing/2014/main" id="{069C9089-38E6-1003-EC9E-AD8742A75876}"/>
                  </a:ext>
                </a:extLst>
              </p:cNvPr>
              <p:cNvCxnSpPr>
                <a:cxnSpLocks/>
                <a:stCxn id="54" idx="1"/>
                <a:endCxn id="52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4" name="CasellaDiTesto 53">
                <a:extLst>
                  <a:ext uri="{FF2B5EF4-FFF2-40B4-BE49-F238E27FC236}">
                    <a16:creationId xmlns:a16="http://schemas.microsoft.com/office/drawing/2014/main" id="{FA7072D1-618A-2817-8EF9-3129CD702646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55" name="Connettore 2 54">
                <a:extLst>
                  <a:ext uri="{FF2B5EF4-FFF2-40B4-BE49-F238E27FC236}">
                    <a16:creationId xmlns:a16="http://schemas.microsoft.com/office/drawing/2014/main" id="{4175B508-C705-8BC3-CF5E-F39EBFB48263}"/>
                  </a:ext>
                </a:extLst>
              </p:cNvPr>
              <p:cNvCxnSpPr>
                <a:cxnSpLocks/>
                <a:stCxn id="56" idx="2"/>
                <a:endCxn id="54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7729044-6870-9698-6136-25D2A33F635C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57" name="Connettore 2 56">
                <a:extLst>
                  <a:ext uri="{FF2B5EF4-FFF2-40B4-BE49-F238E27FC236}">
                    <a16:creationId xmlns:a16="http://schemas.microsoft.com/office/drawing/2014/main" id="{6AA6F820-ECD1-312B-BD78-4A59D9424CB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609A88BE-2562-478B-D5AE-5370A352AEAF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23" name="Immagine 22">
                <a:extLst>
                  <a:ext uri="{FF2B5EF4-FFF2-40B4-BE49-F238E27FC236}">
                    <a16:creationId xmlns:a16="http://schemas.microsoft.com/office/drawing/2014/main" id="{4E027B16-819D-4CA6-893F-9507C2D3C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24" name="CasellaDiTesto 23">
                <a:extLst>
                  <a:ext uri="{FF2B5EF4-FFF2-40B4-BE49-F238E27FC236}">
                    <a16:creationId xmlns:a16="http://schemas.microsoft.com/office/drawing/2014/main" id="{D0C99C2D-5F8E-2553-D864-66F3BD6B126B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E29FBA39-E0C9-60F1-111F-BB0E5CB62406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E7A8AB72-3453-661D-6F2C-1BF7C4F97DDD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20" name="Connettore 19">
              <a:extLst>
                <a:ext uri="{FF2B5EF4-FFF2-40B4-BE49-F238E27FC236}">
                  <a16:creationId xmlns:a16="http://schemas.microsoft.com/office/drawing/2014/main" id="{32FF715E-3A00-042E-FF41-9EB7AEDDC814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1" name="Connettore 20">
              <a:extLst>
                <a:ext uri="{FF2B5EF4-FFF2-40B4-BE49-F238E27FC236}">
                  <a16:creationId xmlns:a16="http://schemas.microsoft.com/office/drawing/2014/main" id="{BF61D03C-47F9-5E8B-4E7F-A40AB165DF9F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22" name="Connettore 21">
              <a:extLst>
                <a:ext uri="{FF2B5EF4-FFF2-40B4-BE49-F238E27FC236}">
                  <a16:creationId xmlns:a16="http://schemas.microsoft.com/office/drawing/2014/main" id="{91EBC036-7BAA-7AE0-5016-C9A4072F4BE1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</p:spTree>
    <p:extLst>
      <p:ext uri="{BB962C8B-B14F-4D97-AF65-F5344CB8AC3E}">
        <p14:creationId xmlns:p14="http://schemas.microsoft.com/office/powerpoint/2010/main" val="2165335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/>
      <p:bldP spid="47" grpId="0"/>
      <p:bldP spid="11" grpId="0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B4EBB-1970-3F90-E3D4-E0886E314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po 67">
            <a:extLst>
              <a:ext uri="{FF2B5EF4-FFF2-40B4-BE49-F238E27FC236}">
                <a16:creationId xmlns:a16="http://schemas.microsoft.com/office/drawing/2014/main" id="{C9DCD046-86C5-41A1-B31A-EC6681B8A06C}"/>
              </a:ext>
            </a:extLst>
          </p:cNvPr>
          <p:cNvGrpSpPr/>
          <p:nvPr/>
        </p:nvGrpSpPr>
        <p:grpSpPr>
          <a:xfrm>
            <a:off x="6698861" y="227156"/>
            <a:ext cx="5718240" cy="5962879"/>
            <a:chOff x="6409301" y="559663"/>
            <a:chExt cx="5718240" cy="5962879"/>
          </a:xfrm>
        </p:grpSpPr>
        <p:sp>
          <p:nvSpPr>
            <p:cNvPr id="3" name="CasellaDiTesto 2">
              <a:extLst>
                <a:ext uri="{FF2B5EF4-FFF2-40B4-BE49-F238E27FC236}">
                  <a16:creationId xmlns:a16="http://schemas.microsoft.com/office/drawing/2014/main" id="{FE030148-6D6A-ADCD-42FC-FF6844C36380}"/>
                </a:ext>
              </a:extLst>
            </p:cNvPr>
            <p:cNvSpPr txBox="1"/>
            <p:nvPr/>
          </p:nvSpPr>
          <p:spPr>
            <a:xfrm>
              <a:off x="6409301" y="559663"/>
              <a:ext cx="571824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Neural</a:t>
              </a:r>
              <a:r>
                <a:rPr lang="it-IT" sz="2000" b="1" dirty="0">
                  <a:latin typeface="Georgia" panose="02040502050405020303" pitchFamily="18" charset="0"/>
                </a:rPr>
                <a:t> Network</a:t>
              </a:r>
            </a:p>
          </p:txBody>
        </p:sp>
        <p:sp>
          <p:nvSpPr>
            <p:cNvPr id="6" name="CasellaDiTesto 5">
              <a:extLst>
                <a:ext uri="{FF2B5EF4-FFF2-40B4-BE49-F238E27FC236}">
                  <a16:creationId xmlns:a16="http://schemas.microsoft.com/office/drawing/2014/main" id="{9496BEB4-C560-E723-0782-3BAF4DA5B22E}"/>
                </a:ext>
              </a:extLst>
            </p:cNvPr>
            <p:cNvSpPr txBox="1"/>
            <p:nvPr/>
          </p:nvSpPr>
          <p:spPr>
            <a:xfrm>
              <a:off x="6615358" y="1090494"/>
              <a:ext cx="513978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dirty="0"/>
                <a:t>Building Block: </a:t>
              </a:r>
              <a:r>
                <a:rPr lang="it-IT" sz="2000" dirty="0" err="1"/>
                <a:t>Artificial</a:t>
              </a:r>
              <a:r>
                <a:rPr lang="it-IT" sz="2000" dirty="0"/>
                <a:t> </a:t>
              </a:r>
              <a:r>
                <a:rPr lang="it-IT" sz="2000" dirty="0" err="1"/>
                <a:t>neuron</a:t>
              </a:r>
              <a:endParaRPr lang="it-IT" sz="2000" dirty="0"/>
            </a:p>
            <a:p>
              <a:r>
                <a:rPr lang="it-IT" sz="2000" dirty="0"/>
                <a:t> </a:t>
              </a:r>
              <a:endParaRPr lang="it-IT" dirty="0"/>
            </a:p>
          </p:txBody>
        </p:sp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273A9266-8D2E-E4E8-50FE-06AB52DDC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51183" y="4989419"/>
              <a:ext cx="4063992" cy="1533123"/>
            </a:xfrm>
            <a:prstGeom prst="rect">
              <a:avLst/>
            </a:prstGeom>
          </p:spPr>
        </p:pic>
        <p:sp>
          <p:nvSpPr>
            <p:cNvPr id="5" name="CasellaDiTesto 4">
              <a:extLst>
                <a:ext uri="{FF2B5EF4-FFF2-40B4-BE49-F238E27FC236}">
                  <a16:creationId xmlns:a16="http://schemas.microsoft.com/office/drawing/2014/main" id="{C469406A-3889-9CA9-1924-1E469C71BCBF}"/>
                </a:ext>
              </a:extLst>
            </p:cNvPr>
            <p:cNvSpPr txBox="1"/>
            <p:nvPr/>
          </p:nvSpPr>
          <p:spPr>
            <a:xfrm>
              <a:off x="6478531" y="4498946"/>
              <a:ext cx="424713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2000" b="1" dirty="0"/>
                <a:t> Deep Network</a:t>
              </a:r>
              <a:endParaRPr lang="it-IT" b="1" dirty="0"/>
            </a:p>
          </p:txBody>
        </p:sp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FF3D38E5-6F84-3709-A958-CCF2AEA90399}"/>
                </a:ext>
              </a:extLst>
            </p:cNvPr>
            <p:cNvGrpSpPr/>
            <p:nvPr/>
          </p:nvGrpSpPr>
          <p:grpSpPr>
            <a:xfrm>
              <a:off x="6478531" y="1327805"/>
              <a:ext cx="5118166" cy="2690090"/>
              <a:chOff x="1312016" y="1502092"/>
              <a:chExt cx="8095807" cy="2690090"/>
            </a:xfrm>
          </p:grpSpPr>
          <p:sp>
            <p:nvSpPr>
              <p:cNvPr id="14" name="CasellaDiTesto 13">
                <a:extLst>
                  <a:ext uri="{FF2B5EF4-FFF2-40B4-BE49-F238E27FC236}">
                    <a16:creationId xmlns:a16="http://schemas.microsoft.com/office/drawing/2014/main" id="{605ABA3C-813D-3BFE-C092-1586CC102C69}"/>
                  </a:ext>
                </a:extLst>
              </p:cNvPr>
              <p:cNvSpPr txBox="1"/>
              <p:nvPr/>
            </p:nvSpPr>
            <p:spPr>
              <a:xfrm>
                <a:off x="1908699" y="1606859"/>
                <a:ext cx="284086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 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/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6" name="CasellaDiTesto 15">
                    <a:extLst>
                      <a:ext uri="{FF2B5EF4-FFF2-40B4-BE49-F238E27FC236}">
                        <a16:creationId xmlns:a16="http://schemas.microsoft.com/office/drawing/2014/main" id="{5B0D4B69-9ED3-C0CD-1D39-688997213A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36054" y="1502092"/>
                    <a:ext cx="48866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8000" t="-8197" r="-34000" b="-24590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/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dirty="0"/>
                      <a:t>.</a:t>
                    </a:r>
                  </a:p>
                  <a:p>
                    <a:pPr algn="ctr"/>
                    <a:r>
                      <a:rPr lang="it-IT" b="0" dirty="0"/>
                      <a:t>x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a14:m>
                    <a:endParaRPr lang="it-IT" b="0" i="1" dirty="0"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9" name="CasellaDiTesto 18">
                    <a:extLst>
                      <a:ext uri="{FF2B5EF4-FFF2-40B4-BE49-F238E27FC236}">
                        <a16:creationId xmlns:a16="http://schemas.microsoft.com/office/drawing/2014/main" id="{1678A483-78CC-3604-8A96-6D8BA9A3AE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12016" y="1791525"/>
                    <a:ext cx="747900" cy="230832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256" t="-1587" b="-3439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Ovale 19">
                <a:extLst>
                  <a:ext uri="{FF2B5EF4-FFF2-40B4-BE49-F238E27FC236}">
                    <a16:creationId xmlns:a16="http://schemas.microsoft.com/office/drawing/2014/main" id="{7E450ABC-7FD8-31CE-1AD0-71DAFBBA6E2C}"/>
                  </a:ext>
                </a:extLst>
              </p:cNvPr>
              <p:cNvSpPr/>
              <p:nvPr/>
            </p:nvSpPr>
            <p:spPr>
              <a:xfrm>
                <a:off x="5272514" y="2175597"/>
                <a:ext cx="2262461" cy="140267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p:cxnSp>
            <p:nvCxnSpPr>
              <p:cNvPr id="22" name="Connettore diritto 21">
                <a:extLst>
                  <a:ext uri="{FF2B5EF4-FFF2-40B4-BE49-F238E27FC236}">
                    <a16:creationId xmlns:a16="http://schemas.microsoft.com/office/drawing/2014/main" id="{72103AF5-76AE-DAC4-DC81-0AD98987CEA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1791346"/>
                <a:ext cx="3032669" cy="106692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Connettore diritto 22">
                <a:extLst>
                  <a:ext uri="{FF2B5EF4-FFF2-40B4-BE49-F238E27FC236}">
                    <a16:creationId xmlns:a16="http://schemas.microsoft.com/office/drawing/2014/main" id="{0A87D6BD-0349-3FE8-CC20-B5354D58E07C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086680"/>
                <a:ext cx="3032669" cy="77158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Connettore diritto 23">
                <a:extLst>
                  <a:ext uri="{FF2B5EF4-FFF2-40B4-BE49-F238E27FC236}">
                    <a16:creationId xmlns:a16="http://schemas.microsoft.com/office/drawing/2014/main" id="{2C974A64-8065-A710-F312-23B4D26F7224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338140"/>
                <a:ext cx="3032669" cy="52012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Connettore diritto 24">
                <a:extLst>
                  <a:ext uri="{FF2B5EF4-FFF2-40B4-BE49-F238E27FC236}">
                    <a16:creationId xmlns:a16="http://schemas.microsoft.com/office/drawing/2014/main" id="{ABAB69E0-C38F-5180-5801-638A8A27CF2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79800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ttore diritto 29">
                <a:extLst>
                  <a:ext uri="{FF2B5EF4-FFF2-40B4-BE49-F238E27FC236}">
                    <a16:creationId xmlns:a16="http://schemas.microsoft.com/office/drawing/2014/main" id="{B1A47C49-F6D0-01B1-45F8-9A94BD5F7A69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601384"/>
                <a:ext cx="3032669" cy="2568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Connettore diritto 38">
                <a:extLst>
                  <a:ext uri="{FF2B5EF4-FFF2-40B4-BE49-F238E27FC236}">
                    <a16:creationId xmlns:a16="http://schemas.microsoft.com/office/drawing/2014/main" id="{D78C2195-0336-D107-A487-EB32633ECB3E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11029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Connettore diritto 39">
                <a:extLst>
                  <a:ext uri="{FF2B5EF4-FFF2-40B4-BE49-F238E27FC236}">
                    <a16:creationId xmlns:a16="http://schemas.microsoft.com/office/drawing/2014/main" id="{5555590D-8028-09AF-C11F-55FE6BE7ECB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315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Connettore diritto 40">
                <a:extLst>
                  <a:ext uri="{FF2B5EF4-FFF2-40B4-BE49-F238E27FC236}">
                    <a16:creationId xmlns:a16="http://schemas.microsoft.com/office/drawing/2014/main" id="{E0FC92E4-B947-6B6A-B509-4A12F28AE655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>
                <a:off x="2192785" y="2858268"/>
                <a:ext cx="303266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Connettore diritto 41">
                <a:extLst>
                  <a:ext uri="{FF2B5EF4-FFF2-40B4-BE49-F238E27FC236}">
                    <a16:creationId xmlns:a16="http://schemas.microsoft.com/office/drawing/2014/main" id="{C8E8630A-9E01-AF8A-4045-F8914323E400}"/>
                  </a:ext>
                </a:extLst>
              </p:cNvPr>
              <p:cNvCxnSpPr>
                <a:cxnSpLocks/>
                <a:endCxn id="44" idx="1"/>
              </p:cNvCxnSpPr>
              <p:nvPr/>
            </p:nvCxnSpPr>
            <p:spPr>
              <a:xfrm flipV="1">
                <a:off x="2192785" y="2858268"/>
                <a:ext cx="3032669" cy="56953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/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3" name="CasellaDiTesto 42">
                    <a:extLst>
                      <a:ext uri="{FF2B5EF4-FFF2-40B4-BE49-F238E27FC236}">
                        <a16:creationId xmlns:a16="http://schemas.microsoft.com/office/drawing/2014/main" id="{3AC485B2-E569-3160-6367-83120B334F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64048" y="1898485"/>
                    <a:ext cx="768185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/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𝝈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a:rPr lang="it-IT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4" name="CasellaDiTesto 43">
                    <a:extLst>
                      <a:ext uri="{FF2B5EF4-FFF2-40B4-BE49-F238E27FC236}">
                        <a16:creationId xmlns:a16="http://schemas.microsoft.com/office/drawing/2014/main" id="{8D772B6D-C09F-2308-94E0-F0DDEB84DA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25454" y="2673602"/>
                    <a:ext cx="226246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5" name="Connettore diritto 44">
                <a:extLst>
                  <a:ext uri="{FF2B5EF4-FFF2-40B4-BE49-F238E27FC236}">
                    <a16:creationId xmlns:a16="http://schemas.microsoft.com/office/drawing/2014/main" id="{C1C4D96B-B0D0-4681-FE48-18AA889523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84341" y="2858268"/>
                <a:ext cx="395536" cy="311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CasellaDiTesto 45">
                <a:extLst>
                  <a:ext uri="{FF2B5EF4-FFF2-40B4-BE49-F238E27FC236}">
                    <a16:creationId xmlns:a16="http://schemas.microsoft.com/office/drawing/2014/main" id="{2B4948DF-D3D7-99D9-F60C-E5012CB31D8B}"/>
                  </a:ext>
                </a:extLst>
              </p:cNvPr>
              <p:cNvSpPr txBox="1"/>
              <p:nvPr/>
            </p:nvSpPr>
            <p:spPr>
              <a:xfrm>
                <a:off x="7948270" y="2673602"/>
                <a:ext cx="145955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Output</a:t>
                </a:r>
              </a:p>
            </p:txBody>
          </p:sp>
        </p:grpSp>
      </p:grpSp>
      <p:grpSp>
        <p:nvGrpSpPr>
          <p:cNvPr id="7" name="Gruppo 6">
            <a:extLst>
              <a:ext uri="{FF2B5EF4-FFF2-40B4-BE49-F238E27FC236}">
                <a16:creationId xmlns:a16="http://schemas.microsoft.com/office/drawing/2014/main" id="{D536AC0D-D054-EA72-55AE-0F291F8EA631}"/>
              </a:ext>
            </a:extLst>
          </p:cNvPr>
          <p:cNvGrpSpPr/>
          <p:nvPr/>
        </p:nvGrpSpPr>
        <p:grpSpPr>
          <a:xfrm>
            <a:off x="-55880" y="934720"/>
            <a:ext cx="5608320" cy="5495932"/>
            <a:chOff x="-670560" y="716536"/>
            <a:chExt cx="6096000" cy="5976200"/>
          </a:xfrm>
        </p:grpSpPr>
        <p:sp>
          <p:nvSpPr>
            <p:cNvPr id="47" name="CasellaDiTesto 46">
              <a:extLst>
                <a:ext uri="{FF2B5EF4-FFF2-40B4-BE49-F238E27FC236}">
                  <a16:creationId xmlns:a16="http://schemas.microsoft.com/office/drawing/2014/main" id="{5A7F4A92-7190-E011-4962-395C4244FA2D}"/>
                </a:ext>
              </a:extLst>
            </p:cNvPr>
            <p:cNvSpPr txBox="1"/>
            <p:nvPr/>
          </p:nvSpPr>
          <p:spPr>
            <a:xfrm>
              <a:off x="-670560" y="716536"/>
              <a:ext cx="60960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sz="2000" b="1" dirty="0" err="1">
                  <a:latin typeface="Georgia" panose="02040502050405020303" pitchFamily="18" charset="0"/>
                </a:rPr>
                <a:t>Classification</a:t>
              </a:r>
              <a:r>
                <a:rPr lang="it-IT" sz="2000" b="1" dirty="0">
                  <a:latin typeface="Georgia" panose="02040502050405020303" pitchFamily="18" charset="0"/>
                </a:rPr>
                <a:t> </a:t>
              </a:r>
              <a:r>
                <a:rPr lang="it-IT" sz="2000" b="1" dirty="0" err="1">
                  <a:latin typeface="Georgia" panose="02040502050405020303" pitchFamily="18" charset="0"/>
                </a:rPr>
                <a:t>problem</a:t>
              </a:r>
              <a:endParaRPr lang="it-IT" sz="2000" b="1" dirty="0">
                <a:latin typeface="Georgia" panose="02040502050405020303" pitchFamily="18" charset="0"/>
              </a:endParaRPr>
            </a:p>
          </p:txBody>
        </p:sp>
        <p:grpSp>
          <p:nvGrpSpPr>
            <p:cNvPr id="48" name="Gruppo 47">
              <a:extLst>
                <a:ext uri="{FF2B5EF4-FFF2-40B4-BE49-F238E27FC236}">
                  <a16:creationId xmlns:a16="http://schemas.microsoft.com/office/drawing/2014/main" id="{595EE218-BE47-CF2F-83B1-CFD885B4A482}"/>
                </a:ext>
              </a:extLst>
            </p:cNvPr>
            <p:cNvGrpSpPr/>
            <p:nvPr/>
          </p:nvGrpSpPr>
          <p:grpSpPr>
            <a:xfrm>
              <a:off x="265385" y="1310221"/>
              <a:ext cx="4499764" cy="1035066"/>
              <a:chOff x="7634679" y="1286349"/>
              <a:chExt cx="4499764" cy="1035066"/>
            </a:xfrm>
          </p:grpSpPr>
          <p:cxnSp>
            <p:nvCxnSpPr>
              <p:cNvPr id="63" name="Connettore diritto 62">
                <a:extLst>
                  <a:ext uri="{FF2B5EF4-FFF2-40B4-BE49-F238E27FC236}">
                    <a16:creationId xmlns:a16="http://schemas.microsoft.com/office/drawing/2014/main" id="{AA9EAFB7-0BBB-C9B6-85DA-42B9E3474EA9}"/>
                  </a:ext>
                </a:extLst>
              </p:cNvPr>
              <p:cNvCxnSpPr>
                <a:cxnSpLocks/>
                <a:stCxn id="57" idx="3"/>
              </p:cNvCxnSpPr>
              <p:nvPr/>
            </p:nvCxnSpPr>
            <p:spPr>
              <a:xfrm>
                <a:off x="8368104" y="1487153"/>
                <a:ext cx="470304" cy="0"/>
              </a:xfrm>
              <a:prstGeom prst="line">
                <a:avLst/>
              </a:pr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CasellaDiTesto 56">
                <a:extLst>
                  <a:ext uri="{FF2B5EF4-FFF2-40B4-BE49-F238E27FC236}">
                    <a16:creationId xmlns:a16="http://schemas.microsoft.com/office/drawing/2014/main" id="{F9AF884A-88F8-D689-0BD5-448D04650458}"/>
                  </a:ext>
                </a:extLst>
              </p:cNvPr>
              <p:cNvSpPr txBox="1"/>
              <p:nvPr/>
            </p:nvSpPr>
            <p:spPr>
              <a:xfrm>
                <a:off x="7634679" y="1286349"/>
                <a:ext cx="733425" cy="401607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it-IT" dirty="0"/>
                  <a:t>Data</a:t>
                </a:r>
              </a:p>
            </p:txBody>
          </p:sp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C8F6A963-CCA2-0DDA-F820-DFD2A30FA390}"/>
                  </a:ext>
                </a:extLst>
              </p:cNvPr>
              <p:cNvSpPr txBox="1"/>
              <p:nvPr/>
            </p:nvSpPr>
            <p:spPr>
              <a:xfrm>
                <a:off x="8884935" y="1287591"/>
                <a:ext cx="1386174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 err="1"/>
                  <a:t>Predctions</a:t>
                </a:r>
                <a:endParaRPr lang="it-IT" sz="300" dirty="0"/>
              </a:p>
            </p:txBody>
          </p:sp>
          <p:cxnSp>
            <p:nvCxnSpPr>
              <p:cNvPr id="64" name="Connettore a gomito 63">
                <a:extLst>
                  <a:ext uri="{FF2B5EF4-FFF2-40B4-BE49-F238E27FC236}">
                    <a16:creationId xmlns:a16="http://schemas.microsoft.com/office/drawing/2014/main" id="{290A9F94-ECCA-860C-0A9C-CA94E5612A82}"/>
                  </a:ext>
                </a:extLst>
              </p:cNvPr>
              <p:cNvCxnSpPr>
                <a:cxnSpLocks/>
                <a:stCxn id="58" idx="0"/>
                <a:endCxn id="65" idx="1"/>
              </p:cNvCxnSpPr>
              <p:nvPr/>
            </p:nvCxnSpPr>
            <p:spPr>
              <a:xfrm rot="16200000" flipV="1">
                <a:off x="8671409" y="1701922"/>
                <a:ext cx="431415" cy="4361"/>
              </a:xfrm>
              <a:prstGeom prst="bentConnector4">
                <a:avLst>
                  <a:gd name="adj1" fmla="val 26727"/>
                  <a:gd name="adj2" fmla="val 7158574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8" name="CasellaDiTesto 57">
                <a:extLst>
                  <a:ext uri="{FF2B5EF4-FFF2-40B4-BE49-F238E27FC236}">
                    <a16:creationId xmlns:a16="http://schemas.microsoft.com/office/drawing/2014/main" id="{2476D4A3-6F16-2F5A-50AE-C5F372975D21}"/>
                  </a:ext>
                </a:extLst>
              </p:cNvPr>
              <p:cNvSpPr txBox="1"/>
              <p:nvPr/>
            </p:nvSpPr>
            <p:spPr>
              <a:xfrm>
                <a:off x="8334164" y="1919809"/>
                <a:ext cx="1110265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  <a:endParaRPr lang="it-IT" sz="300" dirty="0"/>
              </a:p>
            </p:txBody>
          </p:sp>
          <p:cxnSp>
            <p:nvCxnSpPr>
              <p:cNvPr id="62" name="Connettore 2 61">
                <a:extLst>
                  <a:ext uri="{FF2B5EF4-FFF2-40B4-BE49-F238E27FC236}">
                    <a16:creationId xmlns:a16="http://schemas.microsoft.com/office/drawing/2014/main" id="{E97C7130-3397-008C-41AA-C34D3410F773}"/>
                  </a:ext>
                </a:extLst>
              </p:cNvPr>
              <p:cNvCxnSpPr>
                <a:cxnSpLocks/>
                <a:stCxn id="60" idx="1"/>
                <a:endCxn id="58" idx="3"/>
              </p:cNvCxnSpPr>
              <p:nvPr/>
            </p:nvCxnSpPr>
            <p:spPr>
              <a:xfrm flipH="1">
                <a:off x="9444429" y="2120436"/>
                <a:ext cx="652233" cy="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CasellaDiTesto 59">
                <a:extLst>
                  <a:ext uri="{FF2B5EF4-FFF2-40B4-BE49-F238E27FC236}">
                    <a16:creationId xmlns:a16="http://schemas.microsoft.com/office/drawing/2014/main" id="{500DA8AB-ACB6-B0FE-7EFB-70DAD0A94F70}"/>
                  </a:ext>
                </a:extLst>
              </p:cNvPr>
              <p:cNvSpPr txBox="1"/>
              <p:nvPr/>
            </p:nvSpPr>
            <p:spPr>
              <a:xfrm>
                <a:off x="10096662" y="1919632"/>
                <a:ext cx="2037781" cy="401606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Weight update</a:t>
                </a:r>
                <a:endParaRPr lang="it-IT" sz="300" dirty="0"/>
              </a:p>
            </p:txBody>
          </p:sp>
          <p:cxnSp>
            <p:nvCxnSpPr>
              <p:cNvPr id="61" name="Connettore 2 60">
                <a:extLst>
                  <a:ext uri="{FF2B5EF4-FFF2-40B4-BE49-F238E27FC236}">
                    <a16:creationId xmlns:a16="http://schemas.microsoft.com/office/drawing/2014/main" id="{383354E9-4F99-DB84-658D-F2F7C93F3D42}"/>
                  </a:ext>
                </a:extLst>
              </p:cNvPr>
              <p:cNvCxnSpPr>
                <a:cxnSpLocks/>
                <a:stCxn id="59" idx="2"/>
                <a:endCxn id="60" idx="0"/>
              </p:cNvCxnSpPr>
              <p:nvPr/>
            </p:nvCxnSpPr>
            <p:spPr>
              <a:xfrm>
                <a:off x="11110247" y="1676396"/>
                <a:ext cx="5305" cy="24323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8BFCCE2B-4D0E-10BE-481F-2D76DAFC419D}"/>
                  </a:ext>
                </a:extLst>
              </p:cNvPr>
              <p:cNvSpPr txBox="1"/>
              <p:nvPr/>
            </p:nvSpPr>
            <p:spPr>
              <a:xfrm>
                <a:off x="10555115" y="1307064"/>
                <a:ext cx="1110265" cy="369332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Loss</a:t>
                </a:r>
                <a:endParaRPr lang="it-IT" sz="300" dirty="0"/>
              </a:p>
            </p:txBody>
          </p:sp>
          <p:cxnSp>
            <p:nvCxnSpPr>
              <p:cNvPr id="66" name="Connettore 2 65">
                <a:extLst>
                  <a:ext uri="{FF2B5EF4-FFF2-40B4-BE49-F238E27FC236}">
                    <a16:creationId xmlns:a16="http://schemas.microsoft.com/office/drawing/2014/main" id="{F5026356-495E-D3DC-E52A-80BFD929819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88953" y="1491730"/>
                <a:ext cx="251667" cy="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49" name="Gruppo 48">
              <a:extLst>
                <a:ext uri="{FF2B5EF4-FFF2-40B4-BE49-F238E27FC236}">
                  <a16:creationId xmlns:a16="http://schemas.microsoft.com/office/drawing/2014/main" id="{6FA0CFBF-91EF-0254-9D0E-434224304009}"/>
                </a:ext>
              </a:extLst>
            </p:cNvPr>
            <p:cNvGrpSpPr/>
            <p:nvPr/>
          </p:nvGrpSpPr>
          <p:grpSpPr>
            <a:xfrm>
              <a:off x="998809" y="2743393"/>
              <a:ext cx="2910402" cy="1523494"/>
              <a:chOff x="7896635" y="2414817"/>
              <a:chExt cx="2910402" cy="1523494"/>
            </a:xfrm>
          </p:grpSpPr>
          <p:pic>
            <p:nvPicPr>
              <p:cNvPr id="55" name="Immagine 54">
                <a:extLst>
                  <a:ext uri="{FF2B5EF4-FFF2-40B4-BE49-F238E27FC236}">
                    <a16:creationId xmlns:a16="http://schemas.microsoft.com/office/drawing/2014/main" id="{1559AD73-F733-8B6D-A62D-0086750EED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010758" y="2768009"/>
                <a:ext cx="2796279" cy="1054884"/>
              </a:xfrm>
              <a:prstGeom prst="rect">
                <a:avLst/>
              </a:prstGeom>
            </p:spPr>
          </p:pic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F5B11C6A-B51A-47C5-614F-C0331F22C091}"/>
                  </a:ext>
                </a:extLst>
              </p:cNvPr>
              <p:cNvSpPr txBox="1"/>
              <p:nvPr/>
            </p:nvSpPr>
            <p:spPr>
              <a:xfrm>
                <a:off x="7896635" y="2414817"/>
                <a:ext cx="2910401" cy="1523494"/>
              </a:xfrm>
              <a:prstGeom prst="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wrap="square" anchor="ctr">
                <a:spAutoFit/>
              </a:bodyPr>
              <a:lstStyle/>
              <a:p>
                <a:pPr algn="ctr"/>
                <a:r>
                  <a:rPr lang="it-IT" dirty="0"/>
                  <a:t>Model</a:t>
                </a:r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  <a:p>
                <a:pPr algn="ctr"/>
                <a:endParaRPr lang="it-IT" sz="300" dirty="0"/>
              </a:p>
            </p:txBody>
          </p:sp>
        </p:grpSp>
        <p:sp>
          <p:nvSpPr>
            <p:cNvPr id="50" name="CasellaDiTesto 49">
              <a:extLst>
                <a:ext uri="{FF2B5EF4-FFF2-40B4-BE49-F238E27FC236}">
                  <a16:creationId xmlns:a16="http://schemas.microsoft.com/office/drawing/2014/main" id="{F6EAA02B-8976-5F39-ADAE-9CD97B503B94}"/>
                </a:ext>
              </a:extLst>
            </p:cNvPr>
            <p:cNvSpPr txBox="1"/>
            <p:nvPr/>
          </p:nvSpPr>
          <p:spPr>
            <a:xfrm>
              <a:off x="998810" y="4585024"/>
              <a:ext cx="2910400" cy="903615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>
                  <a:solidFill>
                    <a:schemeClr val="tx1"/>
                  </a:solidFill>
                </a:rPr>
                <a:t>Loss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r>
                <a:rPr lang="it-IT" dirty="0">
                  <a:solidFill>
                    <a:schemeClr val="tx1"/>
                  </a:solidFill>
                </a:rPr>
                <a:t>(</a:t>
              </a:r>
              <a:r>
                <a:rPr lang="it-IT" dirty="0" err="1">
                  <a:solidFill>
                    <a:schemeClr val="tx1"/>
                  </a:solidFill>
                </a:rPr>
                <a:t>Binary</a:t>
              </a:r>
              <a:r>
                <a:rPr lang="it-IT" dirty="0">
                  <a:solidFill>
                    <a:schemeClr val="tx1"/>
                  </a:solidFill>
                </a:rPr>
                <a:t>) </a:t>
              </a:r>
              <a:r>
                <a:rPr lang="it-IT" b="1" dirty="0">
                  <a:solidFill>
                    <a:schemeClr val="tx1"/>
                  </a:solidFill>
                </a:rPr>
                <a:t>Cross </a:t>
              </a:r>
              <a:r>
                <a:rPr lang="it-IT" b="1" dirty="0" err="1">
                  <a:solidFill>
                    <a:schemeClr val="tx1"/>
                  </a:solidFill>
                </a:rPr>
                <a:t>Entropy</a:t>
              </a:r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  <a:p>
              <a:pPr algn="ctr"/>
              <a:endParaRPr lang="it-IT" sz="300" dirty="0">
                <a:solidFill>
                  <a:schemeClr val="tx1"/>
                </a:solidFill>
              </a:endParaRPr>
            </a:p>
          </p:txBody>
        </p:sp>
        <p:sp>
          <p:nvSpPr>
            <p:cNvPr id="51" name="CasellaDiTesto 50">
              <a:extLst>
                <a:ext uri="{FF2B5EF4-FFF2-40B4-BE49-F238E27FC236}">
                  <a16:creationId xmlns:a16="http://schemas.microsoft.com/office/drawing/2014/main" id="{0C135384-0327-4CB6-D286-695F1D4C9529}"/>
                </a:ext>
              </a:extLst>
            </p:cNvPr>
            <p:cNvSpPr txBox="1"/>
            <p:nvPr/>
          </p:nvSpPr>
          <p:spPr>
            <a:xfrm>
              <a:off x="1020254" y="5889523"/>
              <a:ext cx="2910399" cy="803213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Weights update</a:t>
              </a:r>
              <a:endParaRPr lang="it-IT" sz="800" dirty="0">
                <a:solidFill>
                  <a:schemeClr val="tx1"/>
                </a:solidFill>
              </a:endParaRPr>
            </a:p>
            <a:p>
              <a:pPr algn="ctr"/>
              <a:r>
                <a:rPr lang="it-IT" b="1" dirty="0" err="1"/>
                <a:t>Gradient</a:t>
              </a:r>
              <a:r>
                <a:rPr lang="it-IT" b="1" dirty="0"/>
                <a:t> </a:t>
              </a:r>
              <a:r>
                <a:rPr lang="it-IT" b="1" dirty="0" err="1"/>
                <a:t>descent</a:t>
              </a:r>
              <a:endParaRPr lang="it-IT" sz="300" dirty="0"/>
            </a:p>
            <a:p>
              <a:pPr algn="ctr"/>
              <a:endParaRPr lang="it-IT" sz="300" dirty="0"/>
            </a:p>
            <a:p>
              <a:pPr algn="ctr"/>
              <a:endParaRPr lang="it-IT" sz="300" dirty="0"/>
            </a:p>
          </p:txBody>
        </p:sp>
        <p:sp>
          <p:nvSpPr>
            <p:cNvPr id="52" name="Connettore 51">
              <a:extLst>
                <a:ext uri="{FF2B5EF4-FFF2-40B4-BE49-F238E27FC236}">
                  <a16:creationId xmlns:a16="http://schemas.microsoft.com/office/drawing/2014/main" id="{F62C3643-7E5A-BA30-45D3-4C3CD8B3B971}"/>
                </a:ext>
              </a:extLst>
            </p:cNvPr>
            <p:cNvSpPr/>
            <p:nvPr/>
          </p:nvSpPr>
          <p:spPr>
            <a:xfrm>
              <a:off x="308097" y="3415139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3" name="Connettore 52">
              <a:extLst>
                <a:ext uri="{FF2B5EF4-FFF2-40B4-BE49-F238E27FC236}">
                  <a16:creationId xmlns:a16="http://schemas.microsoft.com/office/drawing/2014/main" id="{2943C7D2-FDA6-664A-E365-0F0149D16B11}"/>
                </a:ext>
              </a:extLst>
            </p:cNvPr>
            <p:cNvSpPr/>
            <p:nvPr/>
          </p:nvSpPr>
          <p:spPr>
            <a:xfrm>
              <a:off x="308097" y="4946832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onnettore 53">
              <a:extLst>
                <a:ext uri="{FF2B5EF4-FFF2-40B4-BE49-F238E27FC236}">
                  <a16:creationId xmlns:a16="http://schemas.microsoft.com/office/drawing/2014/main" id="{C4F76603-0B3B-081F-BD5C-C317C2AF0C28}"/>
                </a:ext>
              </a:extLst>
            </p:cNvPr>
            <p:cNvSpPr/>
            <p:nvPr/>
          </p:nvSpPr>
          <p:spPr>
            <a:xfrm>
              <a:off x="308097" y="6135217"/>
              <a:ext cx="180000" cy="180000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cxnSp>
        <p:nvCxnSpPr>
          <p:cNvPr id="71" name="Connettore 2 70">
            <a:extLst>
              <a:ext uri="{FF2B5EF4-FFF2-40B4-BE49-F238E27FC236}">
                <a16:creationId xmlns:a16="http://schemas.microsoft.com/office/drawing/2014/main" id="{8F7EA040-29C2-6FC1-696C-FF767C854B4A}"/>
              </a:ext>
            </a:extLst>
          </p:cNvPr>
          <p:cNvCxnSpPr>
            <a:cxnSpLocks/>
          </p:cNvCxnSpPr>
          <p:nvPr/>
        </p:nvCxnSpPr>
        <p:spPr>
          <a:xfrm>
            <a:off x="6821792" y="6270529"/>
            <a:ext cx="4560455" cy="0"/>
          </a:xfrm>
          <a:prstGeom prst="straightConnector1">
            <a:avLst/>
          </a:prstGeom>
          <a:ln w="57150">
            <a:solidFill>
              <a:srgbClr val="1F429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3AE772B0-9CA5-EAF2-9217-2D1901A7C108}"/>
              </a:ext>
            </a:extLst>
          </p:cNvPr>
          <p:cNvSpPr txBox="1"/>
          <p:nvPr/>
        </p:nvSpPr>
        <p:spPr>
          <a:xfrm>
            <a:off x="6304392" y="4774754"/>
            <a:ext cx="922729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Input</a:t>
            </a:r>
          </a:p>
        </p:txBody>
      </p:sp>
      <p:sp>
        <p:nvSpPr>
          <p:cNvPr id="75" name="CasellaDiTesto 74">
            <a:extLst>
              <a:ext uri="{FF2B5EF4-FFF2-40B4-BE49-F238E27FC236}">
                <a16:creationId xmlns:a16="http://schemas.microsoft.com/office/drawing/2014/main" id="{8FE5EC83-82A4-B003-1BEA-316B4DDF561D}"/>
              </a:ext>
            </a:extLst>
          </p:cNvPr>
          <p:cNvSpPr txBox="1"/>
          <p:nvPr/>
        </p:nvSpPr>
        <p:spPr>
          <a:xfrm>
            <a:off x="11015221" y="4748468"/>
            <a:ext cx="1070026" cy="369332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Output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A045DFFB-B3A4-EC0F-1F32-E34184F6BD79}"/>
              </a:ext>
            </a:extLst>
          </p:cNvPr>
          <p:cNvSpPr txBox="1"/>
          <p:nvPr/>
        </p:nvSpPr>
        <p:spPr>
          <a:xfrm>
            <a:off x="8065385" y="6378404"/>
            <a:ext cx="2061779" cy="369332"/>
          </a:xfrm>
          <a:prstGeom prst="rect">
            <a:avLst/>
          </a:prstGeom>
          <a:noFill/>
          <a:ln w="38100">
            <a:solidFill>
              <a:srgbClr val="9933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>
                <a:latin typeface="Georgia" panose="02040502050405020303" pitchFamily="18" charset="0"/>
              </a:rPr>
              <a:t>Feed Forward</a:t>
            </a:r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62DED563-755D-B8B6-8845-2D5DA47BE189}"/>
              </a:ext>
            </a:extLst>
          </p:cNvPr>
          <p:cNvCxnSpPr>
            <a:cxnSpLocks/>
          </p:cNvCxnSpPr>
          <p:nvPr/>
        </p:nvCxnSpPr>
        <p:spPr>
          <a:xfrm flipH="1">
            <a:off x="4453276" y="3400184"/>
            <a:ext cx="1642724" cy="0"/>
          </a:xfrm>
          <a:prstGeom prst="straightConnector1">
            <a:avLst/>
          </a:prstGeom>
          <a:ln w="28575">
            <a:solidFill>
              <a:srgbClr val="9933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asellaDiTesto 25">
            <a:extLst>
              <a:ext uri="{FF2B5EF4-FFF2-40B4-BE49-F238E27FC236}">
                <a16:creationId xmlns:a16="http://schemas.microsoft.com/office/drawing/2014/main" id="{3A874714-C004-1A2C-7760-0B85F8C5F79A}"/>
              </a:ext>
            </a:extLst>
          </p:cNvPr>
          <p:cNvSpPr txBox="1"/>
          <p:nvPr/>
        </p:nvSpPr>
        <p:spPr>
          <a:xfrm>
            <a:off x="4271576" y="3499221"/>
            <a:ext cx="1581427" cy="646331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We</a:t>
            </a:r>
            <a:r>
              <a:rPr lang="it-IT" b="1" dirty="0">
                <a:latin typeface="Georgia" panose="02040502050405020303" pitchFamily="18" charset="0"/>
              </a:rPr>
              <a:t> focus on </a:t>
            </a:r>
            <a:r>
              <a:rPr lang="it-IT" b="1" dirty="0" err="1">
                <a:latin typeface="Georgia" panose="02040502050405020303" pitchFamily="18" charset="0"/>
              </a:rPr>
              <a:t>this</a:t>
            </a:r>
            <a:r>
              <a:rPr lang="it-IT" b="1" dirty="0">
                <a:latin typeface="Georgia" panose="02040502050405020303" pitchFamily="18" charset="0"/>
              </a:rPr>
              <a:t> part</a:t>
            </a:r>
          </a:p>
        </p:txBody>
      </p:sp>
      <p:sp>
        <p:nvSpPr>
          <p:cNvPr id="27" name="Parentesi quadra aperta 26">
            <a:extLst>
              <a:ext uri="{FF2B5EF4-FFF2-40B4-BE49-F238E27FC236}">
                <a16:creationId xmlns:a16="http://schemas.microsoft.com/office/drawing/2014/main" id="{1692D5B8-4480-AE6F-2F07-07A1E7CE4355}"/>
              </a:ext>
            </a:extLst>
          </p:cNvPr>
          <p:cNvSpPr/>
          <p:nvPr/>
        </p:nvSpPr>
        <p:spPr>
          <a:xfrm>
            <a:off x="6117012" y="227157"/>
            <a:ext cx="712246" cy="6403688"/>
          </a:xfrm>
          <a:prstGeom prst="leftBracket">
            <a:avLst>
              <a:gd name="adj" fmla="val 75766"/>
            </a:avLst>
          </a:prstGeom>
          <a:ln w="28575">
            <a:solidFill>
              <a:srgbClr val="9933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00C043FC-1519-4F92-39F1-FAE3094CA38F}"/>
              </a:ext>
            </a:extLst>
          </p:cNvPr>
          <p:cNvSpPr/>
          <p:nvPr/>
        </p:nvSpPr>
        <p:spPr>
          <a:xfrm>
            <a:off x="7354168" y="4867275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Ovale 30">
            <a:extLst>
              <a:ext uri="{FF2B5EF4-FFF2-40B4-BE49-F238E27FC236}">
                <a16:creationId xmlns:a16="http://schemas.microsoft.com/office/drawing/2014/main" id="{932F4F19-CBF4-B7DA-A8B3-D8A318FB542F}"/>
              </a:ext>
            </a:extLst>
          </p:cNvPr>
          <p:cNvSpPr/>
          <p:nvPr/>
        </p:nvSpPr>
        <p:spPr>
          <a:xfrm>
            <a:off x="7352263" y="526245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Ovale 31">
            <a:extLst>
              <a:ext uri="{FF2B5EF4-FFF2-40B4-BE49-F238E27FC236}">
                <a16:creationId xmlns:a16="http://schemas.microsoft.com/office/drawing/2014/main" id="{2FD2A1DE-3746-0859-6679-D76C019F56DC}"/>
              </a:ext>
            </a:extLst>
          </p:cNvPr>
          <p:cNvSpPr/>
          <p:nvPr/>
        </p:nvSpPr>
        <p:spPr>
          <a:xfrm>
            <a:off x="7350358" y="56297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Ovale 32">
            <a:extLst>
              <a:ext uri="{FF2B5EF4-FFF2-40B4-BE49-F238E27FC236}">
                <a16:creationId xmlns:a16="http://schemas.microsoft.com/office/drawing/2014/main" id="{FFD39CA4-9973-1E7F-1786-2B55DB9DDA0A}"/>
              </a:ext>
            </a:extLst>
          </p:cNvPr>
          <p:cNvSpPr/>
          <p:nvPr/>
        </p:nvSpPr>
        <p:spPr>
          <a:xfrm>
            <a:off x="8754469" y="486537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Ovale 33">
            <a:extLst>
              <a:ext uri="{FF2B5EF4-FFF2-40B4-BE49-F238E27FC236}">
                <a16:creationId xmlns:a16="http://schemas.microsoft.com/office/drawing/2014/main" id="{10D9855A-74AF-DF01-A5E0-C3BDDE54F134}"/>
              </a:ext>
            </a:extLst>
          </p:cNvPr>
          <p:cNvSpPr/>
          <p:nvPr/>
        </p:nvSpPr>
        <p:spPr>
          <a:xfrm>
            <a:off x="8750659" y="526435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5" name="Ovale 34">
            <a:extLst>
              <a:ext uri="{FF2B5EF4-FFF2-40B4-BE49-F238E27FC236}">
                <a16:creationId xmlns:a16="http://schemas.microsoft.com/office/drawing/2014/main" id="{01E0EFEF-E19C-792B-9882-28B8CA0AE58F}"/>
              </a:ext>
            </a:extLst>
          </p:cNvPr>
          <p:cNvSpPr/>
          <p:nvPr/>
        </p:nvSpPr>
        <p:spPr>
          <a:xfrm>
            <a:off x="8750659" y="562208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6" name="Ovale 35">
            <a:extLst>
              <a:ext uri="{FF2B5EF4-FFF2-40B4-BE49-F238E27FC236}">
                <a16:creationId xmlns:a16="http://schemas.microsoft.com/office/drawing/2014/main" id="{1A5A68BF-BDB2-337F-4124-69CAE7C31D6D}"/>
              </a:ext>
            </a:extLst>
          </p:cNvPr>
          <p:cNvSpPr/>
          <p:nvPr/>
        </p:nvSpPr>
        <p:spPr>
          <a:xfrm>
            <a:off x="10155155" y="486429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7" name="Ovale 36">
            <a:extLst>
              <a:ext uri="{FF2B5EF4-FFF2-40B4-BE49-F238E27FC236}">
                <a16:creationId xmlns:a16="http://schemas.microsoft.com/office/drawing/2014/main" id="{77A1877E-186B-E09C-8830-52C1ACF9DE5D}"/>
              </a:ext>
            </a:extLst>
          </p:cNvPr>
          <p:cNvSpPr/>
          <p:nvPr/>
        </p:nvSpPr>
        <p:spPr>
          <a:xfrm>
            <a:off x="10151345" y="5272808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8A9A6C10-1F7F-D761-D4E2-F5C4B2DED6D9}"/>
              </a:ext>
            </a:extLst>
          </p:cNvPr>
          <p:cNvSpPr/>
          <p:nvPr/>
        </p:nvSpPr>
        <p:spPr>
          <a:xfrm>
            <a:off x="10153250" y="5622913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DDF2EB38-3855-49B6-B18C-A836D2DAECB9}"/>
              </a:ext>
            </a:extLst>
          </p:cNvPr>
          <p:cNvSpPr/>
          <p:nvPr/>
        </p:nvSpPr>
        <p:spPr>
          <a:xfrm>
            <a:off x="8123026" y="5074900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0" name="Ovale 69">
            <a:extLst>
              <a:ext uri="{FF2B5EF4-FFF2-40B4-BE49-F238E27FC236}">
                <a16:creationId xmlns:a16="http://schemas.microsoft.com/office/drawing/2014/main" id="{8F26FA7C-0077-60D7-1748-A3AF006F8C8F}"/>
              </a:ext>
            </a:extLst>
          </p:cNvPr>
          <p:cNvSpPr/>
          <p:nvPr/>
        </p:nvSpPr>
        <p:spPr>
          <a:xfrm>
            <a:off x="8128741" y="54510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2" name="Ovale 71">
            <a:extLst>
              <a:ext uri="{FF2B5EF4-FFF2-40B4-BE49-F238E27FC236}">
                <a16:creationId xmlns:a16="http://schemas.microsoft.com/office/drawing/2014/main" id="{300ED84F-1EF0-DEE3-8685-ACA5BA08E408}"/>
              </a:ext>
            </a:extLst>
          </p:cNvPr>
          <p:cNvSpPr/>
          <p:nvPr/>
        </p:nvSpPr>
        <p:spPr>
          <a:xfrm>
            <a:off x="8124931" y="581256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3" name="Ovale 72">
            <a:extLst>
              <a:ext uri="{FF2B5EF4-FFF2-40B4-BE49-F238E27FC236}">
                <a16:creationId xmlns:a16="http://schemas.microsoft.com/office/drawing/2014/main" id="{269AD5DD-9349-BF08-9282-B7B2A120C75F}"/>
              </a:ext>
            </a:extLst>
          </p:cNvPr>
          <p:cNvSpPr/>
          <p:nvPr/>
        </p:nvSpPr>
        <p:spPr>
          <a:xfrm>
            <a:off x="8123026" y="469530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7" name="Ovale 76">
            <a:extLst>
              <a:ext uri="{FF2B5EF4-FFF2-40B4-BE49-F238E27FC236}">
                <a16:creationId xmlns:a16="http://schemas.microsoft.com/office/drawing/2014/main" id="{FE360FAB-8674-64A3-E369-83811BB6E117}"/>
              </a:ext>
            </a:extLst>
          </p:cNvPr>
          <p:cNvSpPr/>
          <p:nvPr/>
        </p:nvSpPr>
        <p:spPr>
          <a:xfrm>
            <a:off x="9519517" y="5073891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8" name="Ovale 77">
            <a:extLst>
              <a:ext uri="{FF2B5EF4-FFF2-40B4-BE49-F238E27FC236}">
                <a16:creationId xmlns:a16="http://schemas.microsoft.com/office/drawing/2014/main" id="{592C6E13-2EEB-9459-331B-398906BB9D4D}"/>
              </a:ext>
            </a:extLst>
          </p:cNvPr>
          <p:cNvSpPr/>
          <p:nvPr/>
        </p:nvSpPr>
        <p:spPr>
          <a:xfrm>
            <a:off x="9525232" y="5446207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9" name="Ovale 78">
            <a:extLst>
              <a:ext uri="{FF2B5EF4-FFF2-40B4-BE49-F238E27FC236}">
                <a16:creationId xmlns:a16="http://schemas.microsoft.com/office/drawing/2014/main" id="{FF375FC0-C24B-5E6E-770E-272A6E38DD57}"/>
              </a:ext>
            </a:extLst>
          </p:cNvPr>
          <p:cNvSpPr/>
          <p:nvPr/>
        </p:nvSpPr>
        <p:spPr>
          <a:xfrm>
            <a:off x="9525232" y="58191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0" name="Ovale 79">
            <a:extLst>
              <a:ext uri="{FF2B5EF4-FFF2-40B4-BE49-F238E27FC236}">
                <a16:creationId xmlns:a16="http://schemas.microsoft.com/office/drawing/2014/main" id="{9D727BC0-8C41-3BEC-6969-6F7C268D1694}"/>
              </a:ext>
            </a:extLst>
          </p:cNvPr>
          <p:cNvSpPr/>
          <p:nvPr/>
        </p:nvSpPr>
        <p:spPr>
          <a:xfrm>
            <a:off x="9523327" y="4686672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2" name="Ovale 81">
            <a:extLst>
              <a:ext uri="{FF2B5EF4-FFF2-40B4-BE49-F238E27FC236}">
                <a16:creationId xmlns:a16="http://schemas.microsoft.com/office/drawing/2014/main" id="{2E92C7B7-CB5A-97B1-A5B2-3CF99CE1E0BE}"/>
              </a:ext>
            </a:extLst>
          </p:cNvPr>
          <p:cNvSpPr/>
          <p:nvPr/>
        </p:nvSpPr>
        <p:spPr>
          <a:xfrm>
            <a:off x="10706248" y="5244326"/>
            <a:ext cx="281072" cy="291111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939094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67" grpId="0" animBg="1"/>
      <p:bldP spid="70" grpId="0" animBg="1"/>
      <p:bldP spid="72" grpId="0" animBg="1"/>
      <p:bldP spid="73" grpId="0" animBg="1"/>
      <p:bldP spid="77" grpId="0" animBg="1"/>
      <p:bldP spid="78" grpId="0" animBg="1"/>
      <p:bldP spid="79" grpId="0" animBg="1"/>
      <p:bldP spid="80" grpId="0" animBg="1"/>
      <p:bldP spid="8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B7F50D-FEEA-F54C-66E8-153ED8782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magine 40">
            <a:extLst>
              <a:ext uri="{FF2B5EF4-FFF2-40B4-BE49-F238E27FC236}">
                <a16:creationId xmlns:a16="http://schemas.microsoft.com/office/drawing/2014/main" id="{F5D96026-0B85-C06D-7FBC-26843DD0CE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395" y="624492"/>
            <a:ext cx="2572577" cy="970110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D54E191-8D5C-A77C-C0B3-F21915BC9A59}"/>
              </a:ext>
            </a:extLst>
          </p:cNvPr>
          <p:cNvSpPr txBox="1"/>
          <p:nvPr/>
        </p:nvSpPr>
        <p:spPr>
          <a:xfrm>
            <a:off x="4179358" y="2153025"/>
            <a:ext cx="42100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/>
              <a:t>Loss </a:t>
            </a:r>
            <a:r>
              <a:rPr lang="it-IT" sz="2000" b="1" dirty="0" err="1"/>
              <a:t>Function</a:t>
            </a:r>
            <a:r>
              <a:rPr lang="it-IT" sz="2000" b="1" dirty="0"/>
              <a:t> computing</a:t>
            </a:r>
          </a:p>
          <a:p>
            <a:pPr algn="ctr"/>
            <a:r>
              <a:rPr lang="it-IT" sz="1600" dirty="0" err="1"/>
              <a:t>Measure</a:t>
            </a:r>
            <a:r>
              <a:rPr lang="it-IT" sz="1600" dirty="0"/>
              <a:t> of Error 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F8DCE88-D324-5BA3-C618-23798926EDE5}"/>
              </a:ext>
            </a:extLst>
          </p:cNvPr>
          <p:cNvSpPr txBox="1"/>
          <p:nvPr/>
        </p:nvSpPr>
        <p:spPr>
          <a:xfrm>
            <a:off x="4237224" y="-10853"/>
            <a:ext cx="62824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2800" b="1" dirty="0" err="1">
                <a:latin typeface="Georgia" panose="02040502050405020303" pitchFamily="18" charset="0"/>
              </a:rPr>
              <a:t>Classification</a:t>
            </a:r>
            <a:r>
              <a:rPr lang="it-IT" sz="2800" b="1" dirty="0">
                <a:latin typeface="Georgia" panose="02040502050405020303" pitchFamily="18" charset="0"/>
              </a:rPr>
              <a:t> </a:t>
            </a:r>
            <a:r>
              <a:rPr lang="it-IT" sz="2800" b="1" dirty="0" err="1">
                <a:latin typeface="Georgia" panose="02040502050405020303" pitchFamily="18" charset="0"/>
              </a:rPr>
              <a:t>problem</a:t>
            </a:r>
            <a:endParaRPr lang="it-IT" sz="2800" b="1" dirty="0">
              <a:latin typeface="Georgia" panose="02040502050405020303" pitchFamily="18" charset="0"/>
            </a:endParaRPr>
          </a:p>
          <a:p>
            <a:pPr algn="ctr"/>
            <a:r>
              <a:rPr lang="it-IT" sz="2000" dirty="0"/>
              <a:t>(</a:t>
            </a:r>
            <a:r>
              <a:rPr lang="it-IT" sz="2000" dirty="0" err="1"/>
              <a:t>Binary</a:t>
            </a:r>
            <a:r>
              <a:rPr lang="it-IT" sz="20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/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asellaDiTesto 2">
                <a:extLst>
                  <a:ext uri="{FF2B5EF4-FFF2-40B4-BE49-F238E27FC236}">
                    <a16:creationId xmlns:a16="http://schemas.microsoft.com/office/drawing/2014/main" id="{C8131C64-10EF-9BB9-63EA-A6222FF5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2355486"/>
                <a:ext cx="1664162" cy="400110"/>
              </a:xfrm>
              <a:prstGeom prst="rect">
                <a:avLst/>
              </a:prstGeom>
              <a:blipFill>
                <a:blip r:embed="rId4"/>
                <a:stretch>
                  <a:fillRect b="-1818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/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2000" b="1" dirty="0">
                    <a:solidFill>
                      <a:schemeClr val="tx1"/>
                    </a:solidFill>
                  </a:rPr>
                  <a:t>L</a:t>
                </a:r>
                <a:r>
                  <a:rPr lang="it-IT" sz="2000" b="0" dirty="0">
                    <a:solidFill>
                      <a:schemeClr val="tx1"/>
                    </a:solidFill>
                  </a:rPr>
                  <a:t> =</a:t>
                </a:r>
              </a:p>
              <a:p>
                <a:pPr algn="ctr"/>
                <a:endParaRPr lang="it-IT" sz="2000" b="0" dirty="0">
                  <a:solidFill>
                    <a:schemeClr val="tx1"/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</m:d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:endParaRPr lang="it-IT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−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(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sSub>
                        <m:sSubPr>
                          <m:ctrlPr>
                            <a:rPr lang="it-IT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20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CasellaDiTesto 3">
                <a:extLst>
                  <a:ext uri="{FF2B5EF4-FFF2-40B4-BE49-F238E27FC236}">
                    <a16:creationId xmlns:a16="http://schemas.microsoft.com/office/drawing/2014/main" id="{73F73EF9-A362-3748-D1DC-73EC39BBB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8228" y="2825052"/>
                <a:ext cx="8744651" cy="1631216"/>
              </a:xfrm>
              <a:prstGeom prst="rect">
                <a:avLst/>
              </a:prstGeom>
              <a:blipFill>
                <a:blip r:embed="rId5"/>
                <a:stretch>
                  <a:fillRect t="-1493" b="-37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/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20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1C385687-090F-6EC2-CE08-1E05EBD13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894" y="4656323"/>
                <a:ext cx="1664162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Connettore 2 10">
            <a:extLst>
              <a:ext uri="{FF2B5EF4-FFF2-40B4-BE49-F238E27FC236}">
                <a16:creationId xmlns:a16="http://schemas.microsoft.com/office/drawing/2014/main" id="{6BF1BF68-1EF7-E766-D5D8-B390341B1B6D}"/>
              </a:ext>
            </a:extLst>
          </p:cNvPr>
          <p:cNvCxnSpPr/>
          <p:nvPr/>
        </p:nvCxnSpPr>
        <p:spPr>
          <a:xfrm>
            <a:off x="2161465" y="2553320"/>
            <a:ext cx="1858586" cy="1241144"/>
          </a:xfrm>
          <a:prstGeom prst="bentConnector3">
            <a:avLst>
              <a:gd name="adj1" fmla="val 53929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ttore 2 10">
            <a:extLst>
              <a:ext uri="{FF2B5EF4-FFF2-40B4-BE49-F238E27FC236}">
                <a16:creationId xmlns:a16="http://schemas.microsoft.com/office/drawing/2014/main" id="{C3EC72CF-BF95-7FD3-5A5F-BE9189F6032A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310056" y="3794465"/>
            <a:ext cx="1709995" cy="1061913"/>
          </a:xfrm>
          <a:prstGeom prst="bentConnector3">
            <a:avLst>
              <a:gd name="adj1" fmla="val 50000"/>
            </a:avLst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7F7A1D58-3DB1-FDD5-A811-548CEAB7AC7C}"/>
              </a:ext>
            </a:extLst>
          </p:cNvPr>
          <p:cNvCxnSpPr/>
          <p:nvPr/>
        </p:nvCxnSpPr>
        <p:spPr>
          <a:xfrm flipV="1">
            <a:off x="8664162" y="3798135"/>
            <a:ext cx="1432338" cy="585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/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CA" sz="2000" dirty="0"/>
                  <a:t>Weights</a:t>
                </a:r>
                <a:r>
                  <a:rPr lang="it-IT" sz="2000" dirty="0"/>
                  <a:t> update </a:t>
                </a:r>
                <a14:m>
                  <m:oMath xmlns:m="http://schemas.openxmlformats.org/officeDocument/2006/math">
                    <m:r>
                      <a:rPr lang="it-IT" sz="2000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4CFDEF92-E4EE-3644-A079-01D09E4822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1950" y="4613375"/>
                <a:ext cx="4210050" cy="400110"/>
              </a:xfrm>
              <a:prstGeom prst="rect">
                <a:avLst/>
              </a:prstGeom>
              <a:blipFill>
                <a:blip r:embed="rId7"/>
                <a:stretch>
                  <a:fillRect t="-7692" b="-2923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AD788616-2188-82CC-B5FE-FA2F737C4448}"/>
              </a:ext>
            </a:extLst>
          </p:cNvPr>
          <p:cNvCxnSpPr/>
          <p:nvPr/>
        </p:nvCxnSpPr>
        <p:spPr>
          <a:xfrm>
            <a:off x="10086975" y="3803429"/>
            <a:ext cx="0" cy="774086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3518E37E-ABFD-7177-0AD1-B40137CEB218}"/>
              </a:ext>
            </a:extLst>
          </p:cNvPr>
          <p:cNvCxnSpPr/>
          <p:nvPr/>
        </p:nvCxnSpPr>
        <p:spPr>
          <a:xfrm flipH="1">
            <a:off x="10103644" y="5335430"/>
            <a:ext cx="2381" cy="41684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BE688706-2075-3EC4-F59E-CAF2A8ACE49E}"/>
              </a:ext>
            </a:extLst>
          </p:cNvPr>
          <p:cNvCxnSpPr/>
          <p:nvPr/>
        </p:nvCxnSpPr>
        <p:spPr>
          <a:xfrm flipH="1" flipV="1">
            <a:off x="7869293" y="5753119"/>
            <a:ext cx="2244119" cy="1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012EE24-BB29-C455-3EF3-189E5084F868}"/>
              </a:ext>
            </a:extLst>
          </p:cNvPr>
          <p:cNvSpPr txBox="1"/>
          <p:nvPr/>
        </p:nvSpPr>
        <p:spPr>
          <a:xfrm>
            <a:off x="4427968" y="5553064"/>
            <a:ext cx="33079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dirty="0"/>
              <a:t>New </a:t>
            </a:r>
            <a:r>
              <a:rPr lang="it-IT" sz="2000" dirty="0" err="1"/>
              <a:t>predictions</a:t>
            </a:r>
            <a:r>
              <a:rPr lang="it-IT" sz="2000" dirty="0"/>
              <a:t> </a:t>
            </a:r>
            <a:r>
              <a:rPr lang="it-IT" sz="2000" dirty="0" err="1"/>
              <a:t>computed</a:t>
            </a:r>
            <a:endParaRPr lang="it-IT" sz="2000" dirty="0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42EC6FE-3D3D-D0F5-384A-DAC8E8FF468D}"/>
              </a:ext>
            </a:extLst>
          </p:cNvPr>
          <p:cNvCxnSpPr>
            <a:cxnSpLocks/>
          </p:cNvCxnSpPr>
          <p:nvPr/>
        </p:nvCxnSpPr>
        <p:spPr>
          <a:xfrm>
            <a:off x="412199" y="5789149"/>
            <a:ext cx="3889158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EE4C0807-F6D3-7FF8-C48F-87E315299438}"/>
              </a:ext>
            </a:extLst>
          </p:cNvPr>
          <p:cNvCxnSpPr/>
          <p:nvPr/>
        </p:nvCxnSpPr>
        <p:spPr>
          <a:xfrm flipH="1" flipV="1">
            <a:off x="421725" y="4884980"/>
            <a:ext cx="4518" cy="896642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BE32A2F-44AB-B02D-3F4C-BCAFDCADB553}"/>
              </a:ext>
            </a:extLst>
          </p:cNvPr>
          <p:cNvSpPr txBox="1"/>
          <p:nvPr/>
        </p:nvSpPr>
        <p:spPr>
          <a:xfrm>
            <a:off x="8162002" y="4874838"/>
            <a:ext cx="38499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600" dirty="0"/>
              <a:t>(Loss </a:t>
            </a:r>
            <a:r>
              <a:rPr lang="it-IT" sz="1600" dirty="0" err="1"/>
              <a:t>function</a:t>
            </a:r>
            <a:r>
              <a:rPr lang="it-IT" sz="1600" dirty="0"/>
              <a:t> </a:t>
            </a:r>
            <a:r>
              <a:rPr lang="it-IT" sz="1600" dirty="0" err="1"/>
              <a:t>minimized</a:t>
            </a:r>
            <a:r>
              <a:rPr lang="it-IT" sz="1600" dirty="0"/>
              <a:t>)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3309F898-4784-D7B4-4E9B-E70BE0076864}"/>
              </a:ext>
            </a:extLst>
          </p:cNvPr>
          <p:cNvSpPr txBox="1"/>
          <p:nvPr/>
        </p:nvSpPr>
        <p:spPr>
          <a:xfrm>
            <a:off x="426546" y="2725888"/>
            <a:ext cx="2168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x input</a:t>
            </a:r>
          </a:p>
          <a:p>
            <a:pPr algn="ctr"/>
            <a:r>
              <a:rPr lang="it-IT" dirty="0"/>
              <a:t>y label</a:t>
            </a:r>
          </a:p>
          <a:p>
            <a:pPr algn="ctr"/>
            <a:r>
              <a:rPr lang="it-IT" dirty="0" err="1"/>
              <a:t>Idetify</a:t>
            </a:r>
            <a:r>
              <a:rPr lang="it-IT" dirty="0"/>
              <a:t> the class</a:t>
            </a:r>
          </a:p>
          <a:p>
            <a:pPr algn="ctr"/>
            <a:r>
              <a:rPr lang="it-IT" sz="1600" dirty="0"/>
              <a:t>(</a:t>
            </a:r>
            <a:r>
              <a:rPr lang="it-IT" sz="1600" dirty="0" err="1"/>
              <a:t>Desired</a:t>
            </a:r>
            <a:r>
              <a:rPr lang="it-IT" sz="1600" dirty="0"/>
              <a:t> output)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464D513A-6D62-5B1A-DAF6-74E73DB1C3FA}"/>
              </a:ext>
            </a:extLst>
          </p:cNvPr>
          <p:cNvSpPr txBox="1"/>
          <p:nvPr/>
        </p:nvSpPr>
        <p:spPr>
          <a:xfrm>
            <a:off x="767304" y="5065588"/>
            <a:ext cx="143158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Model</a:t>
            </a:r>
          </a:p>
          <a:p>
            <a:pPr algn="ctr"/>
            <a:r>
              <a:rPr lang="it-IT" sz="1600" b="1" dirty="0"/>
              <a:t>w</a:t>
            </a:r>
            <a:r>
              <a:rPr lang="it-IT" sz="1600" dirty="0"/>
              <a:t> </a:t>
            </a:r>
            <a:r>
              <a:rPr lang="it-IT" sz="1600" dirty="0" err="1"/>
              <a:t>parameters</a:t>
            </a:r>
            <a:endParaRPr lang="it-IT" sz="1600" dirty="0"/>
          </a:p>
        </p:txBody>
      </p:sp>
      <p:cxnSp>
        <p:nvCxnSpPr>
          <p:cNvPr id="21" name="Connettore 2 20">
            <a:extLst>
              <a:ext uri="{FF2B5EF4-FFF2-40B4-BE49-F238E27FC236}">
                <a16:creationId xmlns:a16="http://schemas.microsoft.com/office/drawing/2014/main" id="{AB96648B-4684-E3F1-8EF8-CFF04E178784}"/>
              </a:ext>
            </a:extLst>
          </p:cNvPr>
          <p:cNvCxnSpPr/>
          <p:nvPr/>
        </p:nvCxnSpPr>
        <p:spPr>
          <a:xfrm>
            <a:off x="412199" y="4897264"/>
            <a:ext cx="313160" cy="0"/>
          </a:xfrm>
          <a:prstGeom prst="straightConnector1">
            <a:avLst/>
          </a:prstGeom>
          <a:ln w="25400" cap="flat" cmpd="sng" algn="ctr">
            <a:solidFill>
              <a:srgbClr val="1F429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/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(·,</m:t>
                      </m:r>
                      <m:sSup>
                        <m:sSupPr>
                          <m:ctrlP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20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it-IT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𝑓𝑖𝑛𝑎𝑙</m:t>
                          </m:r>
                        </m:sup>
                      </m:sSup>
                      <m:r>
                        <a:rPr lang="it-IT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3" name="CasellaDiTesto 22">
                <a:extLst>
                  <a:ext uri="{FF2B5EF4-FFF2-40B4-BE49-F238E27FC236}">
                    <a16:creationId xmlns:a16="http://schemas.microsoft.com/office/drawing/2014/main" id="{DD4B0780-039B-85D5-D072-A01B0A5F3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7028" y="6334165"/>
                <a:ext cx="1664162" cy="410112"/>
              </a:xfrm>
              <a:prstGeom prst="rect">
                <a:avLst/>
              </a:prstGeom>
              <a:blipFill>
                <a:blip r:embed="rId8"/>
                <a:stretch>
                  <a:fillRect b="-1791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68ABCB28-D271-5889-DB75-22BCA3489F36}"/>
              </a:ext>
            </a:extLst>
          </p:cNvPr>
          <p:cNvSpPr txBox="1"/>
          <p:nvPr/>
        </p:nvSpPr>
        <p:spPr>
          <a:xfrm>
            <a:off x="4505076" y="6084905"/>
            <a:ext cx="3288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 err="1"/>
              <a:t>Results</a:t>
            </a:r>
            <a:r>
              <a:rPr lang="it-IT" dirty="0"/>
              <a:t> of the training </a:t>
            </a:r>
            <a:r>
              <a:rPr lang="it-IT" dirty="0" err="1"/>
              <a:t>process</a:t>
            </a:r>
            <a:endParaRPr lang="it-IT" dirty="0"/>
          </a:p>
        </p:txBody>
      </p:sp>
      <p:grpSp>
        <p:nvGrpSpPr>
          <p:cNvPr id="46" name="Gruppo 45">
            <a:extLst>
              <a:ext uri="{FF2B5EF4-FFF2-40B4-BE49-F238E27FC236}">
                <a16:creationId xmlns:a16="http://schemas.microsoft.com/office/drawing/2014/main" id="{FFFA0953-65FB-FAF2-BB5B-572473425B09}"/>
              </a:ext>
            </a:extLst>
          </p:cNvPr>
          <p:cNvGrpSpPr/>
          <p:nvPr/>
        </p:nvGrpSpPr>
        <p:grpSpPr>
          <a:xfrm>
            <a:off x="7967489" y="1508521"/>
            <a:ext cx="4224109" cy="1001551"/>
            <a:chOff x="7634679" y="1303727"/>
            <a:chExt cx="4224109" cy="1001551"/>
          </a:xfrm>
        </p:grpSpPr>
        <p:sp>
          <p:nvSpPr>
            <p:cNvPr id="26" name="CasellaDiTesto 25">
              <a:extLst>
                <a:ext uri="{FF2B5EF4-FFF2-40B4-BE49-F238E27FC236}">
                  <a16:creationId xmlns:a16="http://schemas.microsoft.com/office/drawing/2014/main" id="{B6679FE0-8400-A0C1-02FD-DA54D8F48D8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27" name="CasellaDiTesto 26">
              <a:extLst>
                <a:ext uri="{FF2B5EF4-FFF2-40B4-BE49-F238E27FC236}">
                  <a16:creationId xmlns:a16="http://schemas.microsoft.com/office/drawing/2014/main" id="{994A2121-9366-32EF-1EF3-B2F20F0829F3}"/>
                </a:ext>
              </a:extLst>
            </p:cNvPr>
            <p:cNvSpPr txBox="1"/>
            <p:nvPr/>
          </p:nvSpPr>
          <p:spPr>
            <a:xfrm>
              <a:off x="8334164" y="193594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28" name="CasellaDiTesto 27">
              <a:extLst>
                <a:ext uri="{FF2B5EF4-FFF2-40B4-BE49-F238E27FC236}">
                  <a16:creationId xmlns:a16="http://schemas.microsoft.com/office/drawing/2014/main" id="{EF9A545A-987F-645E-AE65-FC1692FF425F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43CD6419-EAF7-0AB1-DFB0-0A533E2B6F93}"/>
                </a:ext>
              </a:extLst>
            </p:cNvPr>
            <p:cNvSpPr txBox="1"/>
            <p:nvPr/>
          </p:nvSpPr>
          <p:spPr>
            <a:xfrm>
              <a:off x="10096662" y="193576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30" name="Connettore 2 29">
              <a:extLst>
                <a:ext uri="{FF2B5EF4-FFF2-40B4-BE49-F238E27FC236}">
                  <a16:creationId xmlns:a16="http://schemas.microsoft.com/office/drawing/2014/main" id="{2A86D111-24C5-CE19-5201-9DDBA63CA229}"/>
                </a:ext>
              </a:extLst>
            </p:cNvPr>
            <p:cNvCxnSpPr>
              <a:cxnSpLocks/>
              <a:stCxn id="28" idx="2"/>
              <a:endCxn id="29" idx="0"/>
            </p:cNvCxnSpPr>
            <p:nvPr/>
          </p:nvCxnSpPr>
          <p:spPr>
            <a:xfrm flipH="1">
              <a:off x="10977725" y="1676396"/>
              <a:ext cx="1" cy="25937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Connettore 2 30">
              <a:extLst>
                <a:ext uri="{FF2B5EF4-FFF2-40B4-BE49-F238E27FC236}">
                  <a16:creationId xmlns:a16="http://schemas.microsoft.com/office/drawing/2014/main" id="{11EA17EB-0C27-D9B7-9DDC-57CF76AEA872}"/>
                </a:ext>
              </a:extLst>
            </p:cNvPr>
            <p:cNvCxnSpPr>
              <a:cxnSpLocks/>
              <a:stCxn id="29" idx="1"/>
              <a:endCxn id="27" idx="3"/>
            </p:cNvCxnSpPr>
            <p:nvPr/>
          </p:nvCxnSpPr>
          <p:spPr>
            <a:xfrm flipH="1">
              <a:off x="9444429" y="212043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D5781E7B-C6E4-B108-4ECD-3B785C126F61}"/>
                </a:ext>
              </a:extLst>
            </p:cNvPr>
            <p:cNvCxnSpPr>
              <a:cxnSpLocks/>
              <a:stCxn id="26" idx="3"/>
              <a:endCxn id="3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Connettore a gomito 32">
              <a:extLst>
                <a:ext uri="{FF2B5EF4-FFF2-40B4-BE49-F238E27FC236}">
                  <a16:creationId xmlns:a16="http://schemas.microsoft.com/office/drawing/2014/main" id="{3AB70CE9-E6F9-0922-D938-862C8F80896D}"/>
                </a:ext>
              </a:extLst>
            </p:cNvPr>
            <p:cNvCxnSpPr>
              <a:cxnSpLocks/>
              <a:stCxn id="27" idx="0"/>
              <a:endCxn id="34" idx="1"/>
            </p:cNvCxnSpPr>
            <p:nvPr/>
          </p:nvCxnSpPr>
          <p:spPr>
            <a:xfrm rot="16200000" flipV="1">
              <a:off x="8663341" y="1709989"/>
              <a:ext cx="447553" cy="4361"/>
            </a:xfrm>
            <a:prstGeom prst="bentConnector4">
              <a:avLst>
                <a:gd name="adj1" fmla="val 29369"/>
                <a:gd name="adj2" fmla="val 8545563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4" name="CasellaDiTesto 33">
              <a:extLst>
                <a:ext uri="{FF2B5EF4-FFF2-40B4-BE49-F238E27FC236}">
                  <a16:creationId xmlns:a16="http://schemas.microsoft.com/office/drawing/2014/main" id="{1262CA71-A10A-3EB2-2028-5DA7AA47DD3F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35" name="Connettore 2 34">
              <a:extLst>
                <a:ext uri="{FF2B5EF4-FFF2-40B4-BE49-F238E27FC236}">
                  <a16:creationId xmlns:a16="http://schemas.microsoft.com/office/drawing/2014/main" id="{4FF2B70D-8C46-152D-0B13-029973883993}"/>
                </a:ext>
              </a:extLst>
            </p:cNvPr>
            <p:cNvCxnSpPr>
              <a:cxnSpLocks/>
              <a:stCxn id="34" idx="3"/>
              <a:endCxn id="2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/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it-IT" sz="1800" dirty="0" err="1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Predictions</a:t>
                </a:r>
                <a:endParaRPr lang="it-IT" sz="1800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it-IT" sz="1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it-IT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it-IT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it-IT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  <m:r>
                        <a:rPr lang="it-IT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CasellaDiTesto 47">
                <a:extLst>
                  <a:ext uri="{FF2B5EF4-FFF2-40B4-BE49-F238E27FC236}">
                    <a16:creationId xmlns:a16="http://schemas.microsoft.com/office/drawing/2014/main" id="{0C2C0795-1215-C7F1-C0F1-E4B64E108A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6693" y="3061187"/>
                <a:ext cx="1661410" cy="646331"/>
              </a:xfrm>
              <a:prstGeom prst="rect">
                <a:avLst/>
              </a:prstGeom>
              <a:blipFill>
                <a:blip r:embed="rId9"/>
                <a:stretch>
                  <a:fillRect t="-5660" b="-849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Rettangolo 41">
            <a:extLst>
              <a:ext uri="{FF2B5EF4-FFF2-40B4-BE49-F238E27FC236}">
                <a16:creationId xmlns:a16="http://schemas.microsoft.com/office/drawing/2014/main" id="{444F0270-366D-691C-D7B9-987520531D7F}"/>
              </a:ext>
            </a:extLst>
          </p:cNvPr>
          <p:cNvSpPr/>
          <p:nvPr/>
        </p:nvSpPr>
        <p:spPr>
          <a:xfrm>
            <a:off x="91010" y="349397"/>
            <a:ext cx="1514764" cy="15483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6" name="Immagine 35">
            <a:extLst>
              <a:ext uri="{FF2B5EF4-FFF2-40B4-BE49-F238E27FC236}">
                <a16:creationId xmlns:a16="http://schemas.microsoft.com/office/drawing/2014/main" id="{6FE84D75-3AEA-29A5-A1EE-40B4CB23C19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53"/>
            <a:ext cx="1033118" cy="1033118"/>
          </a:xfrm>
          <a:prstGeom prst="rect">
            <a:avLst/>
          </a:prstGeom>
        </p:spPr>
      </p:pic>
      <p:pic>
        <p:nvPicPr>
          <p:cNvPr id="40" name="Immagine 39">
            <a:extLst>
              <a:ext uri="{FF2B5EF4-FFF2-40B4-BE49-F238E27FC236}">
                <a16:creationId xmlns:a16="http://schemas.microsoft.com/office/drawing/2014/main" id="{6F418247-0417-BEC0-51E8-AD4BEA8782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650" y="1138454"/>
            <a:ext cx="1012854" cy="1054195"/>
          </a:xfrm>
          <a:prstGeom prst="rect">
            <a:avLst/>
          </a:prstGeom>
        </p:spPr>
      </p:pic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878B4E6F-F9E3-758D-3E05-0E1EFE57A645}"/>
              </a:ext>
            </a:extLst>
          </p:cNvPr>
          <p:cNvCxnSpPr>
            <a:cxnSpLocks/>
          </p:cNvCxnSpPr>
          <p:nvPr/>
        </p:nvCxnSpPr>
        <p:spPr>
          <a:xfrm>
            <a:off x="1139103" y="1065997"/>
            <a:ext cx="403814" cy="5706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ttangolo 49">
            <a:extLst>
              <a:ext uri="{FF2B5EF4-FFF2-40B4-BE49-F238E27FC236}">
                <a16:creationId xmlns:a16="http://schemas.microsoft.com/office/drawing/2014/main" id="{E962996A-9FEC-6476-EB8E-F37CCB7A1BDC}"/>
              </a:ext>
            </a:extLst>
          </p:cNvPr>
          <p:cNvSpPr/>
          <p:nvPr/>
        </p:nvSpPr>
        <p:spPr>
          <a:xfrm>
            <a:off x="3052380" y="940382"/>
            <a:ext cx="240550" cy="3169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2" name="Connettore 2 51">
            <a:extLst>
              <a:ext uri="{FF2B5EF4-FFF2-40B4-BE49-F238E27FC236}">
                <a16:creationId xmlns:a16="http://schemas.microsoft.com/office/drawing/2014/main" id="{220FA8B7-6BA2-3616-FC20-F4E16F9C3BA6}"/>
              </a:ext>
            </a:extLst>
          </p:cNvPr>
          <p:cNvCxnSpPr>
            <a:cxnSpLocks/>
          </p:cNvCxnSpPr>
          <p:nvPr/>
        </p:nvCxnSpPr>
        <p:spPr>
          <a:xfrm>
            <a:off x="3119758" y="1170868"/>
            <a:ext cx="429319" cy="170442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ttore 2 48">
            <a:extLst>
              <a:ext uri="{FF2B5EF4-FFF2-40B4-BE49-F238E27FC236}">
                <a16:creationId xmlns:a16="http://schemas.microsoft.com/office/drawing/2014/main" id="{097AD262-FCDD-101B-73A4-757D438F94E4}"/>
              </a:ext>
            </a:extLst>
          </p:cNvPr>
          <p:cNvCxnSpPr>
            <a:cxnSpLocks/>
          </p:cNvCxnSpPr>
          <p:nvPr/>
        </p:nvCxnSpPr>
        <p:spPr>
          <a:xfrm flipV="1">
            <a:off x="3118373" y="914102"/>
            <a:ext cx="411031" cy="103065"/>
          </a:xfrm>
          <a:prstGeom prst="straightConnector1">
            <a:avLst/>
          </a:prstGeom>
          <a:ln w="28575">
            <a:solidFill>
              <a:srgbClr val="1F429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87295315-461C-AA9B-D94F-4A398204D382}"/>
              </a:ext>
            </a:extLst>
          </p:cNvPr>
          <p:cNvSpPr txBox="1"/>
          <p:nvPr/>
        </p:nvSpPr>
        <p:spPr>
          <a:xfrm>
            <a:off x="3704670" y="653675"/>
            <a:ext cx="629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CAT</a:t>
            </a:r>
          </a:p>
        </p:txBody>
      </p:sp>
      <p:sp>
        <p:nvSpPr>
          <p:cNvPr id="55" name="CasellaDiTesto 54">
            <a:extLst>
              <a:ext uri="{FF2B5EF4-FFF2-40B4-BE49-F238E27FC236}">
                <a16:creationId xmlns:a16="http://schemas.microsoft.com/office/drawing/2014/main" id="{A61E58F9-D9C8-CBD9-DCC1-0043A9A3C406}"/>
              </a:ext>
            </a:extLst>
          </p:cNvPr>
          <p:cNvSpPr txBox="1"/>
          <p:nvPr/>
        </p:nvSpPr>
        <p:spPr>
          <a:xfrm>
            <a:off x="3672409" y="1253709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DOG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4FF01050-B6CF-17D5-A8C8-6313FBC34E7E}"/>
              </a:ext>
            </a:extLst>
          </p:cNvPr>
          <p:cNvSpPr txBox="1"/>
          <p:nvPr/>
        </p:nvSpPr>
        <p:spPr>
          <a:xfrm>
            <a:off x="4333881" y="655817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[0]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8DFCA97E-3FC4-C8F1-2E3C-B232A476F2CA}"/>
              </a:ext>
            </a:extLst>
          </p:cNvPr>
          <p:cNvSpPr txBox="1"/>
          <p:nvPr/>
        </p:nvSpPr>
        <p:spPr>
          <a:xfrm>
            <a:off x="4345485" y="1242003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[1]</a:t>
            </a:r>
          </a:p>
        </p:txBody>
      </p:sp>
      <p:sp>
        <p:nvSpPr>
          <p:cNvPr id="38" name="Ovale 37">
            <a:extLst>
              <a:ext uri="{FF2B5EF4-FFF2-40B4-BE49-F238E27FC236}">
                <a16:creationId xmlns:a16="http://schemas.microsoft.com/office/drawing/2014/main" id="{5252C2A7-6183-8465-81AB-EA5DFC34632A}"/>
              </a:ext>
            </a:extLst>
          </p:cNvPr>
          <p:cNvSpPr/>
          <p:nvPr/>
        </p:nvSpPr>
        <p:spPr>
          <a:xfrm>
            <a:off x="1623251" y="75232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9" name="Ovale 38">
            <a:extLst>
              <a:ext uri="{FF2B5EF4-FFF2-40B4-BE49-F238E27FC236}">
                <a16:creationId xmlns:a16="http://schemas.microsoft.com/office/drawing/2014/main" id="{0FA57FC2-0BC5-F4E3-544B-834772085799}"/>
              </a:ext>
            </a:extLst>
          </p:cNvPr>
          <p:cNvSpPr/>
          <p:nvPr/>
        </p:nvSpPr>
        <p:spPr>
          <a:xfrm>
            <a:off x="1623251" y="101073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43" name="Ovale 42">
            <a:extLst>
              <a:ext uri="{FF2B5EF4-FFF2-40B4-BE49-F238E27FC236}">
                <a16:creationId xmlns:a16="http://schemas.microsoft.com/office/drawing/2014/main" id="{6EF5C3FD-2D6B-5B20-6BEF-519505AE00CA}"/>
              </a:ext>
            </a:extLst>
          </p:cNvPr>
          <p:cNvSpPr/>
          <p:nvPr/>
        </p:nvSpPr>
        <p:spPr>
          <a:xfrm>
            <a:off x="1623251" y="124125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8" name="Ovale 57">
            <a:extLst>
              <a:ext uri="{FF2B5EF4-FFF2-40B4-BE49-F238E27FC236}">
                <a16:creationId xmlns:a16="http://schemas.microsoft.com/office/drawing/2014/main" id="{2FF8E1AD-477B-B7DC-8D9A-7BE106039811}"/>
              </a:ext>
            </a:extLst>
          </p:cNvPr>
          <p:cNvSpPr/>
          <p:nvPr/>
        </p:nvSpPr>
        <p:spPr>
          <a:xfrm>
            <a:off x="2108893" y="88599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9" name="Ovale 58">
            <a:extLst>
              <a:ext uri="{FF2B5EF4-FFF2-40B4-BE49-F238E27FC236}">
                <a16:creationId xmlns:a16="http://schemas.microsoft.com/office/drawing/2014/main" id="{B1237167-182A-C512-D239-CBB916C99650}"/>
              </a:ext>
            </a:extLst>
          </p:cNvPr>
          <p:cNvSpPr/>
          <p:nvPr/>
        </p:nvSpPr>
        <p:spPr>
          <a:xfrm>
            <a:off x="2102079" y="1126028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0" name="Ovale 59">
            <a:extLst>
              <a:ext uri="{FF2B5EF4-FFF2-40B4-BE49-F238E27FC236}">
                <a16:creationId xmlns:a16="http://schemas.microsoft.com/office/drawing/2014/main" id="{6285E3A1-81E2-7395-C727-7908FF55DC73}"/>
              </a:ext>
            </a:extLst>
          </p:cNvPr>
          <p:cNvSpPr/>
          <p:nvPr/>
        </p:nvSpPr>
        <p:spPr>
          <a:xfrm>
            <a:off x="2101167" y="1360315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1" name="Ovale 60">
            <a:extLst>
              <a:ext uri="{FF2B5EF4-FFF2-40B4-BE49-F238E27FC236}">
                <a16:creationId xmlns:a16="http://schemas.microsoft.com/office/drawing/2014/main" id="{B1E22940-0BC5-44DF-81E2-F142E4440CBF}"/>
              </a:ext>
            </a:extLst>
          </p:cNvPr>
          <p:cNvSpPr/>
          <p:nvPr/>
        </p:nvSpPr>
        <p:spPr>
          <a:xfrm>
            <a:off x="2108893" y="645846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6" name="Ovale 65">
            <a:extLst>
              <a:ext uri="{FF2B5EF4-FFF2-40B4-BE49-F238E27FC236}">
                <a16:creationId xmlns:a16="http://schemas.microsoft.com/office/drawing/2014/main" id="{1F57BA00-62F4-193D-E73F-827C49852ABB}"/>
              </a:ext>
            </a:extLst>
          </p:cNvPr>
          <p:cNvSpPr/>
          <p:nvPr/>
        </p:nvSpPr>
        <p:spPr>
          <a:xfrm>
            <a:off x="2850740" y="99987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7" name="Ovale 66">
            <a:extLst>
              <a:ext uri="{FF2B5EF4-FFF2-40B4-BE49-F238E27FC236}">
                <a16:creationId xmlns:a16="http://schemas.microsoft.com/office/drawing/2014/main" id="{B4242FB7-0293-E576-A214-4B82A9B0F11C}"/>
              </a:ext>
            </a:extLst>
          </p:cNvPr>
          <p:cNvSpPr/>
          <p:nvPr/>
        </p:nvSpPr>
        <p:spPr>
          <a:xfrm>
            <a:off x="2505279" y="754950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8" name="Ovale 67">
            <a:extLst>
              <a:ext uri="{FF2B5EF4-FFF2-40B4-BE49-F238E27FC236}">
                <a16:creationId xmlns:a16="http://schemas.microsoft.com/office/drawing/2014/main" id="{144F964E-4EB2-B405-0133-AB77B7FA766A}"/>
              </a:ext>
            </a:extLst>
          </p:cNvPr>
          <p:cNvSpPr/>
          <p:nvPr/>
        </p:nvSpPr>
        <p:spPr>
          <a:xfrm>
            <a:off x="2501469" y="1017167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Ovale 68">
            <a:extLst>
              <a:ext uri="{FF2B5EF4-FFF2-40B4-BE49-F238E27FC236}">
                <a16:creationId xmlns:a16="http://schemas.microsoft.com/office/drawing/2014/main" id="{25E35D3D-AE57-4B05-BABF-5332F26FD78C}"/>
              </a:ext>
            </a:extLst>
          </p:cNvPr>
          <p:cNvSpPr/>
          <p:nvPr/>
        </p:nvSpPr>
        <p:spPr>
          <a:xfrm>
            <a:off x="2504009" y="1240072"/>
            <a:ext cx="180000" cy="18000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07497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1" fill="hold">
                      <p:stCondLst>
                        <p:cond delay="indefinite"/>
                      </p:stCondLst>
                      <p:childTnLst>
                        <p:par>
                          <p:cTn id="142" fill="hold">
                            <p:stCondLst>
                              <p:cond delay="0"/>
                            </p:stCondLst>
                            <p:childTnLst>
                              <p:par>
                                <p:cTn id="1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3" grpId="0"/>
      <p:bldP spid="4" grpId="0"/>
      <p:bldP spid="5" grpId="0"/>
      <p:bldP spid="9" grpId="0"/>
      <p:bldP spid="14" grpId="0"/>
      <p:bldP spid="18" grpId="0"/>
      <p:bldP spid="19" grpId="0"/>
      <p:bldP spid="20" grpId="0"/>
      <p:bldP spid="23" grpId="0"/>
      <p:bldP spid="24" grpId="0"/>
      <p:bldP spid="48" grpId="0"/>
      <p:bldP spid="54" grpId="0"/>
      <p:bldP spid="55" grpId="0"/>
      <p:bldP spid="2" grpId="0"/>
      <p:bldP spid="22" grpId="0"/>
      <p:bldP spid="38" grpId="0" animBg="1"/>
      <p:bldP spid="39" grpId="0" animBg="1"/>
      <p:bldP spid="43" grpId="0" animBg="1"/>
      <p:bldP spid="58" grpId="0" animBg="1"/>
      <p:bldP spid="59" grpId="0" animBg="1"/>
      <p:bldP spid="60" grpId="0" animBg="1"/>
      <p:bldP spid="61" grpId="0" animBg="1"/>
      <p:bldP spid="66" grpId="0" animBg="1"/>
      <p:bldP spid="67" grpId="0" animBg="1"/>
      <p:bldP spid="68" grpId="0" animBg="1"/>
      <p:bldP spid="69" grpId="0" animBg="1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magine 14">
            <a:extLst>
              <a:ext uri="{FF2B5EF4-FFF2-40B4-BE49-F238E27FC236}">
                <a16:creationId xmlns:a16="http://schemas.microsoft.com/office/drawing/2014/main" id="{AD999A0C-A454-4641-56F5-DBA5A8BD7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88396" y="4423680"/>
            <a:ext cx="2605476" cy="982904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354D4B41-893F-FF18-14A7-E86464D06A4B}"/>
              </a:ext>
            </a:extLst>
          </p:cNvPr>
          <p:cNvSpPr txBox="1"/>
          <p:nvPr/>
        </p:nvSpPr>
        <p:spPr>
          <a:xfrm>
            <a:off x="8661827" y="5673131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6DA2688E-22DB-C0DA-2E1A-E166A4ADF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0" y="3916772"/>
            <a:ext cx="3421677" cy="2941228"/>
          </a:xfrm>
          <a:prstGeom prst="rect">
            <a:avLst/>
          </a:prstGeom>
        </p:spPr>
      </p:pic>
      <p:grpSp>
        <p:nvGrpSpPr>
          <p:cNvPr id="12" name="Gruppo 11">
            <a:extLst>
              <a:ext uri="{FF2B5EF4-FFF2-40B4-BE49-F238E27FC236}">
                <a16:creationId xmlns:a16="http://schemas.microsoft.com/office/drawing/2014/main" id="{B2EDFD89-48F0-FE94-BCE7-7FD3B8CEF332}"/>
              </a:ext>
            </a:extLst>
          </p:cNvPr>
          <p:cNvGrpSpPr/>
          <p:nvPr/>
        </p:nvGrpSpPr>
        <p:grpSpPr>
          <a:xfrm>
            <a:off x="254343" y="3730492"/>
            <a:ext cx="3855839" cy="3077988"/>
            <a:chOff x="254343" y="3923814"/>
            <a:chExt cx="3718903" cy="2884666"/>
          </a:xfrm>
        </p:grpSpPr>
        <p:pic>
          <p:nvPicPr>
            <p:cNvPr id="4" name="Immagine 3">
              <a:extLst>
                <a:ext uri="{FF2B5EF4-FFF2-40B4-BE49-F238E27FC236}">
                  <a16:creationId xmlns:a16="http://schemas.microsoft.com/office/drawing/2014/main" id="{BB3C2F52-4204-383C-1E25-8A24C69CA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254343" y="4108480"/>
              <a:ext cx="3718903" cy="2700000"/>
            </a:xfrm>
            <a:prstGeom prst="rect">
              <a:avLst/>
            </a:prstGeom>
          </p:spPr>
        </p:pic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B3D23749-DE3F-268C-30D2-C5139678F3DE}"/>
                </a:ext>
              </a:extLst>
            </p:cNvPr>
            <p:cNvSpPr txBox="1"/>
            <p:nvPr/>
          </p:nvSpPr>
          <p:spPr>
            <a:xfrm>
              <a:off x="718446" y="3923814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Input</a:t>
              </a:r>
            </a:p>
          </p:txBody>
        </p:sp>
        <p:sp>
          <p:nvSpPr>
            <p:cNvPr id="11" name="CasellaDiTesto 10">
              <a:extLst>
                <a:ext uri="{FF2B5EF4-FFF2-40B4-BE49-F238E27FC236}">
                  <a16:creationId xmlns:a16="http://schemas.microsoft.com/office/drawing/2014/main" id="{1518AE30-46D7-45AA-092F-8FEAE47A2A61}"/>
                </a:ext>
              </a:extLst>
            </p:cNvPr>
            <p:cNvSpPr txBox="1"/>
            <p:nvPr/>
          </p:nvSpPr>
          <p:spPr>
            <a:xfrm>
              <a:off x="2321344" y="4478774"/>
              <a:ext cx="141224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it-IT" b="1" dirty="0">
                  <a:latin typeface="Book Antiqua" panose="02040602050305030304" pitchFamily="18" charset="0"/>
                </a:rPr>
                <a:t>Output</a:t>
              </a:r>
            </a:p>
          </p:txBody>
        </p:sp>
      </p:grp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CE021267-A76C-D48D-774D-D2FEA09C6338}"/>
              </a:ext>
            </a:extLst>
          </p:cNvPr>
          <p:cNvSpPr txBox="1"/>
          <p:nvPr/>
        </p:nvSpPr>
        <p:spPr>
          <a:xfrm>
            <a:off x="3226754" y="5974475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19439E8E-69C0-D331-43E0-542CEEF937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724" y="0"/>
            <a:ext cx="8134618" cy="3002280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923A10A0-A854-346D-5922-5A282C5C9FFA}"/>
              </a:ext>
            </a:extLst>
          </p:cNvPr>
          <p:cNvSpPr txBox="1"/>
          <p:nvPr/>
        </p:nvSpPr>
        <p:spPr>
          <a:xfrm>
            <a:off x="2692325" y="2542229"/>
            <a:ext cx="21210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Input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(or </a:t>
            </a:r>
            <a:r>
              <a:rPr lang="it-IT" dirty="0" err="1">
                <a:latin typeface="Book Antiqua" panose="02040602050305030304" pitchFamily="18" charset="0"/>
              </a:rPr>
              <a:t>previous</a:t>
            </a:r>
            <a:r>
              <a:rPr lang="it-IT" dirty="0">
                <a:latin typeface="Book Antiqua" panose="02040602050305030304" pitchFamily="18" charset="0"/>
              </a:rPr>
              <a:t> </a:t>
            </a:r>
            <a:r>
              <a:rPr lang="it-IT" dirty="0" err="1">
                <a:latin typeface="Book Antiqua" panose="02040602050305030304" pitchFamily="18" charset="0"/>
              </a:rPr>
              <a:t>layer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F89B00F-771D-D0D6-66F0-B9FE362C3CAF}"/>
              </a:ext>
            </a:extLst>
          </p:cNvPr>
          <p:cNvSpPr txBox="1"/>
          <p:nvPr/>
        </p:nvSpPr>
        <p:spPr>
          <a:xfrm>
            <a:off x="5587837" y="2125924"/>
            <a:ext cx="11721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Kernel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(weights)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AF831536-F254-CF43-8F6C-52B922C8B1F2}"/>
              </a:ext>
            </a:extLst>
          </p:cNvPr>
          <p:cNvSpPr txBox="1"/>
          <p:nvPr/>
        </p:nvSpPr>
        <p:spPr>
          <a:xfrm>
            <a:off x="8470854" y="3002280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b="1" dirty="0">
                <a:latin typeface="Book Antiqua" panose="02040602050305030304" pitchFamily="18" charset="0"/>
              </a:rPr>
              <a:t>Output</a:t>
            </a:r>
          </a:p>
          <a:p>
            <a:pPr algn="ctr"/>
            <a:r>
              <a:rPr lang="it-IT" dirty="0">
                <a:latin typeface="Book Antiqua" panose="02040602050305030304" pitchFamily="18" charset="0"/>
              </a:rPr>
              <a:t>(</a:t>
            </a:r>
            <a:r>
              <a:rPr lang="it-IT" dirty="0" err="1">
                <a:latin typeface="Book Antiqua" panose="02040602050305030304" pitchFamily="18" charset="0"/>
              </a:rPr>
              <a:t>convolution</a:t>
            </a:r>
            <a:r>
              <a:rPr lang="it-IT" dirty="0">
                <a:latin typeface="Book Antiqua" panose="02040602050305030304" pitchFamily="18" charset="0"/>
              </a:rPr>
              <a:t>)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5D77EE5D-F9A0-0444-5DE0-9A6D5045AA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477" y="3961992"/>
            <a:ext cx="3186761" cy="2700000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0F9B9B20-0261-0109-9115-EF9FEB53C781}"/>
              </a:ext>
            </a:extLst>
          </p:cNvPr>
          <p:cNvSpPr txBox="1"/>
          <p:nvPr/>
        </p:nvSpPr>
        <p:spPr>
          <a:xfrm>
            <a:off x="84287" y="759911"/>
            <a:ext cx="30477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7"/>
              </a:rPr>
              <a:t>Deep Learning, Bishop 2024</a:t>
            </a:r>
            <a:endParaRPr lang="it-IT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0BDB8328-3DB9-C307-8BC0-BF6FC11EBA96}"/>
              </a:ext>
            </a:extLst>
          </p:cNvPr>
          <p:cNvSpPr txBox="1"/>
          <p:nvPr/>
        </p:nvSpPr>
        <p:spPr>
          <a:xfrm>
            <a:off x="4291231" y="3546517"/>
            <a:ext cx="40277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We</a:t>
            </a:r>
            <a:r>
              <a:rPr lang="it-IT" dirty="0"/>
              <a:t> can </a:t>
            </a:r>
            <a:r>
              <a:rPr lang="it-IT" dirty="0" err="1"/>
              <a:t>adjust</a:t>
            </a:r>
            <a:r>
              <a:rPr lang="it-IT" dirty="0"/>
              <a:t> (set)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parameters</a:t>
            </a:r>
            <a:endParaRPr lang="it-IT" dirty="0"/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Activaction</a:t>
            </a:r>
            <a:r>
              <a:rPr lang="it-IT" dirty="0"/>
              <a:t> </a:t>
            </a:r>
            <a:r>
              <a:rPr lang="it-IT" dirty="0" err="1"/>
              <a:t>function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47483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CasellaDiTesto 31">
            <a:extLst>
              <a:ext uri="{FF2B5EF4-FFF2-40B4-BE49-F238E27FC236}">
                <a16:creationId xmlns:a16="http://schemas.microsoft.com/office/drawing/2014/main" id="{70D898C2-42B9-BEBA-4301-4D24331121CC}"/>
              </a:ext>
            </a:extLst>
          </p:cNvPr>
          <p:cNvSpPr txBox="1"/>
          <p:nvPr/>
        </p:nvSpPr>
        <p:spPr>
          <a:xfrm>
            <a:off x="6909271" y="1508304"/>
            <a:ext cx="1762126" cy="923330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E9199C7-12B3-5641-DBCB-8D272DD448E0}"/>
              </a:ext>
            </a:extLst>
          </p:cNvPr>
          <p:cNvSpPr txBox="1"/>
          <p:nvPr/>
        </p:nvSpPr>
        <p:spPr>
          <a:xfrm>
            <a:off x="6909271" y="1508305"/>
            <a:ext cx="1762126" cy="923330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Fully</a:t>
            </a:r>
            <a:endParaRPr lang="it-IT" b="1" dirty="0">
              <a:latin typeface="Georgia" panose="02040502050405020303" pitchFamily="18" charset="0"/>
            </a:endParaRPr>
          </a:p>
          <a:p>
            <a:pPr algn="ctr"/>
            <a:r>
              <a:rPr lang="it-IT" b="1" dirty="0" err="1">
                <a:latin typeface="Georgia" panose="02040502050405020303" pitchFamily="18" charset="0"/>
              </a:rPr>
              <a:t>Connected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78E17394-287E-490E-D376-E8834094CB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35" y="-78508"/>
            <a:ext cx="3421677" cy="3002540"/>
          </a:xfrm>
          <a:prstGeom prst="rect">
            <a:avLst/>
          </a:prstGeom>
        </p:spPr>
      </p:pic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557DED67-CD22-FF62-3D1D-B2CC8DF3E11E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033E41D-1CA6-7FC2-41B2-5370161DD731}"/>
              </a:ext>
            </a:extLst>
          </p:cNvPr>
          <p:cNvSpPr txBox="1"/>
          <p:nvPr/>
        </p:nvSpPr>
        <p:spPr>
          <a:xfrm>
            <a:off x="3261802" y="1662546"/>
            <a:ext cx="1907581" cy="646331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latin typeface="Georgia" panose="02040502050405020303" pitchFamily="18" charset="0"/>
              </a:rPr>
              <a:t>Convolutional</a:t>
            </a:r>
            <a:r>
              <a:rPr lang="it-IT" b="1" dirty="0">
                <a:latin typeface="Georgia" panose="02040502050405020303" pitchFamily="18" charset="0"/>
              </a:rPr>
              <a:t> Layer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CB80585-154F-AB57-4004-E6BD17B34E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1" y="1508304"/>
            <a:ext cx="2605476" cy="982904"/>
          </a:xfrm>
          <a:prstGeom prst="rect">
            <a:avLst/>
          </a:prstGeom>
        </p:spPr>
      </p:pic>
      <p:grpSp>
        <p:nvGrpSpPr>
          <p:cNvPr id="13" name="Gruppo 12">
            <a:extLst>
              <a:ext uri="{FF2B5EF4-FFF2-40B4-BE49-F238E27FC236}">
                <a16:creationId xmlns:a16="http://schemas.microsoft.com/office/drawing/2014/main" id="{F7D9FA2C-69DC-EFCA-2F7D-D524F7AAE319}"/>
              </a:ext>
            </a:extLst>
          </p:cNvPr>
          <p:cNvGrpSpPr/>
          <p:nvPr/>
        </p:nvGrpSpPr>
        <p:grpSpPr>
          <a:xfrm>
            <a:off x="3983945" y="148478"/>
            <a:ext cx="4224109" cy="930431"/>
            <a:chOff x="7634679" y="1303727"/>
            <a:chExt cx="4224109" cy="930431"/>
          </a:xfrm>
        </p:grpSpPr>
        <p:sp>
          <p:nvSpPr>
            <p:cNvPr id="15" name="CasellaDiTesto 14">
              <a:extLst>
                <a:ext uri="{FF2B5EF4-FFF2-40B4-BE49-F238E27FC236}">
                  <a16:creationId xmlns:a16="http://schemas.microsoft.com/office/drawing/2014/main" id="{14692E01-3D69-EE73-B962-FD41267A4166}"/>
                </a:ext>
              </a:extLst>
            </p:cNvPr>
            <p:cNvSpPr txBox="1"/>
            <p:nvPr/>
          </p:nvSpPr>
          <p:spPr>
            <a:xfrm>
              <a:off x="7634679" y="1307064"/>
              <a:ext cx="73342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it-IT" dirty="0"/>
                <a:t>Data</a:t>
              </a:r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B6F652C4-8FC1-2977-0CE4-5223FE0FE390}"/>
                </a:ext>
              </a:extLst>
            </p:cNvPr>
            <p:cNvSpPr txBox="1"/>
            <p:nvPr/>
          </p:nvSpPr>
          <p:spPr>
            <a:xfrm>
              <a:off x="8334164" y="1864826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Model</a:t>
              </a:r>
              <a:endParaRPr lang="it-IT" sz="300" dirty="0"/>
            </a:p>
          </p:txBody>
        </p:sp>
        <p:sp>
          <p:nvSpPr>
            <p:cNvPr id="18" name="CasellaDiTesto 17">
              <a:extLst>
                <a:ext uri="{FF2B5EF4-FFF2-40B4-BE49-F238E27FC236}">
                  <a16:creationId xmlns:a16="http://schemas.microsoft.com/office/drawing/2014/main" id="{3F1FA813-D66F-37B5-AF52-5E2804535393}"/>
                </a:ext>
              </a:extLst>
            </p:cNvPr>
            <p:cNvSpPr txBox="1"/>
            <p:nvPr/>
          </p:nvSpPr>
          <p:spPr>
            <a:xfrm>
              <a:off x="10422593" y="1307064"/>
              <a:ext cx="1110265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/>
                <a:t>Loss</a:t>
              </a:r>
              <a:endParaRPr lang="it-IT" sz="300" dirty="0"/>
            </a:p>
          </p:txBody>
        </p:sp>
        <p:sp>
          <p:nvSpPr>
            <p:cNvPr id="19" name="CasellaDiTesto 18">
              <a:extLst>
                <a:ext uri="{FF2B5EF4-FFF2-40B4-BE49-F238E27FC236}">
                  <a16:creationId xmlns:a16="http://schemas.microsoft.com/office/drawing/2014/main" id="{2E701217-D731-EC3D-4D73-DCB269F03D68}"/>
                </a:ext>
              </a:extLst>
            </p:cNvPr>
            <p:cNvSpPr txBox="1"/>
            <p:nvPr/>
          </p:nvSpPr>
          <p:spPr>
            <a:xfrm>
              <a:off x="10096662" y="1864649"/>
              <a:ext cx="1762126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en-CA" noProof="0" dirty="0"/>
                <a:t>Weight</a:t>
              </a:r>
              <a:r>
                <a:rPr lang="it-IT" dirty="0"/>
                <a:t> update</a:t>
              </a:r>
              <a:endParaRPr lang="it-IT" sz="300" dirty="0"/>
            </a:p>
          </p:txBody>
        </p:sp>
        <p:cxnSp>
          <p:nvCxnSpPr>
            <p:cNvPr id="20" name="Connettore 2 19">
              <a:extLst>
                <a:ext uri="{FF2B5EF4-FFF2-40B4-BE49-F238E27FC236}">
                  <a16:creationId xmlns:a16="http://schemas.microsoft.com/office/drawing/2014/main" id="{FD523230-26E3-AF59-2880-924707412F85}"/>
                </a:ext>
              </a:extLst>
            </p:cNvPr>
            <p:cNvCxnSpPr>
              <a:cxnSpLocks/>
              <a:stCxn id="18" idx="2"/>
              <a:endCxn id="19" idx="0"/>
            </p:cNvCxnSpPr>
            <p:nvPr/>
          </p:nvCxnSpPr>
          <p:spPr>
            <a:xfrm flipH="1">
              <a:off x="10977725" y="1676396"/>
              <a:ext cx="1" cy="18825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nettore 2 20">
              <a:extLst>
                <a:ext uri="{FF2B5EF4-FFF2-40B4-BE49-F238E27FC236}">
                  <a16:creationId xmlns:a16="http://schemas.microsoft.com/office/drawing/2014/main" id="{36C095D6-3E39-AD43-5C01-9BAA99852053}"/>
                </a:ext>
              </a:extLst>
            </p:cNvPr>
            <p:cNvCxnSpPr>
              <a:cxnSpLocks/>
              <a:stCxn id="19" idx="1"/>
              <a:endCxn id="17" idx="3"/>
            </p:cNvCxnSpPr>
            <p:nvPr/>
          </p:nvCxnSpPr>
          <p:spPr>
            <a:xfrm flipH="1">
              <a:off x="9444429" y="2049315"/>
              <a:ext cx="652233" cy="17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4CAD85F7-D76B-64BC-C989-BD183232AE71}"/>
                </a:ext>
              </a:extLst>
            </p:cNvPr>
            <p:cNvCxnSpPr>
              <a:cxnSpLocks/>
              <a:stCxn id="15" idx="3"/>
              <a:endCxn id="24" idx="1"/>
            </p:cNvCxnSpPr>
            <p:nvPr/>
          </p:nvCxnSpPr>
          <p:spPr>
            <a:xfrm flipV="1">
              <a:off x="8368104" y="1488393"/>
              <a:ext cx="516832" cy="333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Connettore a gomito 22">
              <a:extLst>
                <a:ext uri="{FF2B5EF4-FFF2-40B4-BE49-F238E27FC236}">
                  <a16:creationId xmlns:a16="http://schemas.microsoft.com/office/drawing/2014/main" id="{8290E9B2-5E7D-830C-7B52-3977467BF149}"/>
                </a:ext>
              </a:extLst>
            </p:cNvPr>
            <p:cNvCxnSpPr>
              <a:cxnSpLocks/>
              <a:stCxn id="17" idx="0"/>
              <a:endCxn id="24" idx="1"/>
            </p:cNvCxnSpPr>
            <p:nvPr/>
          </p:nvCxnSpPr>
          <p:spPr>
            <a:xfrm rot="16200000" flipV="1">
              <a:off x="8698901" y="1674429"/>
              <a:ext cx="376433" cy="4361"/>
            </a:xfrm>
            <a:prstGeom prst="bentConnector4">
              <a:avLst>
                <a:gd name="adj1" fmla="val 25471"/>
                <a:gd name="adj2" fmla="val 6322701"/>
              </a:avLst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CasellaDiTesto 23">
              <a:extLst>
                <a:ext uri="{FF2B5EF4-FFF2-40B4-BE49-F238E27FC236}">
                  <a16:creationId xmlns:a16="http://schemas.microsoft.com/office/drawing/2014/main" id="{7CB402F6-68DD-0DB7-1655-A20318C14C8C}"/>
                </a:ext>
              </a:extLst>
            </p:cNvPr>
            <p:cNvSpPr txBox="1"/>
            <p:nvPr/>
          </p:nvSpPr>
          <p:spPr>
            <a:xfrm>
              <a:off x="8884936" y="1303727"/>
              <a:ext cx="1316208" cy="369332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wrap="square" anchor="ctr">
              <a:spAutoFit/>
            </a:bodyPr>
            <a:lstStyle/>
            <a:p>
              <a:pPr algn="ctr"/>
              <a:r>
                <a:rPr lang="it-IT" dirty="0" err="1"/>
                <a:t>Predictions</a:t>
              </a:r>
              <a:endParaRPr lang="it-IT" sz="300" dirty="0"/>
            </a:p>
          </p:txBody>
        </p:sp>
        <p:cxnSp>
          <p:nvCxnSpPr>
            <p:cNvPr id="25" name="Connettore 2 24">
              <a:extLst>
                <a:ext uri="{FF2B5EF4-FFF2-40B4-BE49-F238E27FC236}">
                  <a16:creationId xmlns:a16="http://schemas.microsoft.com/office/drawing/2014/main" id="{0B6BCD8B-A389-A72F-4256-AA0C59C63CE8}"/>
                </a:ext>
              </a:extLst>
            </p:cNvPr>
            <p:cNvCxnSpPr>
              <a:cxnSpLocks/>
              <a:stCxn id="24" idx="3"/>
              <a:endCxn id="18" idx="1"/>
            </p:cNvCxnSpPr>
            <p:nvPr/>
          </p:nvCxnSpPr>
          <p:spPr>
            <a:xfrm>
              <a:off x="10201144" y="1488393"/>
              <a:ext cx="221449" cy="333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3E1AFAFC-3E92-7B6C-EB5D-57671341D9C6}"/>
              </a:ext>
            </a:extLst>
          </p:cNvPr>
          <p:cNvSpPr txBox="1"/>
          <p:nvPr/>
        </p:nvSpPr>
        <p:spPr>
          <a:xfrm>
            <a:off x="4683430" y="708307"/>
            <a:ext cx="1110265" cy="369332"/>
          </a:xfrm>
          <a:prstGeom prst="rect">
            <a:avLst/>
          </a:prstGeom>
          <a:solidFill>
            <a:srgbClr val="FFC000"/>
          </a:solidFill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anchor="ctr">
            <a:spAutoFit/>
          </a:bodyPr>
          <a:lstStyle/>
          <a:p>
            <a:pPr algn="ctr"/>
            <a:r>
              <a:rPr lang="it-IT" dirty="0"/>
              <a:t>Model</a:t>
            </a:r>
            <a:endParaRPr lang="it-IT" sz="300" dirty="0"/>
          </a:p>
        </p:txBody>
      </p:sp>
      <p:cxnSp>
        <p:nvCxnSpPr>
          <p:cNvPr id="30" name="Connettore diritto 29">
            <a:extLst>
              <a:ext uri="{FF2B5EF4-FFF2-40B4-BE49-F238E27FC236}">
                <a16:creationId xmlns:a16="http://schemas.microsoft.com/office/drawing/2014/main" id="{205EB938-F4B4-91C8-A09E-3F39B2795460}"/>
              </a:ext>
            </a:extLst>
          </p:cNvPr>
          <p:cNvCxnSpPr>
            <a:cxnSpLocks/>
          </p:cNvCxnSpPr>
          <p:nvPr/>
        </p:nvCxnSpPr>
        <p:spPr>
          <a:xfrm flipH="1">
            <a:off x="6080702" y="1662546"/>
            <a:ext cx="15298" cy="50278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AEFBE3-51A2-FE80-8C2B-094629BEEB1D}"/>
              </a:ext>
            </a:extLst>
          </p:cNvPr>
          <p:cNvSpPr txBox="1"/>
          <p:nvPr/>
        </p:nvSpPr>
        <p:spPr>
          <a:xfrm>
            <a:off x="6200254" y="2912831"/>
            <a:ext cx="6032421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Global connectivity</a:t>
            </a:r>
          </a:p>
          <a:p>
            <a:r>
              <a:rPr lang="en-US" dirty="0"/>
              <a:t>Every unit is connected to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all ones </a:t>
            </a:r>
            <a:r>
              <a:rPr lang="en-US" dirty="0"/>
              <a:t>in the previous layer</a:t>
            </a:r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No structure assumptions</a:t>
            </a:r>
          </a:p>
          <a:p>
            <a:r>
              <a:rPr lang="en-US" dirty="0"/>
              <a:t>The model does not assume local relationships of inputs</a:t>
            </a:r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Sensitive to input ordering</a:t>
            </a:r>
          </a:p>
          <a:p>
            <a:r>
              <a:rPr lang="en-US" dirty="0"/>
              <a:t>Changing the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order</a:t>
            </a:r>
            <a:r>
              <a:rPr lang="en-US" dirty="0"/>
              <a:t> of input features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changes the result</a:t>
            </a:r>
          </a:p>
          <a:p>
            <a:endParaRPr lang="it-IT" sz="600" dirty="0"/>
          </a:p>
          <a:p>
            <a:endParaRPr lang="it-IT" sz="600" dirty="0"/>
          </a:p>
          <a:p>
            <a:endParaRPr lang="it-IT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Feature learning is global</a:t>
            </a:r>
          </a:p>
          <a:p>
            <a:r>
              <a:rPr lang="en-US" dirty="0"/>
              <a:t>Each neuron mixes information from the </a:t>
            </a:r>
            <a:r>
              <a:rPr lang="en-US" b="1" dirty="0">
                <a:solidFill>
                  <a:srgbClr val="00B0F0"/>
                </a:solidFill>
              </a:rPr>
              <a:t>entire input</a:t>
            </a:r>
            <a:endParaRPr lang="it-IT" sz="600" b="1" dirty="0">
              <a:solidFill>
                <a:srgbClr val="00B0F0"/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endParaRPr lang="it-IT" sz="600" b="1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Large number of parameters</a:t>
            </a:r>
          </a:p>
          <a:p>
            <a:r>
              <a:rPr lang="en-US" dirty="0"/>
              <a:t>Poor with </a:t>
            </a:r>
            <a:r>
              <a:rPr lang="en-US" b="1" dirty="0">
                <a:solidFill>
                  <a:srgbClr val="00B0F0"/>
                </a:solidFill>
              </a:rPr>
              <a:t>high-dimensional</a:t>
            </a:r>
            <a:r>
              <a:rPr lang="en-US" dirty="0"/>
              <a:t> inputs (e.g., images) 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36072CD2-67DF-082F-659D-A44B66FF0DE9}"/>
              </a:ext>
            </a:extLst>
          </p:cNvPr>
          <p:cNvSpPr txBox="1"/>
          <p:nvPr/>
        </p:nvSpPr>
        <p:spPr>
          <a:xfrm>
            <a:off x="-9427" y="2912831"/>
            <a:ext cx="6090129" cy="38318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Local connectivity </a:t>
            </a:r>
            <a:r>
              <a:rPr lang="en-US" dirty="0"/>
              <a:t>(receptive fields)</a:t>
            </a:r>
          </a:p>
          <a:p>
            <a:r>
              <a:rPr lang="en-US" dirty="0"/>
              <a:t>Each unit is connected only to a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local region </a:t>
            </a:r>
            <a:r>
              <a:rPr lang="en-US" dirty="0"/>
              <a:t>of the input </a:t>
            </a:r>
          </a:p>
          <a:p>
            <a:r>
              <a:rPr lang="en-US" dirty="0"/>
              <a:t>(Assumes nearby elements (ex. pixels) are more related)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Parameter sharing </a:t>
            </a:r>
            <a:r>
              <a:rPr lang="en-US" dirty="0"/>
              <a:t>(filters/</a:t>
            </a:r>
            <a:r>
              <a:rPr lang="en-US" b="1" dirty="0">
                <a:solidFill>
                  <a:srgbClr val="FF0000"/>
                </a:solidFill>
              </a:rPr>
              <a:t>kernels</a:t>
            </a:r>
            <a:r>
              <a:rPr lang="en-US" dirty="0"/>
              <a:t>)</a:t>
            </a:r>
          </a:p>
          <a:p>
            <a:r>
              <a:rPr lang="en-US" dirty="0"/>
              <a:t>The same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weights</a:t>
            </a:r>
            <a:r>
              <a:rPr lang="en-US" dirty="0"/>
              <a:t> are </a:t>
            </a:r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reused</a:t>
            </a:r>
            <a:r>
              <a:rPr lang="en-US" dirty="0"/>
              <a:t> → fewer parameters </a:t>
            </a:r>
          </a:p>
          <a:p>
            <a:endParaRPr lang="en-US" sz="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Translation “invariant”</a:t>
            </a:r>
          </a:p>
          <a:p>
            <a:r>
              <a:rPr lang="en-US" dirty="0"/>
              <a:t>When shifting input (e.g., moving an object in an image) </a:t>
            </a:r>
          </a:p>
          <a:p>
            <a:r>
              <a:rPr lang="en-US" dirty="0"/>
              <a:t>patterns can still be detected</a:t>
            </a:r>
          </a:p>
          <a:p>
            <a:r>
              <a:rPr lang="en-US" sz="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Hierarchical feature learning</a:t>
            </a:r>
          </a:p>
          <a:p>
            <a:r>
              <a:rPr lang="en-US" dirty="0"/>
              <a:t>Early layers detect simple </a:t>
            </a:r>
            <a:r>
              <a:rPr lang="en-US" b="1" dirty="0">
                <a:solidFill>
                  <a:srgbClr val="00B0F0"/>
                </a:solidFill>
              </a:rPr>
              <a:t>features </a:t>
            </a:r>
            <a:r>
              <a:rPr lang="en-US" dirty="0"/>
              <a:t>(an eye in an image) </a:t>
            </a:r>
          </a:p>
          <a:p>
            <a:r>
              <a:rPr lang="en-US" dirty="0"/>
              <a:t>Deep layers detect complex </a:t>
            </a:r>
            <a:r>
              <a:rPr lang="en-US" b="1" dirty="0">
                <a:solidFill>
                  <a:srgbClr val="00B0F0"/>
                </a:solidFill>
              </a:rPr>
              <a:t>patterns </a:t>
            </a:r>
            <a:r>
              <a:rPr lang="en-US" dirty="0"/>
              <a:t>(an entire person)</a:t>
            </a:r>
          </a:p>
          <a:p>
            <a:endParaRPr lang="en-US" sz="600" dirty="0"/>
          </a:p>
          <a:p>
            <a:endParaRPr lang="en-US" sz="3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Much fewer parameters than fully connected layers</a:t>
            </a:r>
          </a:p>
        </p:txBody>
      </p:sp>
    </p:spTree>
    <p:extLst>
      <p:ext uri="{BB962C8B-B14F-4D97-AF65-F5344CB8AC3E}">
        <p14:creationId xmlns:p14="http://schemas.microsoft.com/office/powerpoint/2010/main" val="1523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26D9FD0-5E7A-806F-7738-F5C179FB2C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2038" y="1039929"/>
            <a:ext cx="5433531" cy="310160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/>
              <p:nvPr/>
            </p:nvSpPr>
            <p:spPr>
              <a:xfrm>
                <a:off x="1592795" y="4204527"/>
                <a:ext cx="7121934" cy="18158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Sparse connectivity </a:t>
                </a:r>
                <a:r>
                  <a:rPr lang="en-PH" sz="2400" dirty="0"/>
                  <a:t>-</a:t>
                </a:r>
                <a:r>
                  <a:rPr lang="en-PH" sz="2000" dirty="0"/>
                  <a:t>&gt; retrieve spatial information</a:t>
                </a:r>
                <a:endParaRPr lang="en-PH" sz="2400" dirty="0"/>
              </a:p>
              <a:p>
                <a:endParaRPr lang="en-PH" sz="2400" b="1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PH" sz="2400" b="1" dirty="0"/>
                  <a:t>Weight sharing </a:t>
                </a:r>
                <a:r>
                  <a:rPr lang="en-PH" sz="2400" dirty="0"/>
                  <a:t>-------</a:t>
                </a:r>
                <a:r>
                  <a:rPr lang="en-PH" sz="2000" dirty="0"/>
                  <a:t>&gt; Translational invariance</a:t>
                </a:r>
              </a:p>
              <a:p>
                <a:pPr lvl="1"/>
                <a:r>
                  <a:rPr lang="en-PH" sz="2000" dirty="0"/>
                  <a:t>   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PH" sz="2000" dirty="0"/>
                  <a:t>)</a:t>
                </a:r>
                <a:endParaRPr lang="it-IT" sz="2000" dirty="0"/>
              </a:p>
              <a:p>
                <a:pPr lvl="1"/>
                <a:endParaRPr lang="en-PH" sz="2000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DE26804E-933A-AEFF-94B0-1FF2B1F505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92795" y="4204527"/>
                <a:ext cx="7121934" cy="1815882"/>
              </a:xfrm>
              <a:prstGeom prst="rect">
                <a:avLst/>
              </a:prstGeom>
              <a:blipFill>
                <a:blip r:embed="rId3"/>
                <a:stretch>
                  <a:fillRect l="-1112" t="-234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/>
              <p:nvPr/>
            </p:nvSpPr>
            <p:spPr>
              <a:xfrm>
                <a:off x="2254112" y="2668378"/>
                <a:ext cx="567783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800" b="1" i="1" smtClean="0">
                          <a:solidFill>
                            <a:srgbClr val="1F4291"/>
                          </a:solidFill>
                          <a:latin typeface="Cambria Math" panose="02040503050406030204" pitchFamily="18" charset="0"/>
                        </a:rPr>
                        <m:t>𝒘</m:t>
                      </m:r>
                    </m:oMath>
                  </m:oMathPara>
                </a14:m>
                <a:endParaRPr lang="it-IT" b="1" dirty="0">
                  <a:solidFill>
                    <a:srgbClr val="1F4291"/>
                  </a:solidFill>
                </a:endParaRPr>
              </a:p>
            </p:txBody>
          </p:sp>
        </mc:Choice>
        <mc:Fallback xmlns="">
          <p:sp>
            <p:nvSpPr>
              <p:cNvPr id="19" name="CasellaDiTesto 18">
                <a:extLst>
                  <a:ext uri="{FF2B5EF4-FFF2-40B4-BE49-F238E27FC236}">
                    <a16:creationId xmlns:a16="http://schemas.microsoft.com/office/drawing/2014/main" id="{BF2604CA-475F-259C-6DDC-F1F5D1F66F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4112" y="2668378"/>
                <a:ext cx="567783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6577D95-5E14-FE86-3DAE-77C5FC179719}"/>
              </a:ext>
            </a:extLst>
          </p:cNvPr>
          <p:cNvSpPr txBox="1"/>
          <p:nvPr/>
        </p:nvSpPr>
        <p:spPr>
          <a:xfrm>
            <a:off x="0" y="350575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H" sz="2400" dirty="0"/>
              <a:t>Convolutional Neural </a:t>
            </a:r>
            <a:r>
              <a:rPr lang="en-PH" sz="2400" dirty="0" err="1"/>
              <a:t>Netowrks</a:t>
            </a:r>
            <a:endParaRPr lang="en-PH" sz="2400" dirty="0"/>
          </a:p>
          <a:p>
            <a:pPr algn="ctr"/>
            <a:r>
              <a:rPr lang="en-PH" sz="2400" dirty="0"/>
              <a:t>(CNNs)</a:t>
            </a:r>
            <a:endParaRPr lang="en-PH" sz="200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D8B2EA-EBF4-A2B5-87A3-3B5D812DB12C}"/>
              </a:ext>
            </a:extLst>
          </p:cNvPr>
          <p:cNvSpPr txBox="1"/>
          <p:nvPr/>
        </p:nvSpPr>
        <p:spPr>
          <a:xfrm>
            <a:off x="184961" y="6020409"/>
            <a:ext cx="3172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/>
              <a:t>Book</a:t>
            </a:r>
          </a:p>
          <a:p>
            <a:r>
              <a:rPr lang="it-IT" dirty="0">
                <a:hlinkClick r:id="rId5"/>
              </a:rPr>
              <a:t>Deep Learning, Bishop, 2024</a:t>
            </a:r>
            <a:endParaRPr lang="it-IT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C4A8E99-ABCB-9630-77A7-0B809F92A0D4}"/>
              </a:ext>
            </a:extLst>
          </p:cNvPr>
          <p:cNvSpPr txBox="1"/>
          <p:nvPr/>
        </p:nvSpPr>
        <p:spPr>
          <a:xfrm>
            <a:off x="7752371" y="1437272"/>
            <a:ext cx="402770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We</a:t>
            </a:r>
            <a:r>
              <a:rPr lang="it-IT" dirty="0"/>
              <a:t> can </a:t>
            </a:r>
            <a:r>
              <a:rPr lang="it-IT" dirty="0" err="1"/>
              <a:t>adjust</a:t>
            </a:r>
            <a:r>
              <a:rPr lang="it-IT" dirty="0"/>
              <a:t> (set) </a:t>
            </a:r>
            <a:r>
              <a:rPr lang="it-IT" dirty="0" err="1"/>
              <a:t>these</a:t>
            </a:r>
            <a:r>
              <a:rPr lang="it-IT" dirty="0"/>
              <a:t> </a:t>
            </a:r>
            <a:r>
              <a:rPr lang="it-IT" dirty="0" err="1"/>
              <a:t>parameters</a:t>
            </a:r>
            <a:endParaRPr lang="it-IT" dirty="0"/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Kernel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Number of kernels (</a:t>
            </a:r>
            <a:r>
              <a:rPr lang="it-IT" dirty="0" err="1"/>
              <a:t>maps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Activaction</a:t>
            </a:r>
            <a:r>
              <a:rPr lang="it-IT" dirty="0"/>
              <a:t> </a:t>
            </a:r>
            <a:r>
              <a:rPr lang="it-IT" dirty="0" err="1"/>
              <a:t>function</a:t>
            </a:r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502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AAE7C8F5-99C1-8A20-5965-484531401B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78193" y="134551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6077310E-E5C2-C975-73E2-66AD0FB564F1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B9964B3-637F-16D1-3F17-426BA5B851E8}"/>
              </a:ext>
            </a:extLst>
          </p:cNvPr>
          <p:cNvSpPr txBox="1"/>
          <p:nvPr/>
        </p:nvSpPr>
        <p:spPr>
          <a:xfrm>
            <a:off x="64652" y="1166842"/>
            <a:ext cx="79629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Deep learning frameworks are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software libraries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that make it easier to design, build, train, and deploy deep learning models, especially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neural networks.</a:t>
            </a: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Instead of starting from scratch and writing low-level code to handle things like matrix operations or GPU acceleration, these frameworks provide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ready-made tools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51468C7-6E8A-C15C-B352-DBE29E710FA6}"/>
              </a:ext>
            </a:extLst>
          </p:cNvPr>
          <p:cNvSpPr txBox="1"/>
          <p:nvPr/>
        </p:nvSpPr>
        <p:spPr>
          <a:xfrm>
            <a:off x="64651" y="3224102"/>
            <a:ext cx="755848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buNone/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They help in: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Building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layer by layer (e.g., feedforward, convolutional or recurrent)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Training models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efficiently using CPUs or GPUs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Visualizing progress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(e.g., accuracy and loss over time)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Saving and deploying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trained models to web apps, mobile devices, or servers</a:t>
            </a:r>
          </a:p>
          <a:p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3AB608-5C0F-C615-EFA3-B978EA46ADE7}"/>
              </a:ext>
            </a:extLst>
          </p:cNvPr>
          <p:cNvSpPr txBox="1"/>
          <p:nvPr/>
        </p:nvSpPr>
        <p:spPr>
          <a:xfrm>
            <a:off x="64651" y="5184136"/>
            <a:ext cx="7962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Different frameworks have different strengths. Some are great for beginners, while others offer more control and flexibility for research or large-scale applications.</a:t>
            </a:r>
            <a:endParaRPr lang="it-IT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2882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Immagine 13">
            <a:extLst>
              <a:ext uri="{FF2B5EF4-FFF2-40B4-BE49-F238E27FC236}">
                <a16:creationId xmlns:a16="http://schemas.microsoft.com/office/drawing/2014/main" id="{DCE506F5-BDE4-CCF8-DDE0-1FC0496A8B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24926" y="1496927"/>
            <a:ext cx="3742147" cy="4166966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D657D739-1771-5A07-A9C3-74F2AFF6D0A2}"/>
              </a:ext>
            </a:extLst>
          </p:cNvPr>
          <p:cNvSpPr txBox="1"/>
          <p:nvPr/>
        </p:nvSpPr>
        <p:spPr>
          <a:xfrm>
            <a:off x="0" y="111441"/>
            <a:ext cx="12192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1D61E142-0DEE-C6A8-3C03-8583984C2993}"/>
              </a:ext>
            </a:extLst>
          </p:cNvPr>
          <p:cNvSpPr txBox="1"/>
          <p:nvPr/>
        </p:nvSpPr>
        <p:spPr>
          <a:xfrm>
            <a:off x="438970" y="1811535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Easy visualization tools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Most popular in the Industry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FF9DDECF-CB24-95ED-8790-8C3EB074D8B5}"/>
              </a:ext>
            </a:extLst>
          </p:cNvPr>
          <p:cNvSpPr txBox="1"/>
          <p:nvPr/>
        </p:nvSpPr>
        <p:spPr>
          <a:xfrm>
            <a:off x="8321769" y="1722755"/>
            <a:ext cx="370838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High-Level API (it is a TF interface)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Basic</a:t>
            </a: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Best choice for newbies 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69F7108-0C5A-4E66-6385-66CB3D3BC5DE}"/>
              </a:ext>
            </a:extLst>
          </p:cNvPr>
          <p:cNvSpPr txBox="1"/>
          <p:nvPr/>
        </p:nvSpPr>
        <p:spPr>
          <a:xfrm>
            <a:off x="465941" y="4142508"/>
            <a:ext cx="36283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Can model Complex architectures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so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Very Flexible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Needs more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Most po</a:t>
            </a:r>
            <a:r>
              <a:rPr lang="en-ZW" dirty="0" err="1">
                <a:latin typeface="Calibri" panose="020F0502020204030204" pitchFamily="34" charset="0"/>
                <a:cs typeface="Calibri" panose="020F0502020204030204" pitchFamily="34" charset="0"/>
              </a:rPr>
              <a:t>pular</a:t>
            </a:r>
            <a:r>
              <a:rPr lang="en-ZW" dirty="0">
                <a:latin typeface="Calibri" panose="020F0502020204030204" pitchFamily="34" charset="0"/>
                <a:cs typeface="Calibri" panose="020F0502020204030204" pitchFamily="34" charset="0"/>
              </a:rPr>
              <a:t> in Academia</a:t>
            </a:r>
            <a:endParaRPr lang="en-ZW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A9F40B5-A44A-9E27-33A0-EF09882EA9A2}"/>
              </a:ext>
            </a:extLst>
          </p:cNvPr>
          <p:cNvSpPr txBox="1"/>
          <p:nvPr/>
        </p:nvSpPr>
        <p:spPr>
          <a:xfrm>
            <a:off x="8383391" y="4142508"/>
            <a:ext cx="2709588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a proper DLF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Not free (needs license)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Specialized toolboxes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Quite easy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ZW" noProof="0" dirty="0">
                <a:latin typeface="Calibri" panose="020F0502020204030204" pitchFamily="34" charset="0"/>
                <a:cs typeface="Calibri" panose="020F0502020204030204" pitchFamily="34" charset="0"/>
              </a:rPr>
              <a:t>Limited Flexibility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2653BB1-552F-6C35-0040-8F70A0B1ECE8}"/>
              </a:ext>
            </a:extLst>
          </p:cNvPr>
          <p:cNvSpPr txBox="1"/>
          <p:nvPr/>
        </p:nvSpPr>
        <p:spPr>
          <a:xfrm>
            <a:off x="569121" y="6288815"/>
            <a:ext cx="27689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dirty="0" err="1">
                <a:hlinkClick r:id="rId4"/>
              </a:rPr>
              <a:t>PyTorch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TensorFlow</a:t>
            </a:r>
            <a:r>
              <a:rPr lang="it-IT" sz="1400" dirty="0">
                <a:hlinkClick r:id="rId4"/>
              </a:rPr>
              <a:t> vs </a:t>
            </a:r>
            <a:r>
              <a:rPr lang="it-IT" sz="1400" dirty="0" err="1">
                <a:hlinkClick r:id="rId4"/>
              </a:rPr>
              <a:t>Keras</a:t>
            </a:r>
            <a:endParaRPr lang="it-IT" sz="1400" dirty="0"/>
          </a:p>
        </p:txBody>
      </p:sp>
      <p:sp>
        <p:nvSpPr>
          <p:cNvPr id="10" name="Figura a mano libera: forma 9">
            <a:extLst>
              <a:ext uri="{FF2B5EF4-FFF2-40B4-BE49-F238E27FC236}">
                <a16:creationId xmlns:a16="http://schemas.microsoft.com/office/drawing/2014/main" id="{4DCEC9E7-7607-B2A6-1EA2-2730CEBD6361}"/>
              </a:ext>
            </a:extLst>
          </p:cNvPr>
          <p:cNvSpPr/>
          <p:nvPr/>
        </p:nvSpPr>
        <p:spPr>
          <a:xfrm>
            <a:off x="4098302" y="1350916"/>
            <a:ext cx="4053840" cy="4183380"/>
          </a:xfrm>
          <a:custGeom>
            <a:avLst/>
            <a:gdLst>
              <a:gd name="csX0" fmla="*/ 7620 w 4053840"/>
              <a:gd name="csY0" fmla="*/ 0 h 4183380"/>
              <a:gd name="csX1" fmla="*/ 0 w 4053840"/>
              <a:gd name="csY1" fmla="*/ 4152900 h 4183380"/>
              <a:gd name="csX2" fmla="*/ 1935480 w 4053840"/>
              <a:gd name="csY2" fmla="*/ 4183380 h 4183380"/>
              <a:gd name="csX3" fmla="*/ 1927860 w 4053840"/>
              <a:gd name="csY3" fmla="*/ 2301240 h 4183380"/>
              <a:gd name="csX4" fmla="*/ 4030980 w 4053840"/>
              <a:gd name="csY4" fmla="*/ 2301240 h 4183380"/>
              <a:gd name="csX5" fmla="*/ 4053840 w 4053840"/>
              <a:gd name="csY5" fmla="*/ 22860 h 4183380"/>
              <a:gd name="csX6" fmla="*/ 7620 w 4053840"/>
              <a:gd name="csY6" fmla="*/ 0 h 41833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053840" h="4183380">
                <a:moveTo>
                  <a:pt x="7620" y="0"/>
                </a:moveTo>
                <a:lnTo>
                  <a:pt x="0" y="4152900"/>
                </a:lnTo>
                <a:lnTo>
                  <a:pt x="1935480" y="4183380"/>
                </a:lnTo>
                <a:lnTo>
                  <a:pt x="1927860" y="2301240"/>
                </a:lnTo>
                <a:lnTo>
                  <a:pt x="4030980" y="2301240"/>
                </a:lnTo>
                <a:lnTo>
                  <a:pt x="4053840" y="22860"/>
                </a:lnTo>
                <a:lnTo>
                  <a:pt x="7620" y="0"/>
                </a:lnTo>
                <a:close/>
              </a:path>
            </a:pathLst>
          </a:cu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A7490BE8-9812-0023-49DE-C1BE46F8CAFC}"/>
              </a:ext>
            </a:extLst>
          </p:cNvPr>
          <p:cNvSpPr txBox="1"/>
          <p:nvPr/>
        </p:nvSpPr>
        <p:spPr>
          <a:xfrm>
            <a:off x="5093160" y="908579"/>
            <a:ext cx="2005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b="1" dirty="0">
                <a:solidFill>
                  <a:srgbClr val="0070C0"/>
                </a:solidFill>
              </a:rPr>
              <a:t>Python Libraries</a:t>
            </a:r>
          </a:p>
        </p:txBody>
      </p:sp>
    </p:spTree>
    <p:extLst>
      <p:ext uri="{BB962C8B-B14F-4D97-AF65-F5344CB8AC3E}">
        <p14:creationId xmlns:p14="http://schemas.microsoft.com/office/powerpoint/2010/main" val="12867411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A2991-F4B8-1399-DDBE-685E08AF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!!Immagine 13">
            <a:extLst>
              <a:ext uri="{FF2B5EF4-FFF2-40B4-BE49-F238E27FC236}">
                <a16:creationId xmlns:a16="http://schemas.microsoft.com/office/drawing/2014/main" id="{9C14D88F-FFD2-0B38-FD73-E870AD97A8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50353" y="885015"/>
            <a:ext cx="3742147" cy="416696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FDDAD9A-BB5A-0F38-F44D-7C3D00747C55}"/>
              </a:ext>
            </a:extLst>
          </p:cNvPr>
          <p:cNvSpPr txBox="1"/>
          <p:nvPr/>
        </p:nvSpPr>
        <p:spPr>
          <a:xfrm>
            <a:off x="3027130" y="111441"/>
            <a:ext cx="5402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3200" b="1" dirty="0">
                <a:latin typeface="Book Antiqua" panose="02040602050305030304" pitchFamily="18" charset="0"/>
              </a:rPr>
              <a:t>Deep Learning Frameworks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06BD686-EDD4-D258-A381-115A4D21EC33}"/>
              </a:ext>
            </a:extLst>
          </p:cNvPr>
          <p:cNvSpPr txBox="1"/>
          <p:nvPr/>
        </p:nvSpPr>
        <p:spPr>
          <a:xfrm>
            <a:off x="0" y="1024229"/>
            <a:ext cx="74410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– </a:t>
            </a:r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endParaRPr lang="en-US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just"/>
            <a:r>
              <a:rPr lang="en-US" b="1" dirty="0" err="1">
                <a:latin typeface="Calibri" panose="020F0502020204030204" pitchFamily="34" charset="0"/>
                <a:cs typeface="Calibri" panose="020F0502020204030204" pitchFamily="34" charset="0"/>
              </a:rPr>
              <a:t>Keras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is API for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algn="just"/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An </a:t>
            </a:r>
            <a:r>
              <a:rPr lang="en-US" b="1" dirty="0">
                <a:latin typeface="Calibri" panose="020F0502020204030204" pitchFamily="34" charset="0"/>
                <a:cs typeface="Calibri" panose="020F0502020204030204" pitchFamily="34" charset="0"/>
              </a:rPr>
              <a:t>API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 (Application Programming Interface) is a set of tools that allows two pieces of software to communicate with each other.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8205A-D6A6-8782-A4E4-97F93AF37AEA}"/>
              </a:ext>
            </a:extLst>
          </p:cNvPr>
          <p:cNvSpPr/>
          <p:nvPr/>
        </p:nvSpPr>
        <p:spPr>
          <a:xfrm>
            <a:off x="7698731" y="3024087"/>
            <a:ext cx="4493269" cy="194498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2FE8BE6-2F5D-AD64-74D1-0E3B1DFEBF91}"/>
              </a:ext>
            </a:extLst>
          </p:cNvPr>
          <p:cNvSpPr txBox="1"/>
          <p:nvPr/>
        </p:nvSpPr>
        <p:spPr>
          <a:xfrm>
            <a:off x="0" y="3079916"/>
            <a:ext cx="119589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It provides a set of easy-to-use commands (functions, classes, tools)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don’t need to understand all the complex math or hardware underneath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noProof="0" dirty="0">
                <a:latin typeface="Calibri" panose="020F0502020204030204" pitchFamily="34" charset="0"/>
                <a:cs typeface="Calibri" panose="020F0502020204030204" pitchFamily="34" charset="0"/>
              </a:rPr>
              <a:t>You just call the functions, give them your data, and they do the work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You can see it is like a bridge that connects different programs (your Python script vs deep learning framework </a:t>
            </a:r>
            <a:r>
              <a:rPr lang="en-US" dirty="0" err="1">
                <a:latin typeface="Calibri" panose="020F0502020204030204" pitchFamily="34" charset="0"/>
                <a:cs typeface="Calibri" panose="020F0502020204030204" pitchFamily="34" charset="0"/>
              </a:rPr>
              <a:t>Tensorflow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), allowing them to exchange information and functionality without having to share source code.</a:t>
            </a:r>
            <a:endParaRPr lang="en-US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79735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7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1A0DE0-3271-AE42-3785-DD83F5E2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2C018E7B-0443-D639-DA3F-BBE6BE0161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65919"/>
            <a:ext cx="4732289" cy="3147657"/>
          </a:xfrm>
          <a:prstGeom prst="rect">
            <a:avLst/>
          </a:prstGeom>
        </p:spPr>
      </p:pic>
      <p:pic>
        <p:nvPicPr>
          <p:cNvPr id="62" name="Immagine 61">
            <a:extLst>
              <a:ext uri="{FF2B5EF4-FFF2-40B4-BE49-F238E27FC236}">
                <a16:creationId xmlns:a16="http://schemas.microsoft.com/office/drawing/2014/main" id="{3B2C1CC6-136F-B0A7-4CA2-5785F1DE15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41" y="780495"/>
            <a:ext cx="3402749" cy="1283672"/>
          </a:xfrm>
          <a:prstGeom prst="rect">
            <a:avLst/>
          </a:prstGeom>
        </p:spPr>
      </p:pic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0CC390FC-AC2A-50E6-AFFE-7165DC3D8E43}"/>
              </a:ext>
            </a:extLst>
          </p:cNvPr>
          <p:cNvSpPr txBox="1"/>
          <p:nvPr/>
        </p:nvSpPr>
        <p:spPr>
          <a:xfrm>
            <a:off x="5274748" y="18131"/>
            <a:ext cx="7082122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noProof="0" dirty="0">
                <a:latin typeface="Book Antiqua" panose="02040602050305030304" pitchFamily="18" charset="0"/>
              </a:rPr>
              <a:t>We will</a:t>
            </a:r>
          </a:p>
          <a:p>
            <a:pPr algn="ctr"/>
            <a:endParaRPr lang="it-IT" sz="1200" b="1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Build the Deep Learning models (using </a:t>
            </a:r>
            <a:r>
              <a:rPr lang="en-US" sz="2000" dirty="0" err="1">
                <a:latin typeface="Book Antiqua" panose="02040602050305030304" pitchFamily="18" charset="0"/>
                <a:hlinkClick r:id="rId4"/>
              </a:rPr>
              <a:t>Keras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(Deep learning Framework)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Take our first look at </a:t>
            </a:r>
            <a:r>
              <a:rPr lang="en-US" sz="2000" dirty="0">
                <a:latin typeface="Book Antiqua" panose="02040602050305030304" pitchFamily="18" charset="0"/>
                <a:hlinkClick r:id="rId5"/>
              </a:rPr>
              <a:t>Google </a:t>
            </a:r>
            <a:r>
              <a:rPr lang="en-US" sz="2000" dirty="0" err="1">
                <a:latin typeface="Book Antiqua" panose="02040602050305030304" pitchFamily="18" charset="0"/>
                <a:hlinkClick r:id="rId5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 (</a:t>
            </a:r>
            <a:r>
              <a:rPr lang="en-US" sz="2000" dirty="0">
                <a:latin typeface="Book Antiqua" panose="02040602050305030304" pitchFamily="18" charset="0"/>
                <a:hlinkClick r:id="rId6"/>
              </a:rPr>
              <a:t>Start with </a:t>
            </a:r>
            <a:r>
              <a:rPr lang="en-US" sz="2000" dirty="0" err="1">
                <a:latin typeface="Book Antiqua" panose="02040602050305030304" pitchFamily="18" charset="0"/>
                <a:hlinkClick r:id="rId6"/>
              </a:rPr>
              <a:t>Colab</a:t>
            </a:r>
            <a:r>
              <a:rPr lang="en-US" sz="2000" dirty="0">
                <a:latin typeface="Book Antiqua" panose="02040602050305030304" pitchFamily="18" charset="0"/>
              </a:rPr>
              <a:t>)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(Computational resources offered by Google)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Run Python in </a:t>
            </a:r>
            <a:r>
              <a:rPr lang="en-US" sz="2000" dirty="0">
                <a:latin typeface="Book Antiqua" panose="02040602050305030304" pitchFamily="18" charset="0"/>
                <a:hlinkClick r:id="rId7"/>
              </a:rPr>
              <a:t>notebooks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(Way to run python interactively)</a:t>
            </a:r>
          </a:p>
          <a:p>
            <a:endParaRPr lang="en-US" sz="2000" dirty="0">
              <a:latin typeface="Book Antiqua" panose="0204060205030503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Book Antiqua" panose="02040602050305030304" pitchFamily="18" charset="0"/>
              </a:rPr>
              <a:t>Have our first interaction with </a:t>
            </a:r>
            <a:r>
              <a:rPr lang="en-US" sz="2000" dirty="0">
                <a:latin typeface="Book Antiqua" panose="02040602050305030304" pitchFamily="18" charset="0"/>
                <a:hlinkClick r:id="rId8"/>
              </a:rPr>
              <a:t>GitHub</a:t>
            </a:r>
            <a:r>
              <a:rPr lang="en-US" sz="2000" dirty="0">
                <a:latin typeface="Book Antiqua" panose="02040602050305030304" pitchFamily="18" charset="0"/>
              </a:rPr>
              <a:t> </a:t>
            </a:r>
            <a:br>
              <a:rPr lang="en-US" sz="2000" dirty="0">
                <a:latin typeface="Book Antiqua" panose="02040602050305030304" pitchFamily="18" charset="0"/>
              </a:rPr>
            </a:br>
            <a:r>
              <a:rPr lang="en-US" sz="2000" dirty="0">
                <a:latin typeface="Book Antiqua" panose="02040602050305030304" pitchFamily="18" charset="0"/>
              </a:rPr>
              <a:t>(repositories “folders” to store and share code)</a:t>
            </a:r>
            <a:endParaRPr lang="it-IT" sz="2000" dirty="0">
              <a:latin typeface="Book Antiqua" panose="02040602050305030304" pitchFamily="18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A60874C-8821-1BFE-32E1-20CBB25D6854}"/>
              </a:ext>
            </a:extLst>
          </p:cNvPr>
          <p:cNvSpPr txBox="1"/>
          <p:nvPr/>
        </p:nvSpPr>
        <p:spPr>
          <a:xfrm>
            <a:off x="4974517" y="4495690"/>
            <a:ext cx="723595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All the material is loaded in </a:t>
            </a:r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  <a:hlinkClick r:id="rId9"/>
              </a:rPr>
              <a:t>this folder</a:t>
            </a:r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</a:p>
          <a:p>
            <a:r>
              <a:rPr lang="en-ZW" sz="2400" dirty="0">
                <a:latin typeface="Calibri" panose="020F0502020204030204" pitchFamily="34" charset="0"/>
                <a:cs typeface="Calibri" panose="020F0502020204030204" pitchFamily="34" charset="0"/>
              </a:rPr>
              <a:t>The useful files are:</a:t>
            </a:r>
          </a:p>
          <a:p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_</a:t>
            </a:r>
            <a:r>
              <a:rPr lang="en-US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SNS_DeepNeuralNework</a:t>
            </a:r>
            <a:r>
              <a:rPr lang="en-US" sz="2400" dirty="0">
                <a:latin typeface="Calibri" panose="020F0502020204030204" pitchFamily="34" charset="0"/>
                <a:cs typeface="Calibri" panose="020F0502020204030204" pitchFamily="34" charset="0"/>
              </a:rPr>
              <a:t> with TensorFlow_lezione.pptx</a:t>
            </a:r>
          </a:p>
          <a:p>
            <a:r>
              <a:rPr lang="en-ZW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Deep_Dense_MNIST.ipynb</a:t>
            </a:r>
            <a:endParaRPr lang="en-ZW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ZW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Deep_Convolutional_MNIST.ipynb</a:t>
            </a:r>
            <a:endParaRPr lang="en-ZW" sz="2400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5996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5D289AC5-8204-641E-E1FD-EC7F3DE2B882}"/>
              </a:ext>
            </a:extLst>
          </p:cNvPr>
          <p:cNvSpPr txBox="1"/>
          <p:nvPr/>
        </p:nvSpPr>
        <p:spPr>
          <a:xfrm>
            <a:off x="0" y="0"/>
            <a:ext cx="1124065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Here the link to the </a:t>
            </a:r>
            <a:r>
              <a:rPr lang="it-IT" dirty="0" err="1"/>
              <a:t>codes</a:t>
            </a:r>
            <a:r>
              <a:rPr lang="it-IT" dirty="0"/>
              <a:t>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saw</a:t>
            </a:r>
            <a:r>
              <a:rPr lang="it-IT" dirty="0"/>
              <a:t> in </a:t>
            </a:r>
            <a:r>
              <a:rPr lang="it-IT" dirty="0" err="1"/>
              <a:t>our</a:t>
            </a:r>
            <a:r>
              <a:rPr lang="it-IT" dirty="0"/>
              <a:t> class:</a:t>
            </a:r>
          </a:p>
          <a:p>
            <a:pPr marL="342900" indent="-342900">
              <a:buAutoNum type="arabicPeriod"/>
            </a:pPr>
            <a:r>
              <a:rPr lang="it-IT" dirty="0" err="1">
                <a:hlinkClick r:id="rId2"/>
              </a:rPr>
              <a:t>Fully</a:t>
            </a:r>
            <a:r>
              <a:rPr lang="it-IT" dirty="0">
                <a:hlinkClick r:id="rId2"/>
              </a:rPr>
              <a:t> </a:t>
            </a:r>
            <a:r>
              <a:rPr lang="it-IT" dirty="0" err="1">
                <a:hlinkClick r:id="rId2"/>
              </a:rPr>
              <a:t>Connected</a:t>
            </a:r>
            <a:r>
              <a:rPr lang="it-IT" dirty="0">
                <a:hlinkClick r:id="rId2"/>
              </a:rPr>
              <a:t> network with </a:t>
            </a:r>
            <a:r>
              <a:rPr lang="it-IT" dirty="0" err="1">
                <a:hlinkClick r:id="rId2"/>
              </a:rPr>
              <a:t>Tensorflow</a:t>
            </a:r>
            <a:r>
              <a:rPr lang="it-IT" dirty="0">
                <a:hlinkClick r:id="rId2"/>
              </a:rPr>
              <a:t> – </a:t>
            </a:r>
            <a:r>
              <a:rPr lang="it-IT" dirty="0" err="1">
                <a:hlinkClick r:id="rId2"/>
              </a:rPr>
              <a:t>Keras</a:t>
            </a:r>
            <a:r>
              <a:rPr lang="it-IT" dirty="0"/>
              <a:t> (Google </a:t>
            </a:r>
            <a:r>
              <a:rPr lang="it-IT" dirty="0" err="1"/>
              <a:t>Colab</a:t>
            </a:r>
            <a:r>
              <a:rPr lang="it-IT" dirty="0"/>
              <a:t> of the </a:t>
            </a:r>
            <a:r>
              <a:rPr lang="it-IT" dirty="0" err="1"/>
              <a:t>python</a:t>
            </a:r>
            <a:r>
              <a:rPr lang="it-IT" dirty="0"/>
              <a:t> notebook)</a:t>
            </a:r>
          </a:p>
          <a:p>
            <a:pPr marL="342900" indent="-342900">
              <a:buAutoNum type="arabicPeriod"/>
            </a:pPr>
            <a:r>
              <a:rPr lang="it-IT" dirty="0" err="1">
                <a:hlinkClick r:id="rId3"/>
              </a:rPr>
              <a:t>Convolutional</a:t>
            </a:r>
            <a:r>
              <a:rPr lang="it-IT" dirty="0">
                <a:hlinkClick r:id="rId3"/>
              </a:rPr>
              <a:t> </a:t>
            </a:r>
            <a:r>
              <a:rPr lang="it-IT" dirty="0" err="1">
                <a:hlinkClick r:id="rId3"/>
              </a:rPr>
              <a:t>Neural</a:t>
            </a:r>
            <a:r>
              <a:rPr lang="it-IT" dirty="0">
                <a:hlinkClick r:id="rId3"/>
              </a:rPr>
              <a:t> Network with </a:t>
            </a:r>
            <a:r>
              <a:rPr lang="it-IT" dirty="0" err="1">
                <a:hlinkClick r:id="rId3"/>
              </a:rPr>
              <a:t>Tensorflow</a:t>
            </a:r>
            <a:r>
              <a:rPr lang="it-IT" dirty="0">
                <a:hlinkClick r:id="rId3"/>
              </a:rPr>
              <a:t> – </a:t>
            </a:r>
            <a:r>
              <a:rPr lang="it-IT" dirty="0" err="1">
                <a:hlinkClick r:id="rId3"/>
              </a:rPr>
              <a:t>Keras</a:t>
            </a:r>
            <a:r>
              <a:rPr lang="it-IT" dirty="0"/>
              <a:t> (Google </a:t>
            </a:r>
            <a:r>
              <a:rPr lang="it-IT" dirty="0" err="1"/>
              <a:t>Colab</a:t>
            </a:r>
            <a:r>
              <a:rPr lang="it-IT" dirty="0"/>
              <a:t> of the </a:t>
            </a:r>
            <a:r>
              <a:rPr lang="it-IT" dirty="0" err="1"/>
              <a:t>python</a:t>
            </a:r>
            <a:r>
              <a:rPr lang="it-IT" dirty="0"/>
              <a:t> notebook)</a:t>
            </a:r>
          </a:p>
          <a:p>
            <a:pPr marL="342900" indent="-342900">
              <a:buAutoNum type="arabicPeriod"/>
            </a:pPr>
            <a:endParaRPr lang="it-IT" dirty="0"/>
          </a:p>
          <a:p>
            <a:pPr marL="342900" indent="-342900">
              <a:buAutoNum type="arabicPeriod"/>
            </a:pPr>
            <a:endParaRPr lang="it-IT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3DCD616-51A0-12B9-61E1-7EA042E818CD}"/>
              </a:ext>
            </a:extLst>
          </p:cNvPr>
          <p:cNvSpPr txBox="1"/>
          <p:nvPr/>
        </p:nvSpPr>
        <p:spPr>
          <a:xfrm>
            <a:off x="199735" y="1020445"/>
            <a:ext cx="6282708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</a:rPr>
              <a:t>Assignment</a:t>
            </a:r>
          </a:p>
          <a:p>
            <a:r>
              <a:rPr lang="en-US" dirty="0"/>
              <a:t>Build a short report (e.g., a Word or PDF document) based on experiments with both notebooks.</a:t>
            </a:r>
          </a:p>
          <a:p>
            <a:endParaRPr lang="it-IT" dirty="0"/>
          </a:p>
          <a:p>
            <a:r>
              <a:rPr lang="en-US" b="1" dirty="0"/>
              <a:t>Experiments</a:t>
            </a:r>
          </a:p>
          <a:p>
            <a:r>
              <a:rPr lang="en-US" dirty="0"/>
              <a:t>Modify and test different configurations of the models. In particular, you can change: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and type of layers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Optimizer (e.g., Adam, SGD, etc.)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Number of epochs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Batch size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Activation functions</a:t>
            </a:r>
          </a:p>
          <a:p>
            <a:r>
              <a:rPr lang="en-US" dirty="0"/>
              <a:t>Perform </a:t>
            </a:r>
            <a:r>
              <a:rPr lang="en-US" b="1" dirty="0"/>
              <a:t>at least 5–8 different experiments</a:t>
            </a:r>
            <a:r>
              <a:rPr lang="en-US" dirty="0"/>
              <a:t> (more is encouraged but not necessary).</a:t>
            </a:r>
          </a:p>
          <a:p>
            <a:br>
              <a:rPr lang="it-IT" dirty="0"/>
            </a:br>
            <a:r>
              <a:rPr lang="en-US" dirty="0"/>
              <a:t>For each experiment, report: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Validation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(Optional but recommended) Training and validation loss</a:t>
            </a:r>
          </a:p>
          <a:p>
            <a:r>
              <a:rPr lang="en-US" dirty="0"/>
              <a:t>Summarize your results in a </a:t>
            </a:r>
            <a:r>
              <a:rPr lang="en-US" b="1" dirty="0"/>
              <a:t>table</a:t>
            </a:r>
            <a:r>
              <a:rPr lang="en-US" dirty="0"/>
              <a:t> for easier comparison.</a:t>
            </a:r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7383197-A4BF-ADB8-5CF8-2296941EFF10}"/>
              </a:ext>
            </a:extLst>
          </p:cNvPr>
          <p:cNvSpPr txBox="1"/>
          <p:nvPr/>
        </p:nvSpPr>
        <p:spPr>
          <a:xfrm>
            <a:off x="6482443" y="1298760"/>
            <a:ext cx="5709557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Questions to answer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Which configuration (architecture, number of layers, optimizer, epochs, etc.) achieved the best performance?</a:t>
            </a:r>
            <a:br>
              <a:rPr lang="en-US" dirty="0"/>
            </a:br>
            <a:r>
              <a:rPr lang="en-US" dirty="0"/>
              <a:t>Which model performed better on the dataset: </a:t>
            </a:r>
            <a:r>
              <a:rPr lang="en-US" b="1" dirty="0"/>
              <a:t>Convolutional Neural Network or Fully Connected Network</a:t>
            </a:r>
            <a:r>
              <a:rPr lang="en-US" dirty="0"/>
              <a:t>?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In your opinion, which parameters had the greatest impact on performance (e.g., number of layers, architecture type, epochs, optimizer, etc.)? Explain briefly.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(Advanced) Did you observe signs of </a:t>
            </a:r>
            <a:r>
              <a:rPr lang="en-US" b="1" dirty="0"/>
              <a:t>overfitting or underfitting</a:t>
            </a:r>
            <a:r>
              <a:rPr lang="en-US" dirty="0"/>
              <a:t>? If yes, in which cases?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Any additional observations or insights you would like to highlight.</a:t>
            </a:r>
          </a:p>
          <a:p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CEF0E44C-B8C6-E800-42AF-058A2358CD4F}"/>
              </a:ext>
            </a:extLst>
          </p:cNvPr>
          <p:cNvCxnSpPr/>
          <p:nvPr/>
        </p:nvCxnSpPr>
        <p:spPr>
          <a:xfrm>
            <a:off x="6417788" y="1173018"/>
            <a:ext cx="0" cy="5481054"/>
          </a:xfrm>
          <a:prstGeom prst="line">
            <a:avLst/>
          </a:prstGeom>
          <a:ln w="38100">
            <a:solidFill>
              <a:srgbClr val="1F429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72235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Custom 12">
      <a:dk1>
        <a:sysClr val="windowText" lastClr="000000"/>
      </a:dk1>
      <a:lt1>
        <a:sysClr val="window" lastClr="FFFFFF"/>
      </a:lt1>
      <a:dk2>
        <a:srgbClr val="323232"/>
      </a:dk2>
      <a:lt2>
        <a:srgbClr val="FFFFFF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495" id="{6DF9CAB6-1D2B-449F-890E-3FF7DF8EC61A}" vid="{9C4E66CF-E6C7-4030-AC57-0181577EF9E3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Forme astratte del titolo animate</Template>
  <TotalTime>814</TotalTime>
  <Words>1189</Words>
  <Application>Microsoft Office PowerPoint</Application>
  <PresentationFormat>Widescreen</PresentationFormat>
  <Paragraphs>309</Paragraphs>
  <Slides>11</Slides>
  <Notes>4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7" baseType="lpstr">
      <vt:lpstr>Arial</vt:lpstr>
      <vt:lpstr>Book Antiqua</vt:lpstr>
      <vt:lpstr>Calibri</vt:lpstr>
      <vt:lpstr>Cambria Math</vt:lpstr>
      <vt:lpstr>Georgia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Giovanni MESSUTI</dc:creator>
  <cp:keywords/>
  <dc:description/>
  <cp:lastModifiedBy>Giovanni MESSUTI</cp:lastModifiedBy>
  <cp:revision>85</cp:revision>
  <dcterms:created xsi:type="dcterms:W3CDTF">2025-04-29T10:56:45Z</dcterms:created>
  <dcterms:modified xsi:type="dcterms:W3CDTF">2026-05-05T14:32:50Z</dcterms:modified>
  <cp:category/>
</cp:coreProperties>
</file>